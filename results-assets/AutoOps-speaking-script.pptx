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91695" cy="80000"/>
          </a:xfrm>
          <a:prstGeom prst="rect">
            <a:avLst/>
          </a:prstGeom>
          <a:solidFill>
            <a:srgbClr val="2E6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0000" y="300000"/>
            <a:ext cx="5000000" cy="200000"/>
          </a:xfrm>
          <a:prstGeom prst="rect">
            <a:avLst/>
          </a:prstGeom>
          <a:noFill/>
        </p:spPr>
        <p:txBody>
          <a:bodyPr wrap="square">
            <a:spAutoFit/>
          </a:bodyPr>
          <a:lstStyle/>
          <a:p>
            <a:r>
              <a:rPr sz="1000" b="1">
                <a:solidFill>
                  <a:srgbClr val="2E68FF"/>
                </a:solidFill>
                <a:latin typeface="Aptos"/>
              </a:rPr>
              <a:t>AUTOOPS PRESENTATION SCRIPT</a:t>
            </a:r>
          </a:p>
        </p:txBody>
      </p:sp>
      <p:sp>
        <p:nvSpPr>
          <p:cNvPr id="6" name="TextBox 5"/>
          <p:cNvSpPr txBox="1"/>
          <p:nvPr/>
        </p:nvSpPr>
        <p:spPr>
          <a:xfrm>
            <a:off x="600000" y="550000"/>
            <a:ext cx="10000000" cy="600000"/>
          </a:xfrm>
          <a:prstGeom prst="rect">
            <a:avLst/>
          </a:prstGeom>
          <a:noFill/>
        </p:spPr>
        <p:txBody>
          <a:bodyPr wrap="square">
            <a:spAutoFit/>
          </a:bodyPr>
          <a:lstStyle/>
          <a:p>
            <a:r>
              <a:rPr sz="2800" b="1">
                <a:solidFill>
                  <a:srgbClr val="102133"/>
                </a:solidFill>
                <a:latin typeface="Aptos Display"/>
              </a:rPr>
              <a:t>Speaking Script for 4 Presenters</a:t>
            </a:r>
          </a:p>
        </p:txBody>
      </p:sp>
      <p:sp>
        <p:nvSpPr>
          <p:cNvPr id="7" name="TextBox 6"/>
          <p:cNvSpPr txBox="1"/>
          <p:nvPr/>
        </p:nvSpPr>
        <p:spPr>
          <a:xfrm>
            <a:off x="600000" y="1100000"/>
            <a:ext cx="10000000" cy="300000"/>
          </a:xfrm>
          <a:prstGeom prst="rect">
            <a:avLst/>
          </a:prstGeom>
          <a:noFill/>
        </p:spPr>
        <p:txBody>
          <a:bodyPr wrap="square">
            <a:spAutoFit/>
          </a:bodyPr>
          <a:lstStyle/>
          <a:p>
            <a:r>
              <a:rPr sz="1200" b="0">
                <a:solidFill>
                  <a:srgbClr val="5B6978"/>
                </a:solidFill>
                <a:latin typeface="Aptos"/>
              </a:rPr>
              <a:t>Presenter order: Chetali, Bhumika, Anas, Anshuman. Each speaker covers 3-4 slides with handoff lines between sections.</a:t>
            </a:r>
          </a:p>
        </p:txBody>
      </p:sp>
      <p:sp>
        <p:nvSpPr>
          <p:cNvPr id="8" name="Rounded Rectangle 7"/>
          <p:cNvSpPr/>
          <p:nvPr/>
        </p:nvSpPr>
        <p:spPr>
          <a:xfrm>
            <a:off x="600000" y="1600000"/>
            <a:ext cx="10900000" cy="1800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0000" y="1700000"/>
            <a:ext cx="3000000" cy="250000"/>
          </a:xfrm>
          <a:prstGeom prst="rect">
            <a:avLst/>
          </a:prstGeom>
          <a:noFill/>
        </p:spPr>
        <p:txBody>
          <a:bodyPr wrap="square">
            <a:spAutoFit/>
          </a:bodyPr>
          <a:lstStyle/>
          <a:p>
            <a:r>
              <a:rPr sz="1600" b="1">
                <a:solidFill>
                  <a:srgbClr val="102133"/>
                </a:solidFill>
                <a:latin typeface="Aptos Display"/>
              </a:rPr>
              <a:t>Speaking split</a:t>
            </a:r>
          </a:p>
        </p:txBody>
      </p:sp>
      <p:sp>
        <p:nvSpPr>
          <p:cNvPr id="10" name="TextBox 9"/>
          <p:cNvSpPr txBox="1"/>
          <p:nvPr/>
        </p:nvSpPr>
        <p:spPr>
          <a:xfrm>
            <a:off x="750000" y="2050000"/>
            <a:ext cx="2500000" cy="200000"/>
          </a:xfrm>
          <a:prstGeom prst="rect">
            <a:avLst/>
          </a:prstGeom>
          <a:noFill/>
        </p:spPr>
        <p:txBody>
          <a:bodyPr wrap="square">
            <a:spAutoFit/>
          </a:bodyPr>
          <a:lstStyle/>
          <a:p>
            <a:r>
              <a:rPr sz="1200" b="1">
                <a:solidFill>
                  <a:srgbClr val="102133"/>
                </a:solidFill>
                <a:latin typeface="Aptos"/>
              </a:rPr>
              <a:t>Chetali Aggrawal</a:t>
            </a:r>
          </a:p>
        </p:txBody>
      </p:sp>
      <p:sp>
        <p:nvSpPr>
          <p:cNvPr id="11" name="TextBox 10"/>
          <p:cNvSpPr txBox="1"/>
          <p:nvPr/>
        </p:nvSpPr>
        <p:spPr>
          <a:xfrm>
            <a:off x="750000" y="2300000"/>
            <a:ext cx="2500000" cy="200000"/>
          </a:xfrm>
          <a:prstGeom prst="rect">
            <a:avLst/>
          </a:prstGeom>
          <a:noFill/>
        </p:spPr>
        <p:txBody>
          <a:bodyPr wrap="square">
            <a:spAutoFit/>
          </a:bodyPr>
          <a:lstStyle/>
          <a:p>
            <a:r>
              <a:rPr sz="1100" b="1">
                <a:solidFill>
                  <a:srgbClr val="2E68FF"/>
                </a:solidFill>
                <a:latin typeface="Aptos"/>
              </a:rPr>
              <a:t>Slides 1-3</a:t>
            </a:r>
          </a:p>
        </p:txBody>
      </p:sp>
      <p:sp>
        <p:nvSpPr>
          <p:cNvPr id="12" name="TextBox 11"/>
          <p:cNvSpPr txBox="1"/>
          <p:nvPr/>
        </p:nvSpPr>
        <p:spPr>
          <a:xfrm>
            <a:off x="750000" y="2550000"/>
            <a:ext cx="2500000" cy="300000"/>
          </a:xfrm>
          <a:prstGeom prst="rect">
            <a:avLst/>
          </a:prstGeom>
          <a:noFill/>
        </p:spPr>
        <p:txBody>
          <a:bodyPr wrap="square">
            <a:spAutoFit/>
          </a:bodyPr>
          <a:lstStyle/>
          <a:p>
            <a:r>
              <a:rPr sz="1000" b="0">
                <a:solidFill>
                  <a:srgbClr val="5B6978"/>
                </a:solidFill>
                <a:latin typeface="Aptos"/>
              </a:rPr>
              <a:t>Introduction, thesis, capabilities</a:t>
            </a:r>
          </a:p>
        </p:txBody>
      </p:sp>
      <p:sp>
        <p:nvSpPr>
          <p:cNvPr id="13" name="TextBox 12"/>
          <p:cNvSpPr txBox="1"/>
          <p:nvPr/>
        </p:nvSpPr>
        <p:spPr>
          <a:xfrm>
            <a:off x="3450000" y="2050000"/>
            <a:ext cx="2500000" cy="200000"/>
          </a:xfrm>
          <a:prstGeom prst="rect">
            <a:avLst/>
          </a:prstGeom>
          <a:noFill/>
        </p:spPr>
        <p:txBody>
          <a:bodyPr wrap="square">
            <a:spAutoFit/>
          </a:bodyPr>
          <a:lstStyle/>
          <a:p>
            <a:r>
              <a:rPr sz="1200" b="1">
                <a:solidFill>
                  <a:srgbClr val="102133"/>
                </a:solidFill>
                <a:latin typeface="Aptos"/>
              </a:rPr>
              <a:t>Bhumika Burhade</a:t>
            </a:r>
          </a:p>
        </p:txBody>
      </p:sp>
      <p:sp>
        <p:nvSpPr>
          <p:cNvPr id="14" name="TextBox 13"/>
          <p:cNvSpPr txBox="1"/>
          <p:nvPr/>
        </p:nvSpPr>
        <p:spPr>
          <a:xfrm>
            <a:off x="3450000" y="2300000"/>
            <a:ext cx="2500000" cy="200000"/>
          </a:xfrm>
          <a:prstGeom prst="rect">
            <a:avLst/>
          </a:prstGeom>
          <a:noFill/>
        </p:spPr>
        <p:txBody>
          <a:bodyPr wrap="square">
            <a:spAutoFit/>
          </a:bodyPr>
          <a:lstStyle/>
          <a:p>
            <a:r>
              <a:rPr sz="1100" b="1">
                <a:solidFill>
                  <a:srgbClr val="2E68FF"/>
                </a:solidFill>
                <a:latin typeface="Aptos"/>
              </a:rPr>
              <a:t>Slides 4-5</a:t>
            </a:r>
          </a:p>
        </p:txBody>
      </p:sp>
      <p:sp>
        <p:nvSpPr>
          <p:cNvPr id="15" name="TextBox 14"/>
          <p:cNvSpPr txBox="1"/>
          <p:nvPr/>
        </p:nvSpPr>
        <p:spPr>
          <a:xfrm>
            <a:off x="3450000" y="2550000"/>
            <a:ext cx="2500000" cy="300000"/>
          </a:xfrm>
          <a:prstGeom prst="rect">
            <a:avLst/>
          </a:prstGeom>
          <a:noFill/>
        </p:spPr>
        <p:txBody>
          <a:bodyPr wrap="square">
            <a:spAutoFit/>
          </a:bodyPr>
          <a:lstStyle/>
          <a:p>
            <a:r>
              <a:rPr sz="1000" b="0">
                <a:solidFill>
                  <a:srgbClr val="5B6978"/>
                </a:solidFill>
                <a:latin typeface="Aptos"/>
              </a:rPr>
              <a:t>Architecture, execution flow</a:t>
            </a:r>
          </a:p>
        </p:txBody>
      </p:sp>
      <p:sp>
        <p:nvSpPr>
          <p:cNvPr id="16" name="TextBox 15"/>
          <p:cNvSpPr txBox="1"/>
          <p:nvPr/>
        </p:nvSpPr>
        <p:spPr>
          <a:xfrm>
            <a:off x="6150000" y="2050000"/>
            <a:ext cx="2500000" cy="200000"/>
          </a:xfrm>
          <a:prstGeom prst="rect">
            <a:avLst/>
          </a:prstGeom>
          <a:noFill/>
        </p:spPr>
        <p:txBody>
          <a:bodyPr wrap="square">
            <a:spAutoFit/>
          </a:bodyPr>
          <a:lstStyle/>
          <a:p>
            <a:r>
              <a:rPr sz="1200" b="1">
                <a:solidFill>
                  <a:srgbClr val="102133"/>
                </a:solidFill>
                <a:latin typeface="Aptos"/>
              </a:rPr>
              <a:t>Anas Khan</a:t>
            </a:r>
          </a:p>
        </p:txBody>
      </p:sp>
      <p:sp>
        <p:nvSpPr>
          <p:cNvPr id="17" name="TextBox 16"/>
          <p:cNvSpPr txBox="1"/>
          <p:nvPr/>
        </p:nvSpPr>
        <p:spPr>
          <a:xfrm>
            <a:off x="6150000" y="2300000"/>
            <a:ext cx="2500000" cy="200000"/>
          </a:xfrm>
          <a:prstGeom prst="rect">
            <a:avLst/>
          </a:prstGeom>
          <a:noFill/>
        </p:spPr>
        <p:txBody>
          <a:bodyPr wrap="square">
            <a:spAutoFit/>
          </a:bodyPr>
          <a:lstStyle/>
          <a:p>
            <a:r>
              <a:rPr sz="1100" b="1">
                <a:solidFill>
                  <a:srgbClr val="2E68FF"/>
                </a:solidFill>
                <a:latin typeface="Aptos"/>
              </a:rPr>
              <a:t>Slides 6-9</a:t>
            </a:r>
          </a:p>
        </p:txBody>
      </p:sp>
      <p:sp>
        <p:nvSpPr>
          <p:cNvPr id="18" name="TextBox 17"/>
          <p:cNvSpPr txBox="1"/>
          <p:nvPr/>
        </p:nvSpPr>
        <p:spPr>
          <a:xfrm>
            <a:off x="6150000" y="2550000"/>
            <a:ext cx="2500000" cy="300000"/>
          </a:xfrm>
          <a:prstGeom prst="rect">
            <a:avLst/>
          </a:prstGeom>
          <a:noFill/>
        </p:spPr>
        <p:txBody>
          <a:bodyPr wrap="square">
            <a:spAutoFit/>
          </a:bodyPr>
          <a:lstStyle/>
          <a:p>
            <a:r>
              <a:rPr sz="1000" b="0">
                <a:solidFill>
                  <a:srgbClr val="5B6978"/>
                </a:solidFill>
                <a:latin typeface="Aptos"/>
              </a:rPr>
              <a:t>Product UI, onboarding, deployments, approvals</a:t>
            </a:r>
          </a:p>
        </p:txBody>
      </p:sp>
      <p:sp>
        <p:nvSpPr>
          <p:cNvPr id="19" name="TextBox 18"/>
          <p:cNvSpPr txBox="1"/>
          <p:nvPr/>
        </p:nvSpPr>
        <p:spPr>
          <a:xfrm>
            <a:off x="8850000" y="2050000"/>
            <a:ext cx="2500000" cy="200000"/>
          </a:xfrm>
          <a:prstGeom prst="rect">
            <a:avLst/>
          </a:prstGeom>
          <a:noFill/>
        </p:spPr>
        <p:txBody>
          <a:bodyPr wrap="square">
            <a:spAutoFit/>
          </a:bodyPr>
          <a:lstStyle/>
          <a:p>
            <a:r>
              <a:rPr sz="1200" b="1">
                <a:solidFill>
                  <a:srgbClr val="102133"/>
                </a:solidFill>
                <a:latin typeface="Aptos"/>
              </a:rPr>
              <a:t>Anshuman Tiwari</a:t>
            </a:r>
          </a:p>
        </p:txBody>
      </p:sp>
      <p:sp>
        <p:nvSpPr>
          <p:cNvPr id="20" name="TextBox 19"/>
          <p:cNvSpPr txBox="1"/>
          <p:nvPr/>
        </p:nvSpPr>
        <p:spPr>
          <a:xfrm>
            <a:off x="8850000" y="2300000"/>
            <a:ext cx="2500000" cy="200000"/>
          </a:xfrm>
          <a:prstGeom prst="rect">
            <a:avLst/>
          </a:prstGeom>
          <a:noFill/>
        </p:spPr>
        <p:txBody>
          <a:bodyPr wrap="square">
            <a:spAutoFit/>
          </a:bodyPr>
          <a:lstStyle/>
          <a:p>
            <a:r>
              <a:rPr sz="1100" b="1">
                <a:solidFill>
                  <a:srgbClr val="2E68FF"/>
                </a:solidFill>
                <a:latin typeface="Aptos"/>
              </a:rPr>
              <a:t>Slides 10-13</a:t>
            </a:r>
          </a:p>
        </p:txBody>
      </p:sp>
      <p:sp>
        <p:nvSpPr>
          <p:cNvPr id="21" name="TextBox 20"/>
          <p:cNvSpPr txBox="1"/>
          <p:nvPr/>
        </p:nvSpPr>
        <p:spPr>
          <a:xfrm>
            <a:off x="8850000" y="2550000"/>
            <a:ext cx="2500000" cy="300000"/>
          </a:xfrm>
          <a:prstGeom prst="rect">
            <a:avLst/>
          </a:prstGeom>
          <a:noFill/>
        </p:spPr>
        <p:txBody>
          <a:bodyPr wrap="square">
            <a:spAutoFit/>
          </a:bodyPr>
          <a:lstStyle/>
          <a:p>
            <a:r>
              <a:rPr sz="1000" b="0">
                <a:solidFill>
                  <a:srgbClr val="5B6978"/>
                </a:solidFill>
                <a:latin typeface="Aptos"/>
              </a:rPr>
              <a:t>Code quality, roadmap, demo, closing</a:t>
            </a:r>
          </a:p>
        </p:txBody>
      </p:sp>
      <p:sp>
        <p:nvSpPr>
          <p:cNvPr id="22" name="Rounded Rectangle 21"/>
          <p:cNvSpPr/>
          <p:nvPr/>
        </p:nvSpPr>
        <p:spPr>
          <a:xfrm>
            <a:off x="600000" y="3700000"/>
            <a:ext cx="10900000" cy="2200000"/>
          </a:xfrm>
          <a:prstGeom prst="roundRect">
            <a:avLst/>
          </a:prstGeom>
          <a:solidFill>
            <a:srgbClr val="FE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0000" y="3800000"/>
            <a:ext cx="5000000" cy="250000"/>
          </a:xfrm>
          <a:prstGeom prst="rect">
            <a:avLst/>
          </a:prstGeom>
          <a:noFill/>
        </p:spPr>
        <p:txBody>
          <a:bodyPr wrap="square">
            <a:spAutoFit/>
          </a:bodyPr>
          <a:lstStyle/>
          <a:p>
            <a:r>
              <a:rPr sz="1600" b="1">
                <a:solidFill>
                  <a:srgbClr val="102133"/>
                </a:solidFill>
                <a:latin typeface="Aptos Display"/>
              </a:rPr>
              <a:t>Handoff lines</a:t>
            </a:r>
          </a:p>
        </p:txBody>
      </p:sp>
      <p:sp>
        <p:nvSpPr>
          <p:cNvPr id="24" name="TextBox 23"/>
          <p:cNvSpPr txBox="1"/>
          <p:nvPr/>
        </p:nvSpPr>
        <p:spPr>
          <a:xfrm>
            <a:off x="750000" y="4150000"/>
            <a:ext cx="10600000" cy="400000"/>
          </a:xfrm>
          <a:prstGeom prst="rect">
            <a:avLst/>
          </a:prstGeom>
          <a:noFill/>
        </p:spPr>
        <p:txBody>
          <a:bodyPr wrap="square">
            <a:spAutoFit/>
          </a:bodyPr>
          <a:lstStyle/>
          <a:p>
            <a:r>
              <a:rPr sz="1100" b="0">
                <a:solidFill>
                  <a:srgbClr val="5B6978"/>
                </a:solidFill>
                <a:latin typeface="Aptos"/>
              </a:rPr>
              <a:t>Chetali → Bhumika: "I'll now hand it over to Bhumika, who will explain the architecture and how the execution flow works."</a:t>
            </a:r>
          </a:p>
        </p:txBody>
      </p:sp>
      <p:sp>
        <p:nvSpPr>
          <p:cNvPr id="25" name="TextBox 24"/>
          <p:cNvSpPr txBox="1"/>
          <p:nvPr/>
        </p:nvSpPr>
        <p:spPr>
          <a:xfrm>
            <a:off x="750000" y="4600000"/>
            <a:ext cx="10600000" cy="400000"/>
          </a:xfrm>
          <a:prstGeom prst="rect">
            <a:avLst/>
          </a:prstGeom>
          <a:noFill/>
        </p:spPr>
        <p:txBody>
          <a:bodyPr wrap="square">
            <a:spAutoFit/>
          </a:bodyPr>
          <a:lstStyle/>
          <a:p>
            <a:r>
              <a:rPr sz="1100" b="0">
                <a:solidFill>
                  <a:srgbClr val="5B6978"/>
                </a:solidFill>
                <a:latin typeface="Aptos"/>
              </a:rPr>
              <a:t>Bhumika → Anas: "Next, Anas will show how the product looks from the operator's point of view and how deployment management works."</a:t>
            </a:r>
          </a:p>
        </p:txBody>
      </p:sp>
      <p:sp>
        <p:nvSpPr>
          <p:cNvPr id="26" name="TextBox 25"/>
          <p:cNvSpPr txBox="1"/>
          <p:nvPr/>
        </p:nvSpPr>
        <p:spPr>
          <a:xfrm>
            <a:off x="750000" y="5050000"/>
            <a:ext cx="10600000" cy="400000"/>
          </a:xfrm>
          <a:prstGeom prst="rect">
            <a:avLst/>
          </a:prstGeom>
          <a:noFill/>
        </p:spPr>
        <p:txBody>
          <a:bodyPr wrap="square">
            <a:spAutoFit/>
          </a:bodyPr>
          <a:lstStyle/>
          <a:p>
            <a:r>
              <a:rPr sz="1100" b="0">
                <a:solidFill>
                  <a:srgbClr val="5B6978"/>
                </a:solidFill>
                <a:latin typeface="Aptos"/>
              </a:rPr>
              <a:t>Anas → Anshuman: "I'll now pass it to Anshuman for code quality, our roadmap, and the closing."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91695" cy="80000"/>
          </a:xfrm>
          <a:prstGeom prst="rect">
            <a:avLst/>
          </a:prstGeom>
          <a:solidFill>
            <a:srgbClr val="2E6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0000" y="180000"/>
            <a:ext cx="5000000" cy="200000"/>
          </a:xfrm>
          <a:prstGeom prst="rect">
            <a:avLst/>
          </a:prstGeom>
          <a:noFill/>
        </p:spPr>
        <p:txBody>
          <a:bodyPr wrap="square">
            <a:spAutoFit/>
          </a:bodyPr>
          <a:lstStyle/>
          <a:p>
            <a:r>
              <a:rPr sz="900" b="1">
                <a:solidFill>
                  <a:srgbClr val="2E68FF"/>
                </a:solidFill>
                <a:latin typeface="Aptos"/>
              </a:rPr>
              <a:t>AUTOOPS PRESENTATION SCRIPT</a:t>
            </a:r>
          </a:p>
        </p:txBody>
      </p:sp>
      <p:sp>
        <p:nvSpPr>
          <p:cNvPr id="6" name="Rounded Rectangle 5"/>
          <p:cNvSpPr/>
          <p:nvPr/>
        </p:nvSpPr>
        <p:spPr>
          <a:xfrm>
            <a:off x="600000" y="450000"/>
            <a:ext cx="10900000" cy="45000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0000" y="530000"/>
            <a:ext cx="5000000" cy="300000"/>
          </a:xfrm>
          <a:prstGeom prst="rect">
            <a:avLst/>
          </a:prstGeom>
          <a:noFill/>
        </p:spPr>
        <p:txBody>
          <a:bodyPr wrap="square">
            <a:spAutoFit/>
          </a:bodyPr>
          <a:lstStyle/>
          <a:p>
            <a:r>
              <a:rPr sz="2000" b="1">
                <a:solidFill>
                  <a:srgbClr val="102133"/>
                </a:solidFill>
                <a:latin typeface="Aptos Display"/>
              </a:rPr>
              <a:t>Chetali Aggrawal</a:t>
            </a:r>
          </a:p>
        </p:txBody>
      </p:sp>
      <p:sp>
        <p:nvSpPr>
          <p:cNvPr id="8" name="TextBox 7"/>
          <p:cNvSpPr txBox="1"/>
          <p:nvPr/>
        </p:nvSpPr>
        <p:spPr>
          <a:xfrm>
            <a:off x="8500000" y="530000"/>
            <a:ext cx="2800000" cy="300000"/>
          </a:xfrm>
          <a:prstGeom prst="rect">
            <a:avLst/>
          </a:prstGeom>
          <a:noFill/>
        </p:spPr>
        <p:txBody>
          <a:bodyPr wrap="square">
            <a:spAutoFit/>
          </a:bodyPr>
          <a:lstStyle/>
          <a:p>
            <a:pPr algn="r"/>
            <a:r>
              <a:rPr sz="1300" b="1">
                <a:solidFill>
                  <a:srgbClr val="2E68FF"/>
                </a:solidFill>
                <a:latin typeface="Aptos"/>
              </a:rPr>
              <a:t>Slides 1-3</a:t>
            </a:r>
          </a:p>
        </p:txBody>
      </p:sp>
      <p:sp>
        <p:nvSpPr>
          <p:cNvPr id="9" name="TextBox 8"/>
          <p:cNvSpPr txBox="1"/>
          <p:nvPr/>
        </p:nvSpPr>
        <p:spPr>
          <a:xfrm>
            <a:off x="750000" y="930000"/>
            <a:ext cx="10000000" cy="250000"/>
          </a:xfrm>
          <a:prstGeom prst="rect">
            <a:avLst/>
          </a:prstGeom>
          <a:noFill/>
        </p:spPr>
        <p:txBody>
          <a:bodyPr wrap="square">
            <a:spAutoFit/>
          </a:bodyPr>
          <a:lstStyle/>
          <a:p>
            <a:r>
              <a:rPr sz="1050" b="0">
                <a:solidFill>
                  <a:srgbClr val="5B6978"/>
                </a:solidFill>
                <a:latin typeface="Aptos"/>
              </a:rPr>
              <a:t>Introduction, project thesis, and capability map</a:t>
            </a:r>
          </a:p>
        </p:txBody>
      </p:sp>
      <p:sp>
        <p:nvSpPr>
          <p:cNvPr id="10" name="TextBox 9"/>
          <p:cNvSpPr txBox="1"/>
          <p:nvPr/>
        </p:nvSpPr>
        <p:spPr>
          <a:xfrm>
            <a:off x="750000" y="1250000"/>
            <a:ext cx="800000" cy="200000"/>
          </a:xfrm>
          <a:prstGeom prst="rect">
            <a:avLst/>
          </a:prstGeom>
          <a:noFill/>
        </p:spPr>
        <p:txBody>
          <a:bodyPr wrap="square">
            <a:spAutoFit/>
          </a:bodyPr>
          <a:lstStyle/>
          <a:p>
            <a:r>
              <a:rPr sz="1100" b="1">
                <a:solidFill>
                  <a:srgbClr val="2E68FF"/>
                </a:solidFill>
                <a:latin typeface="Aptos"/>
              </a:rPr>
              <a:t>Slide 1</a:t>
            </a:r>
          </a:p>
        </p:txBody>
      </p:sp>
      <p:sp>
        <p:nvSpPr>
          <p:cNvPr id="11" name="TextBox 10"/>
          <p:cNvSpPr txBox="1"/>
          <p:nvPr/>
        </p:nvSpPr>
        <p:spPr>
          <a:xfrm>
            <a:off x="750000" y="1490000"/>
            <a:ext cx="10600000" cy="900000"/>
          </a:xfrm>
          <a:prstGeom prst="rect">
            <a:avLst/>
          </a:prstGeom>
          <a:noFill/>
        </p:spPr>
        <p:txBody>
          <a:bodyPr wrap="square">
            <a:spAutoFit/>
          </a:bodyPr>
          <a:lstStyle/>
          <a:p>
            <a:pPr>
              <a:spcAft>
                <a:spcPts val="1800"/>
              </a:spcAft>
            </a:pPr>
            <a:r>
              <a:rPr sz="1100">
                <a:solidFill>
                  <a:srgbClr val="333333"/>
                </a:solidFill>
                <a:latin typeface="Aptos"/>
              </a:rPr>
              <a:t>Good morning/afternoon. We're presenting AutoOps — a self-hosted CI/CD platform MVP. The goal is to give teams a single control plane for GitHub-triggered pipelines, deployment operations, approvals, and rollback handling. As you can see on the right, the dashboard is already functional — it tracks active runs, deployment health, approval queues, and execution history from one screen.</a:t>
            </a:r>
          </a:p>
        </p:txBody>
      </p:sp>
      <p:sp>
        <p:nvSpPr>
          <p:cNvPr id="12" name="TextBox 11"/>
          <p:cNvSpPr txBox="1"/>
          <p:nvPr/>
        </p:nvSpPr>
        <p:spPr>
          <a:xfrm>
            <a:off x="750000" y="2600000"/>
            <a:ext cx="800000" cy="200000"/>
          </a:xfrm>
          <a:prstGeom prst="rect">
            <a:avLst/>
          </a:prstGeom>
          <a:noFill/>
        </p:spPr>
        <p:txBody>
          <a:bodyPr wrap="square">
            <a:spAutoFit/>
          </a:bodyPr>
          <a:lstStyle/>
          <a:p>
            <a:r>
              <a:rPr sz="1100" b="1">
                <a:solidFill>
                  <a:srgbClr val="2E68FF"/>
                </a:solidFill>
                <a:latin typeface="Aptos"/>
              </a:rPr>
              <a:t>Slide 2</a:t>
            </a:r>
          </a:p>
        </p:txBody>
      </p:sp>
      <p:sp>
        <p:nvSpPr>
          <p:cNvPr id="13" name="TextBox 12"/>
          <p:cNvSpPr txBox="1"/>
          <p:nvPr/>
        </p:nvSpPr>
        <p:spPr>
          <a:xfrm>
            <a:off x="750000" y="2840000"/>
            <a:ext cx="10600000" cy="900000"/>
          </a:xfrm>
          <a:prstGeom prst="rect">
            <a:avLst/>
          </a:prstGeom>
          <a:noFill/>
        </p:spPr>
        <p:txBody>
          <a:bodyPr wrap="square">
            <a:spAutoFit/>
          </a:bodyPr>
          <a:lstStyle/>
          <a:p>
            <a:pPr>
              <a:spcAft>
                <a:spcPts val="1800"/>
              </a:spcAft>
            </a:pPr>
            <a:r>
              <a:rPr sz="1100">
                <a:solidFill>
                  <a:srgbClr val="333333"/>
                </a:solidFill>
                <a:latin typeface="Aptos"/>
              </a:rPr>
              <a:t>AutoOps solves a common problem: CI/CD workflows are often spread across scripts, servers, and dashboards. AutoOps brings those pieces together into one system. It turns a GitHub push into a controlled, self-hosted workflow. It centralizes queueing, execution, deployment state, and recovery. The core promise: push code, track every stage, deploy safely, recover quickly.</a:t>
            </a:r>
          </a:p>
        </p:txBody>
      </p:sp>
      <p:sp>
        <p:nvSpPr>
          <p:cNvPr id="14" name="TextBox 13"/>
          <p:cNvSpPr txBox="1"/>
          <p:nvPr/>
        </p:nvSpPr>
        <p:spPr>
          <a:xfrm>
            <a:off x="750000" y="3950000"/>
            <a:ext cx="800000" cy="200000"/>
          </a:xfrm>
          <a:prstGeom prst="rect">
            <a:avLst/>
          </a:prstGeom>
          <a:noFill/>
        </p:spPr>
        <p:txBody>
          <a:bodyPr wrap="square">
            <a:spAutoFit/>
          </a:bodyPr>
          <a:lstStyle/>
          <a:p>
            <a:r>
              <a:rPr sz="1100" b="1">
                <a:solidFill>
                  <a:srgbClr val="2E68FF"/>
                </a:solidFill>
                <a:latin typeface="Aptos"/>
              </a:rPr>
              <a:t>Slide 3</a:t>
            </a:r>
          </a:p>
        </p:txBody>
      </p:sp>
      <p:sp>
        <p:nvSpPr>
          <p:cNvPr id="15" name="TextBox 14"/>
          <p:cNvSpPr txBox="1"/>
          <p:nvPr/>
        </p:nvSpPr>
        <p:spPr>
          <a:xfrm>
            <a:off x="750000" y="4190000"/>
            <a:ext cx="10600000" cy="900000"/>
          </a:xfrm>
          <a:prstGeom prst="rect">
            <a:avLst/>
          </a:prstGeom>
          <a:noFill/>
        </p:spPr>
        <p:txBody>
          <a:bodyPr wrap="square">
            <a:spAutoFit/>
          </a:bodyPr>
          <a:lstStyle/>
          <a:p>
            <a:pPr>
              <a:spcAft>
                <a:spcPts val="1800"/>
              </a:spcAft>
            </a:pPr>
            <a:r>
              <a:rPr sz="1100">
                <a:solidFill>
                  <a:srgbClr val="333333"/>
                </a:solidFill>
                <a:latin typeface="Aptos"/>
              </a:rPr>
              <a:t>In Phase 1, the platform already covers the full delivery loop — six capabilities from GitHub intake and pipeline config, through execution and the operations UI, to recovery controls and managed mode for web applications. This is not just a UI prototype — it's a working operational foundation.</a:t>
            </a:r>
          </a:p>
        </p:txBody>
      </p:sp>
      <p:sp>
        <p:nvSpPr>
          <p:cNvPr id="16" name="TextBox 15"/>
          <p:cNvSpPr txBox="1"/>
          <p:nvPr/>
        </p:nvSpPr>
        <p:spPr>
          <a:xfrm>
            <a:off x="750000" y="5300000"/>
            <a:ext cx="10600000" cy="300000"/>
          </a:xfrm>
          <a:prstGeom prst="rect">
            <a:avLst/>
          </a:prstGeom>
          <a:noFill/>
        </p:spPr>
        <p:txBody>
          <a:bodyPr wrap="square">
            <a:spAutoFit/>
          </a:bodyPr>
          <a:lstStyle/>
          <a:p>
            <a:r>
              <a:rPr sz="1100" b="1">
                <a:solidFill>
                  <a:srgbClr val="8B5C2A"/>
                </a:solidFill>
                <a:latin typeface="Aptos"/>
              </a:rPr>
              <a:t>Handoff: "I'll now hand it over to Bhumika, who will explain the architecture and how the execution flow works."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91695" cy="80000"/>
          </a:xfrm>
          <a:prstGeom prst="rect">
            <a:avLst/>
          </a:prstGeom>
          <a:solidFill>
            <a:srgbClr val="2E6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0000" y="180000"/>
            <a:ext cx="5000000" cy="200000"/>
          </a:xfrm>
          <a:prstGeom prst="rect">
            <a:avLst/>
          </a:prstGeom>
          <a:noFill/>
        </p:spPr>
        <p:txBody>
          <a:bodyPr wrap="square">
            <a:spAutoFit/>
          </a:bodyPr>
          <a:lstStyle/>
          <a:p>
            <a:r>
              <a:rPr sz="900" b="1">
                <a:solidFill>
                  <a:srgbClr val="2E68FF"/>
                </a:solidFill>
                <a:latin typeface="Aptos"/>
              </a:rPr>
              <a:t>AUTOOPS PRESENTATION SCRIPT</a:t>
            </a:r>
          </a:p>
        </p:txBody>
      </p:sp>
      <p:sp>
        <p:nvSpPr>
          <p:cNvPr id="6" name="Rounded Rectangle 5"/>
          <p:cNvSpPr/>
          <p:nvPr/>
        </p:nvSpPr>
        <p:spPr>
          <a:xfrm>
            <a:off x="600000" y="450000"/>
            <a:ext cx="10900000" cy="45000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0000" y="530000"/>
            <a:ext cx="5000000" cy="300000"/>
          </a:xfrm>
          <a:prstGeom prst="rect">
            <a:avLst/>
          </a:prstGeom>
          <a:noFill/>
        </p:spPr>
        <p:txBody>
          <a:bodyPr wrap="square">
            <a:spAutoFit/>
          </a:bodyPr>
          <a:lstStyle/>
          <a:p>
            <a:r>
              <a:rPr sz="2000" b="1">
                <a:solidFill>
                  <a:srgbClr val="102133"/>
                </a:solidFill>
                <a:latin typeface="Aptos Display"/>
              </a:rPr>
              <a:t>Bhumika Burhade</a:t>
            </a:r>
          </a:p>
        </p:txBody>
      </p:sp>
      <p:sp>
        <p:nvSpPr>
          <p:cNvPr id="8" name="TextBox 7"/>
          <p:cNvSpPr txBox="1"/>
          <p:nvPr/>
        </p:nvSpPr>
        <p:spPr>
          <a:xfrm>
            <a:off x="8500000" y="530000"/>
            <a:ext cx="2800000" cy="300000"/>
          </a:xfrm>
          <a:prstGeom prst="rect">
            <a:avLst/>
          </a:prstGeom>
          <a:noFill/>
        </p:spPr>
        <p:txBody>
          <a:bodyPr wrap="square">
            <a:spAutoFit/>
          </a:bodyPr>
          <a:lstStyle/>
          <a:p>
            <a:pPr algn="r"/>
            <a:r>
              <a:rPr sz="1300" b="1">
                <a:solidFill>
                  <a:srgbClr val="2E68FF"/>
                </a:solidFill>
                <a:latin typeface="Aptos"/>
              </a:rPr>
              <a:t>Slides 4-5</a:t>
            </a:r>
          </a:p>
        </p:txBody>
      </p:sp>
      <p:sp>
        <p:nvSpPr>
          <p:cNvPr id="9" name="TextBox 8"/>
          <p:cNvSpPr txBox="1"/>
          <p:nvPr/>
        </p:nvSpPr>
        <p:spPr>
          <a:xfrm>
            <a:off x="750000" y="930000"/>
            <a:ext cx="10000000" cy="250000"/>
          </a:xfrm>
          <a:prstGeom prst="rect">
            <a:avLst/>
          </a:prstGeom>
          <a:noFill/>
        </p:spPr>
        <p:txBody>
          <a:bodyPr wrap="square">
            <a:spAutoFit/>
          </a:bodyPr>
          <a:lstStyle/>
          <a:p>
            <a:r>
              <a:rPr sz="1050" b="0">
                <a:solidFill>
                  <a:srgbClr val="5B6978"/>
                </a:solidFill>
                <a:latin typeface="Aptos"/>
              </a:rPr>
              <a:t>System architecture and end-to-end execution flow</a:t>
            </a:r>
          </a:p>
        </p:txBody>
      </p:sp>
      <p:sp>
        <p:nvSpPr>
          <p:cNvPr id="10" name="TextBox 9"/>
          <p:cNvSpPr txBox="1"/>
          <p:nvPr/>
        </p:nvSpPr>
        <p:spPr>
          <a:xfrm>
            <a:off x="750000" y="1250000"/>
            <a:ext cx="800000" cy="200000"/>
          </a:xfrm>
          <a:prstGeom prst="rect">
            <a:avLst/>
          </a:prstGeom>
          <a:noFill/>
        </p:spPr>
        <p:txBody>
          <a:bodyPr wrap="square">
            <a:spAutoFit/>
          </a:bodyPr>
          <a:lstStyle/>
          <a:p>
            <a:r>
              <a:rPr sz="1100" b="1">
                <a:solidFill>
                  <a:srgbClr val="2E68FF"/>
                </a:solidFill>
                <a:latin typeface="Aptos"/>
              </a:rPr>
              <a:t>Slide 4</a:t>
            </a:r>
          </a:p>
        </p:txBody>
      </p:sp>
      <p:sp>
        <p:nvSpPr>
          <p:cNvPr id="11" name="TextBox 10"/>
          <p:cNvSpPr txBox="1"/>
          <p:nvPr/>
        </p:nvSpPr>
        <p:spPr>
          <a:xfrm>
            <a:off x="750000" y="1490000"/>
            <a:ext cx="10600000" cy="1200000"/>
          </a:xfrm>
          <a:prstGeom prst="rect">
            <a:avLst/>
          </a:prstGeom>
          <a:noFill/>
        </p:spPr>
        <p:txBody>
          <a:bodyPr wrap="square">
            <a:spAutoFit/>
          </a:bodyPr>
          <a:lstStyle/>
          <a:p>
            <a:pPr>
              <a:spcAft>
                <a:spcPts val="1800"/>
              </a:spcAft>
            </a:pPr>
            <a:r>
              <a:rPr sz="1100">
                <a:solidFill>
                  <a:srgbClr val="333333"/>
                </a:solidFill>
                <a:latin typeface="Aptos"/>
              </a:rPr>
              <a:t>The architecture is divided into clear layers. apps/api acts as the control plane — handling authentication, project APIs, and repository analysis. packages/core contains shared types, pipeline parsing, and rollback logic. apps/worker claims queued runs, clones repos, builds, tests, deploys, and handles rollback. On the bottom row: apps/web is the React 19 dashboard, packages/db manages Postgres state, and deployment targets support SSH Compose hosts and managed VPS with healthcheck endpoints. This separation makes the system easy to maintain and extend.</a:t>
            </a:r>
          </a:p>
        </p:txBody>
      </p:sp>
      <p:sp>
        <p:nvSpPr>
          <p:cNvPr id="12" name="TextBox 11"/>
          <p:cNvSpPr txBox="1"/>
          <p:nvPr/>
        </p:nvSpPr>
        <p:spPr>
          <a:xfrm>
            <a:off x="750000" y="3000000"/>
            <a:ext cx="800000" cy="200000"/>
          </a:xfrm>
          <a:prstGeom prst="rect">
            <a:avLst/>
          </a:prstGeom>
          <a:noFill/>
        </p:spPr>
        <p:txBody>
          <a:bodyPr wrap="square">
            <a:spAutoFit/>
          </a:bodyPr>
          <a:lstStyle/>
          <a:p>
            <a:r>
              <a:rPr sz="1100" b="1">
                <a:solidFill>
                  <a:srgbClr val="2E68FF"/>
                </a:solidFill>
                <a:latin typeface="Aptos"/>
              </a:rPr>
              <a:t>Slide 5</a:t>
            </a:r>
          </a:p>
        </p:txBody>
      </p:sp>
      <p:sp>
        <p:nvSpPr>
          <p:cNvPr id="13" name="TextBox 12"/>
          <p:cNvSpPr txBox="1"/>
          <p:nvPr/>
        </p:nvSpPr>
        <p:spPr>
          <a:xfrm>
            <a:off x="750000" y="3240000"/>
            <a:ext cx="10600000" cy="1200000"/>
          </a:xfrm>
          <a:prstGeom prst="rect">
            <a:avLst/>
          </a:prstGeom>
          <a:noFill/>
        </p:spPr>
        <p:txBody>
          <a:bodyPr wrap="square">
            <a:spAutoFit/>
          </a:bodyPr>
          <a:lstStyle/>
          <a:p>
            <a:pPr>
              <a:spcAft>
                <a:spcPts val="1800"/>
              </a:spcAft>
            </a:pPr>
            <a:r>
              <a:rPr sz="1100">
                <a:solidFill>
                  <a:srgbClr val="333333"/>
                </a:solidFill>
                <a:latin typeface="Aptos"/>
              </a:rPr>
              <a:t>The execution flow starts with a GitHub push event. The API validates the webhook and deduplicates the delivery. Matching projects create queued runs with branch and SHA. The worker clones the repo, resolves the pipeline config, runs Docker build and tests in sequence, then pushes the image, deploys to the target, runs a healthcheck, and records the revision. Everything is persisted in Postgres — runs, stages, logs, outcomes, and approvals — so the dashboard can immediately show what failed and what to do next.</a:t>
            </a:r>
          </a:p>
        </p:txBody>
      </p:sp>
      <p:sp>
        <p:nvSpPr>
          <p:cNvPr id="14" name="TextBox 13"/>
          <p:cNvSpPr txBox="1"/>
          <p:nvPr/>
        </p:nvSpPr>
        <p:spPr>
          <a:xfrm>
            <a:off x="750000" y="4750000"/>
            <a:ext cx="10600000" cy="300000"/>
          </a:xfrm>
          <a:prstGeom prst="rect">
            <a:avLst/>
          </a:prstGeom>
          <a:noFill/>
        </p:spPr>
        <p:txBody>
          <a:bodyPr wrap="square">
            <a:spAutoFit/>
          </a:bodyPr>
          <a:lstStyle/>
          <a:p>
            <a:r>
              <a:rPr sz="1100" b="1">
                <a:solidFill>
                  <a:srgbClr val="8B5C2A"/>
                </a:solidFill>
                <a:latin typeface="Aptos"/>
              </a:rPr>
              <a:t>Handoff: "Next, Anas will show how the product looks from the operator's point of view and how deployment management works."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91695" cy="80000"/>
          </a:xfrm>
          <a:prstGeom prst="rect">
            <a:avLst/>
          </a:prstGeom>
          <a:solidFill>
            <a:srgbClr val="2E6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0000" y="180000"/>
            <a:ext cx="5000000" cy="200000"/>
          </a:xfrm>
          <a:prstGeom prst="rect">
            <a:avLst/>
          </a:prstGeom>
          <a:noFill/>
        </p:spPr>
        <p:txBody>
          <a:bodyPr wrap="square">
            <a:spAutoFit/>
          </a:bodyPr>
          <a:lstStyle/>
          <a:p>
            <a:r>
              <a:rPr sz="900" b="1">
                <a:solidFill>
                  <a:srgbClr val="2E68FF"/>
                </a:solidFill>
                <a:latin typeface="Aptos"/>
              </a:rPr>
              <a:t>AUTOOPS PRESENTATION SCRIPT</a:t>
            </a:r>
          </a:p>
        </p:txBody>
      </p:sp>
      <p:sp>
        <p:nvSpPr>
          <p:cNvPr id="6" name="Rounded Rectangle 5"/>
          <p:cNvSpPr/>
          <p:nvPr/>
        </p:nvSpPr>
        <p:spPr>
          <a:xfrm>
            <a:off x="600000" y="450000"/>
            <a:ext cx="10900000" cy="45000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0000" y="530000"/>
            <a:ext cx="5000000" cy="300000"/>
          </a:xfrm>
          <a:prstGeom prst="rect">
            <a:avLst/>
          </a:prstGeom>
          <a:noFill/>
        </p:spPr>
        <p:txBody>
          <a:bodyPr wrap="square">
            <a:spAutoFit/>
          </a:bodyPr>
          <a:lstStyle/>
          <a:p>
            <a:r>
              <a:rPr sz="2000" b="1">
                <a:solidFill>
                  <a:srgbClr val="102133"/>
                </a:solidFill>
                <a:latin typeface="Aptos Display"/>
              </a:rPr>
              <a:t>Anas Khan</a:t>
            </a:r>
          </a:p>
        </p:txBody>
      </p:sp>
      <p:sp>
        <p:nvSpPr>
          <p:cNvPr id="8" name="TextBox 7"/>
          <p:cNvSpPr txBox="1"/>
          <p:nvPr/>
        </p:nvSpPr>
        <p:spPr>
          <a:xfrm>
            <a:off x="8500000" y="530000"/>
            <a:ext cx="2800000" cy="300000"/>
          </a:xfrm>
          <a:prstGeom prst="rect">
            <a:avLst/>
          </a:prstGeom>
          <a:noFill/>
        </p:spPr>
        <p:txBody>
          <a:bodyPr wrap="square">
            <a:spAutoFit/>
          </a:bodyPr>
          <a:lstStyle/>
          <a:p>
            <a:pPr algn="r"/>
            <a:r>
              <a:rPr sz="1300" b="1">
                <a:solidFill>
                  <a:srgbClr val="2E68FF"/>
                </a:solidFill>
                <a:latin typeface="Aptos"/>
              </a:rPr>
              <a:t>Slides 6-9</a:t>
            </a:r>
          </a:p>
        </p:txBody>
      </p:sp>
      <p:sp>
        <p:nvSpPr>
          <p:cNvPr id="9" name="TextBox 8"/>
          <p:cNvSpPr txBox="1"/>
          <p:nvPr/>
        </p:nvSpPr>
        <p:spPr>
          <a:xfrm>
            <a:off x="750000" y="930000"/>
            <a:ext cx="10000000" cy="250000"/>
          </a:xfrm>
          <a:prstGeom prst="rect">
            <a:avLst/>
          </a:prstGeom>
          <a:noFill/>
        </p:spPr>
        <p:txBody>
          <a:bodyPr wrap="square">
            <a:spAutoFit/>
          </a:bodyPr>
          <a:lstStyle/>
          <a:p>
            <a:r>
              <a:rPr sz="1050" b="0">
                <a:solidFill>
                  <a:srgbClr val="5B6978"/>
                </a:solidFill>
                <a:latin typeface="Aptos"/>
              </a:rPr>
              <a:t>Product UI walkthrough — overview and onboarding</a:t>
            </a:r>
          </a:p>
        </p:txBody>
      </p:sp>
      <p:sp>
        <p:nvSpPr>
          <p:cNvPr id="10" name="TextBox 9"/>
          <p:cNvSpPr txBox="1"/>
          <p:nvPr/>
        </p:nvSpPr>
        <p:spPr>
          <a:xfrm>
            <a:off x="750000" y="1250000"/>
            <a:ext cx="800000" cy="200000"/>
          </a:xfrm>
          <a:prstGeom prst="rect">
            <a:avLst/>
          </a:prstGeom>
          <a:noFill/>
        </p:spPr>
        <p:txBody>
          <a:bodyPr wrap="square">
            <a:spAutoFit/>
          </a:bodyPr>
          <a:lstStyle/>
          <a:p>
            <a:r>
              <a:rPr sz="1100" b="1">
                <a:solidFill>
                  <a:srgbClr val="2E68FF"/>
                </a:solidFill>
                <a:latin typeface="Aptos"/>
              </a:rPr>
              <a:t>Slide 6</a:t>
            </a:r>
          </a:p>
        </p:txBody>
      </p:sp>
      <p:sp>
        <p:nvSpPr>
          <p:cNvPr id="11" name="TextBox 10"/>
          <p:cNvSpPr txBox="1"/>
          <p:nvPr/>
        </p:nvSpPr>
        <p:spPr>
          <a:xfrm>
            <a:off x="750000" y="1490000"/>
            <a:ext cx="10600000" cy="1000000"/>
          </a:xfrm>
          <a:prstGeom prst="rect">
            <a:avLst/>
          </a:prstGeom>
          <a:noFill/>
        </p:spPr>
        <p:txBody>
          <a:bodyPr wrap="square">
            <a:spAutoFit/>
          </a:bodyPr>
          <a:lstStyle/>
          <a:p>
            <a:pPr>
              <a:spcAft>
                <a:spcPts val="1800"/>
              </a:spcAft>
            </a:pPr>
            <a:r>
              <a:rPr sz="1100">
                <a:solidFill>
                  <a:srgbClr val="333333"/>
                </a:solidFill>
                <a:latin typeface="Aptos"/>
              </a:rPr>
              <a:t>This is the overview screen — the first thing an operator sees. It's designed for triage: active runs, unhealthy targets, success rate, and pending approvals are all surfaced at the top. The "Needs Attention" section highlights the latest failed run with a one-click rerun button. The approval queue and live execution panels sit on the right. Instead of digging through multiple tools, the operator gets an immediate picture of delivery health.</a:t>
            </a:r>
          </a:p>
        </p:txBody>
      </p:sp>
      <p:sp>
        <p:nvSpPr>
          <p:cNvPr id="12" name="TextBox 11"/>
          <p:cNvSpPr txBox="1"/>
          <p:nvPr/>
        </p:nvSpPr>
        <p:spPr>
          <a:xfrm>
            <a:off x="750000" y="2750000"/>
            <a:ext cx="800000" cy="200000"/>
          </a:xfrm>
          <a:prstGeom prst="rect">
            <a:avLst/>
          </a:prstGeom>
          <a:noFill/>
        </p:spPr>
        <p:txBody>
          <a:bodyPr wrap="square">
            <a:spAutoFit/>
          </a:bodyPr>
          <a:lstStyle/>
          <a:p>
            <a:r>
              <a:rPr sz="1100" b="1">
                <a:solidFill>
                  <a:srgbClr val="2E68FF"/>
                </a:solidFill>
                <a:latin typeface="Aptos"/>
              </a:rPr>
              <a:t>Slide 7</a:t>
            </a:r>
          </a:p>
        </p:txBody>
      </p:sp>
      <p:sp>
        <p:nvSpPr>
          <p:cNvPr id="13" name="TextBox 12"/>
          <p:cNvSpPr txBox="1"/>
          <p:nvPr/>
        </p:nvSpPr>
        <p:spPr>
          <a:xfrm>
            <a:off x="750000" y="2990000"/>
            <a:ext cx="10600000" cy="1000000"/>
          </a:xfrm>
          <a:prstGeom prst="rect">
            <a:avLst/>
          </a:prstGeom>
          <a:noFill/>
        </p:spPr>
        <p:txBody>
          <a:bodyPr wrap="square">
            <a:spAutoFit/>
          </a:bodyPr>
          <a:lstStyle/>
          <a:p>
            <a:pPr>
              <a:spcAft>
                <a:spcPts val="1800"/>
              </a:spcAft>
            </a:pPr>
            <a:r>
              <a:rPr sz="1100">
                <a:solidFill>
                  <a:srgbClr val="333333"/>
                </a:solidFill>
                <a:latin typeface="Aptos"/>
              </a:rPr>
              <a:t>The repositories view supports onboarding. Teams can connect GitHub, inspect repositories, and decide whether a project should follow a managed deployment path or a custom pipeline. For Version 1, managed mode targets standalone Next.js, React, CRA, and static HTML repos. Monorepos stay on the custom-pipeline route. This makes AutoOps flexible while keeping the workflow centralized.</a:t>
            </a:r>
          </a:p>
        </p:txBody>
      </p:sp>
      <p:sp>
        <p:nvSpPr>
          <p:cNvPr id="14" name="TextBox 13"/>
          <p:cNvSpPr txBox="1"/>
          <p:nvPr/>
        </p:nvSpPr>
        <p:spPr>
          <a:xfrm>
            <a:off x="750000" y="4450000"/>
            <a:ext cx="10600000" cy="200000"/>
          </a:xfrm>
          <a:prstGeom prst="rect">
            <a:avLst/>
          </a:prstGeom>
          <a:noFill/>
        </p:spPr>
        <p:txBody>
          <a:bodyPr wrap="square">
            <a:spAutoFit/>
          </a:bodyPr>
          <a:lstStyle/>
          <a:p>
            <a:r>
              <a:rPr sz="1000" b="0">
                <a:solidFill>
                  <a:srgbClr val="5B6978"/>
                </a:solidFill>
                <a:latin typeface="Aptos"/>
              </a:rPr>
              <a:t>continued on next page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91695" cy="80000"/>
          </a:xfrm>
          <a:prstGeom prst="rect">
            <a:avLst/>
          </a:prstGeom>
          <a:solidFill>
            <a:srgbClr val="2E6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0000" y="180000"/>
            <a:ext cx="5000000" cy="200000"/>
          </a:xfrm>
          <a:prstGeom prst="rect">
            <a:avLst/>
          </a:prstGeom>
          <a:noFill/>
        </p:spPr>
        <p:txBody>
          <a:bodyPr wrap="square">
            <a:spAutoFit/>
          </a:bodyPr>
          <a:lstStyle/>
          <a:p>
            <a:r>
              <a:rPr sz="900" b="1">
                <a:solidFill>
                  <a:srgbClr val="2E68FF"/>
                </a:solidFill>
                <a:latin typeface="Aptos"/>
              </a:rPr>
              <a:t>AUTOOPS PRESENTATION SCRIPT</a:t>
            </a:r>
          </a:p>
        </p:txBody>
      </p:sp>
      <p:sp>
        <p:nvSpPr>
          <p:cNvPr id="6" name="Rounded Rectangle 5"/>
          <p:cNvSpPr/>
          <p:nvPr/>
        </p:nvSpPr>
        <p:spPr>
          <a:xfrm>
            <a:off x="600000" y="450000"/>
            <a:ext cx="10900000" cy="45000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0000" y="530000"/>
            <a:ext cx="5000000" cy="300000"/>
          </a:xfrm>
          <a:prstGeom prst="rect">
            <a:avLst/>
          </a:prstGeom>
          <a:noFill/>
        </p:spPr>
        <p:txBody>
          <a:bodyPr wrap="square">
            <a:spAutoFit/>
          </a:bodyPr>
          <a:lstStyle/>
          <a:p>
            <a:r>
              <a:rPr sz="2000" b="1">
                <a:solidFill>
                  <a:srgbClr val="102133"/>
                </a:solidFill>
                <a:latin typeface="Aptos Display"/>
              </a:rPr>
              <a:t>Anas Khan (continued)</a:t>
            </a:r>
          </a:p>
        </p:txBody>
      </p:sp>
      <p:sp>
        <p:nvSpPr>
          <p:cNvPr id="8" name="TextBox 7"/>
          <p:cNvSpPr txBox="1"/>
          <p:nvPr/>
        </p:nvSpPr>
        <p:spPr>
          <a:xfrm>
            <a:off x="8500000" y="530000"/>
            <a:ext cx="2800000" cy="300000"/>
          </a:xfrm>
          <a:prstGeom prst="rect">
            <a:avLst/>
          </a:prstGeom>
          <a:noFill/>
        </p:spPr>
        <p:txBody>
          <a:bodyPr wrap="square">
            <a:spAutoFit/>
          </a:bodyPr>
          <a:lstStyle/>
          <a:p>
            <a:pPr algn="r"/>
            <a:r>
              <a:rPr sz="1300" b="1">
                <a:solidFill>
                  <a:srgbClr val="2E68FF"/>
                </a:solidFill>
                <a:latin typeface="Aptos"/>
              </a:rPr>
              <a:t>Slides 8-9</a:t>
            </a:r>
          </a:p>
        </p:txBody>
      </p:sp>
      <p:sp>
        <p:nvSpPr>
          <p:cNvPr id="9" name="TextBox 8"/>
          <p:cNvSpPr txBox="1"/>
          <p:nvPr/>
        </p:nvSpPr>
        <p:spPr>
          <a:xfrm>
            <a:off x="750000" y="930000"/>
            <a:ext cx="10000000" cy="250000"/>
          </a:xfrm>
          <a:prstGeom prst="rect">
            <a:avLst/>
          </a:prstGeom>
          <a:noFill/>
        </p:spPr>
        <p:txBody>
          <a:bodyPr wrap="square">
            <a:spAutoFit/>
          </a:bodyPr>
          <a:lstStyle/>
          <a:p>
            <a:r>
              <a:rPr sz="1050" b="0">
                <a:solidFill>
                  <a:srgbClr val="5B6978"/>
                </a:solidFill>
                <a:latin typeface="Aptos"/>
              </a:rPr>
              <a:t>Deployment operations and governance</a:t>
            </a:r>
          </a:p>
        </p:txBody>
      </p:sp>
      <p:sp>
        <p:nvSpPr>
          <p:cNvPr id="10" name="TextBox 9"/>
          <p:cNvSpPr txBox="1"/>
          <p:nvPr/>
        </p:nvSpPr>
        <p:spPr>
          <a:xfrm>
            <a:off x="750000" y="1250000"/>
            <a:ext cx="800000" cy="200000"/>
          </a:xfrm>
          <a:prstGeom prst="rect">
            <a:avLst/>
          </a:prstGeom>
          <a:noFill/>
        </p:spPr>
        <p:txBody>
          <a:bodyPr wrap="square">
            <a:spAutoFit/>
          </a:bodyPr>
          <a:lstStyle/>
          <a:p>
            <a:r>
              <a:rPr sz="1100" b="1">
                <a:solidFill>
                  <a:srgbClr val="2E68FF"/>
                </a:solidFill>
                <a:latin typeface="Aptos"/>
              </a:rPr>
              <a:t>Slide 8</a:t>
            </a:r>
          </a:p>
        </p:txBody>
      </p:sp>
      <p:sp>
        <p:nvSpPr>
          <p:cNvPr id="11" name="TextBox 10"/>
          <p:cNvSpPr txBox="1"/>
          <p:nvPr/>
        </p:nvSpPr>
        <p:spPr>
          <a:xfrm>
            <a:off x="750000" y="1490000"/>
            <a:ext cx="10600000" cy="1000000"/>
          </a:xfrm>
          <a:prstGeom prst="rect">
            <a:avLst/>
          </a:prstGeom>
          <a:noFill/>
        </p:spPr>
        <p:txBody>
          <a:bodyPr wrap="square">
            <a:spAutoFit/>
          </a:bodyPr>
          <a:lstStyle/>
          <a:p>
            <a:pPr>
              <a:spcAft>
                <a:spcPts val="1800"/>
              </a:spcAft>
            </a:pPr>
            <a:r>
              <a:rPr sz="1100">
                <a:solidFill>
                  <a:srgbClr val="333333"/>
                </a:solidFill>
                <a:latin typeface="Aptos"/>
              </a:rPr>
              <a:t>The deployment view is one of the strongest parts of the platform. Each target carries its environment, protection status, promotion order, and healthcheck URL. When a release succeeds, it becomes a deployment revision with image references and digests — making rollback explicit. If health fails after a known-good revision exists, the worker can attempt automatic rollback. Deployment history is tied directly to recovery options.</a:t>
            </a:r>
          </a:p>
        </p:txBody>
      </p:sp>
      <p:sp>
        <p:nvSpPr>
          <p:cNvPr id="12" name="TextBox 11"/>
          <p:cNvSpPr txBox="1"/>
          <p:nvPr/>
        </p:nvSpPr>
        <p:spPr>
          <a:xfrm>
            <a:off x="750000" y="2750000"/>
            <a:ext cx="800000" cy="200000"/>
          </a:xfrm>
          <a:prstGeom prst="rect">
            <a:avLst/>
          </a:prstGeom>
          <a:noFill/>
        </p:spPr>
        <p:txBody>
          <a:bodyPr wrap="square">
            <a:spAutoFit/>
          </a:bodyPr>
          <a:lstStyle/>
          <a:p>
            <a:r>
              <a:rPr sz="1100" b="1">
                <a:solidFill>
                  <a:srgbClr val="2E68FF"/>
                </a:solidFill>
                <a:latin typeface="Aptos"/>
              </a:rPr>
              <a:t>Slide 9</a:t>
            </a:r>
          </a:p>
        </p:txBody>
      </p:sp>
      <p:sp>
        <p:nvSpPr>
          <p:cNvPr id="13" name="TextBox 12"/>
          <p:cNvSpPr txBox="1"/>
          <p:nvPr/>
        </p:nvSpPr>
        <p:spPr>
          <a:xfrm>
            <a:off x="750000" y="2990000"/>
            <a:ext cx="10600000" cy="1000000"/>
          </a:xfrm>
          <a:prstGeom prst="rect">
            <a:avLst/>
          </a:prstGeom>
          <a:noFill/>
        </p:spPr>
        <p:txBody>
          <a:bodyPr wrap="square">
            <a:spAutoFit/>
          </a:bodyPr>
          <a:lstStyle/>
          <a:p>
            <a:pPr>
              <a:spcAft>
                <a:spcPts val="1800"/>
              </a:spcAft>
            </a:pPr>
            <a:r>
              <a:rPr sz="1100">
                <a:solidFill>
                  <a:srgbClr val="333333"/>
                </a:solidFill>
                <a:latin typeface="Aptos"/>
              </a:rPr>
              <a:t>This slide focuses on governance. AutoOps supports protected release approvals — so important promotions require an explicit decision before deployment work is queued. Each approval record stores the requester, revision, source and destination targets, comments, and decision timestamps. Operators get a durable audit trail instead of relying on memory or side-channel approvals.</a:t>
            </a:r>
          </a:p>
        </p:txBody>
      </p:sp>
      <p:sp>
        <p:nvSpPr>
          <p:cNvPr id="14" name="TextBox 13"/>
          <p:cNvSpPr txBox="1"/>
          <p:nvPr/>
        </p:nvSpPr>
        <p:spPr>
          <a:xfrm>
            <a:off x="750000" y="4250000"/>
            <a:ext cx="10600000" cy="300000"/>
          </a:xfrm>
          <a:prstGeom prst="rect">
            <a:avLst/>
          </a:prstGeom>
          <a:noFill/>
        </p:spPr>
        <p:txBody>
          <a:bodyPr wrap="square">
            <a:spAutoFit/>
          </a:bodyPr>
          <a:lstStyle/>
          <a:p>
            <a:r>
              <a:rPr sz="1100" b="1">
                <a:solidFill>
                  <a:srgbClr val="8B5C2A"/>
                </a:solidFill>
                <a:latin typeface="Aptos"/>
              </a:rPr>
              <a:t>Handoff: "I'll now pass it to Anshuman for code quality, our roadmap, and the closing."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91695" cy="80000"/>
          </a:xfrm>
          <a:prstGeom prst="rect">
            <a:avLst/>
          </a:prstGeom>
          <a:solidFill>
            <a:srgbClr val="2E6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0000" y="180000"/>
            <a:ext cx="5000000" cy="200000"/>
          </a:xfrm>
          <a:prstGeom prst="rect">
            <a:avLst/>
          </a:prstGeom>
          <a:noFill/>
        </p:spPr>
        <p:txBody>
          <a:bodyPr wrap="square">
            <a:spAutoFit/>
          </a:bodyPr>
          <a:lstStyle/>
          <a:p>
            <a:r>
              <a:rPr sz="900" b="1">
                <a:solidFill>
                  <a:srgbClr val="2E68FF"/>
                </a:solidFill>
                <a:latin typeface="Aptos"/>
              </a:rPr>
              <a:t>AUTOOPS PRESENTATION SCRIPT</a:t>
            </a:r>
          </a:p>
        </p:txBody>
      </p:sp>
      <p:sp>
        <p:nvSpPr>
          <p:cNvPr id="6" name="Rounded Rectangle 5"/>
          <p:cNvSpPr/>
          <p:nvPr/>
        </p:nvSpPr>
        <p:spPr>
          <a:xfrm>
            <a:off x="600000" y="450000"/>
            <a:ext cx="10900000" cy="45000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0000" y="530000"/>
            <a:ext cx="5000000" cy="300000"/>
          </a:xfrm>
          <a:prstGeom prst="rect">
            <a:avLst/>
          </a:prstGeom>
          <a:noFill/>
        </p:spPr>
        <p:txBody>
          <a:bodyPr wrap="square">
            <a:spAutoFit/>
          </a:bodyPr>
          <a:lstStyle/>
          <a:p>
            <a:r>
              <a:rPr sz="2000" b="1">
                <a:solidFill>
                  <a:srgbClr val="102133"/>
                </a:solidFill>
                <a:latin typeface="Aptos Display"/>
              </a:rPr>
              <a:t>Anshuman Tiwari</a:t>
            </a:r>
          </a:p>
        </p:txBody>
      </p:sp>
      <p:sp>
        <p:nvSpPr>
          <p:cNvPr id="8" name="TextBox 7"/>
          <p:cNvSpPr txBox="1"/>
          <p:nvPr/>
        </p:nvSpPr>
        <p:spPr>
          <a:xfrm>
            <a:off x="8500000" y="530000"/>
            <a:ext cx="2800000" cy="300000"/>
          </a:xfrm>
          <a:prstGeom prst="rect">
            <a:avLst/>
          </a:prstGeom>
          <a:noFill/>
        </p:spPr>
        <p:txBody>
          <a:bodyPr wrap="square">
            <a:spAutoFit/>
          </a:bodyPr>
          <a:lstStyle/>
          <a:p>
            <a:pPr algn="r"/>
            <a:r>
              <a:rPr sz="1300" b="1">
                <a:solidFill>
                  <a:srgbClr val="2E68FF"/>
                </a:solidFill>
                <a:latin typeface="Aptos"/>
              </a:rPr>
              <a:t>Slides 10-13</a:t>
            </a:r>
          </a:p>
        </p:txBody>
      </p:sp>
      <p:sp>
        <p:nvSpPr>
          <p:cNvPr id="9" name="TextBox 8"/>
          <p:cNvSpPr txBox="1"/>
          <p:nvPr/>
        </p:nvSpPr>
        <p:spPr>
          <a:xfrm>
            <a:off x="750000" y="930000"/>
            <a:ext cx="10000000" cy="250000"/>
          </a:xfrm>
          <a:prstGeom prst="rect">
            <a:avLst/>
          </a:prstGeom>
          <a:noFill/>
        </p:spPr>
        <p:txBody>
          <a:bodyPr wrap="square">
            <a:spAutoFit/>
          </a:bodyPr>
          <a:lstStyle/>
          <a:p>
            <a:r>
              <a:rPr sz="1050" b="0">
                <a:solidFill>
                  <a:srgbClr val="5B6978"/>
                </a:solidFill>
                <a:latin typeface="Aptos"/>
              </a:rPr>
              <a:t>Code quality, roadmap, live demo, and closing</a:t>
            </a:r>
          </a:p>
        </p:txBody>
      </p:sp>
      <p:sp>
        <p:nvSpPr>
          <p:cNvPr id="10" name="TextBox 9"/>
          <p:cNvSpPr txBox="1"/>
          <p:nvPr/>
        </p:nvSpPr>
        <p:spPr>
          <a:xfrm>
            <a:off x="750000" y="1250000"/>
            <a:ext cx="800000" cy="200000"/>
          </a:xfrm>
          <a:prstGeom prst="rect">
            <a:avLst/>
          </a:prstGeom>
          <a:noFill/>
        </p:spPr>
        <p:txBody>
          <a:bodyPr wrap="square">
            <a:spAutoFit/>
          </a:bodyPr>
          <a:lstStyle/>
          <a:p>
            <a:r>
              <a:rPr sz="1100" b="1">
                <a:solidFill>
                  <a:srgbClr val="2E68FF"/>
                </a:solidFill>
                <a:latin typeface="Aptos"/>
              </a:rPr>
              <a:t>Slide 10</a:t>
            </a:r>
          </a:p>
        </p:txBody>
      </p:sp>
      <p:sp>
        <p:nvSpPr>
          <p:cNvPr id="11" name="TextBox 10"/>
          <p:cNvSpPr txBox="1"/>
          <p:nvPr/>
        </p:nvSpPr>
        <p:spPr>
          <a:xfrm>
            <a:off x="750000" y="1490000"/>
            <a:ext cx="10600000" cy="800000"/>
          </a:xfrm>
          <a:prstGeom prst="rect">
            <a:avLst/>
          </a:prstGeom>
          <a:noFill/>
        </p:spPr>
        <p:txBody>
          <a:bodyPr wrap="square">
            <a:spAutoFit/>
          </a:bodyPr>
          <a:lstStyle/>
          <a:p>
            <a:pPr>
              <a:spcAft>
                <a:spcPts val="1800"/>
              </a:spcAft>
            </a:pPr>
            <a:r>
              <a:rPr sz="1100">
                <a:solidFill>
                  <a:srgbClr val="333333"/>
                </a:solidFill>
                <a:latin typeface="Aptos"/>
              </a:rPr>
              <a:t>Before we look ahead, let's talk about engineering discipline. We have 17 test suites passing across all five packages, with 68 test cases covering webhook validation, pipeline parsing, rollback, streaming, and UI rendering. There are 26 test files alongside 52 source modules — about 14,400 lines of TypeScript. The monorepo uses pnpm workspaces for shared type safety, and we use Vitest and Testing Library for fast unit and integration tests.</a:t>
            </a:r>
          </a:p>
        </p:txBody>
      </p:sp>
      <p:sp>
        <p:nvSpPr>
          <p:cNvPr id="12" name="TextBox 11"/>
          <p:cNvSpPr txBox="1"/>
          <p:nvPr/>
        </p:nvSpPr>
        <p:spPr>
          <a:xfrm>
            <a:off x="750000" y="2350000"/>
            <a:ext cx="800000" cy="200000"/>
          </a:xfrm>
          <a:prstGeom prst="rect">
            <a:avLst/>
          </a:prstGeom>
          <a:noFill/>
        </p:spPr>
        <p:txBody>
          <a:bodyPr wrap="square">
            <a:spAutoFit/>
          </a:bodyPr>
          <a:lstStyle/>
          <a:p>
            <a:r>
              <a:rPr sz="1100" b="1">
                <a:solidFill>
                  <a:srgbClr val="2E68FF"/>
                </a:solidFill>
                <a:latin typeface="Aptos"/>
              </a:rPr>
              <a:t>Slide 11</a:t>
            </a:r>
          </a:p>
        </p:txBody>
      </p:sp>
      <p:sp>
        <p:nvSpPr>
          <p:cNvPr id="13" name="TextBox 12"/>
          <p:cNvSpPr txBox="1"/>
          <p:nvPr/>
        </p:nvSpPr>
        <p:spPr>
          <a:xfrm>
            <a:off x="750000" y="2590000"/>
            <a:ext cx="10600000" cy="800000"/>
          </a:xfrm>
          <a:prstGeom prst="rect">
            <a:avLst/>
          </a:prstGeom>
          <a:noFill/>
        </p:spPr>
        <p:txBody>
          <a:bodyPr wrap="square">
            <a:spAutoFit/>
          </a:bodyPr>
          <a:lstStyle/>
          <a:p>
            <a:pPr>
              <a:spcAft>
                <a:spcPts val="1800"/>
              </a:spcAft>
            </a:pPr>
            <a:r>
              <a:rPr sz="1100">
                <a:solidFill>
                  <a:srgbClr val="333333"/>
                </a:solidFill>
                <a:latin typeface="Aptos"/>
              </a:rPr>
              <a:t>For Phase 2, we're planning multi-environment promotion chains, Kubernetes targets, role-based access control, deeper observability with Grafana integration, broader framework support for Rust, Go, and Python, and an immutable audit and compliance log. All of these build on the current foundation without requiring a rearchitecture.</a:t>
            </a:r>
          </a:p>
        </p:txBody>
      </p:sp>
      <p:sp>
        <p:nvSpPr>
          <p:cNvPr id="14" name="TextBox 13"/>
          <p:cNvSpPr txBox="1"/>
          <p:nvPr/>
        </p:nvSpPr>
        <p:spPr>
          <a:xfrm>
            <a:off x="750000" y="3450000"/>
            <a:ext cx="800000" cy="200000"/>
          </a:xfrm>
          <a:prstGeom prst="rect">
            <a:avLst/>
          </a:prstGeom>
          <a:noFill/>
        </p:spPr>
        <p:txBody>
          <a:bodyPr wrap="square">
            <a:spAutoFit/>
          </a:bodyPr>
          <a:lstStyle/>
          <a:p>
            <a:r>
              <a:rPr sz="1100" b="1">
                <a:solidFill>
                  <a:srgbClr val="2E68FF"/>
                </a:solidFill>
                <a:latin typeface="Aptos"/>
              </a:rPr>
              <a:t>Slide 12</a:t>
            </a:r>
          </a:p>
        </p:txBody>
      </p:sp>
      <p:sp>
        <p:nvSpPr>
          <p:cNvPr id="15" name="TextBox 14"/>
          <p:cNvSpPr txBox="1"/>
          <p:nvPr/>
        </p:nvSpPr>
        <p:spPr>
          <a:xfrm>
            <a:off x="750000" y="3690000"/>
            <a:ext cx="10600000" cy="800000"/>
          </a:xfrm>
          <a:prstGeom prst="rect">
            <a:avLst/>
          </a:prstGeom>
          <a:noFill/>
        </p:spPr>
        <p:txBody>
          <a:bodyPr wrap="square">
            <a:spAutoFit/>
          </a:bodyPr>
          <a:lstStyle/>
          <a:p>
            <a:pPr>
              <a:spcAft>
                <a:spcPts val="1800"/>
              </a:spcAft>
            </a:pPr>
            <a:r>
              <a:rPr sz="1100">
                <a:solidFill>
                  <a:srgbClr val="333333"/>
                </a:solidFill>
                <a:latin typeface="Aptos"/>
              </a:rPr>
              <a:t>At this point we'd like to show you AutoOps in action. The demo follows the exact flow we described: push to main, watch the build, and inspect the deploy. [SWITCH TO LIVE DEMO]</a:t>
            </a:r>
          </a:p>
        </p:txBody>
      </p:sp>
      <p:sp>
        <p:nvSpPr>
          <p:cNvPr id="16" name="TextBox 15"/>
          <p:cNvSpPr txBox="1"/>
          <p:nvPr/>
        </p:nvSpPr>
        <p:spPr>
          <a:xfrm>
            <a:off x="750000" y="4550000"/>
            <a:ext cx="800000" cy="200000"/>
          </a:xfrm>
          <a:prstGeom prst="rect">
            <a:avLst/>
          </a:prstGeom>
          <a:noFill/>
        </p:spPr>
        <p:txBody>
          <a:bodyPr wrap="square">
            <a:spAutoFit/>
          </a:bodyPr>
          <a:lstStyle/>
          <a:p>
            <a:r>
              <a:rPr sz="1100" b="1">
                <a:solidFill>
                  <a:srgbClr val="2E68FF"/>
                </a:solidFill>
                <a:latin typeface="Aptos"/>
              </a:rPr>
              <a:t>Slide 13</a:t>
            </a:r>
          </a:p>
        </p:txBody>
      </p:sp>
      <p:sp>
        <p:nvSpPr>
          <p:cNvPr id="17" name="TextBox 16"/>
          <p:cNvSpPr txBox="1"/>
          <p:nvPr/>
        </p:nvSpPr>
        <p:spPr>
          <a:xfrm>
            <a:off x="750000" y="4790000"/>
            <a:ext cx="10600000" cy="800000"/>
          </a:xfrm>
          <a:prstGeom prst="rect">
            <a:avLst/>
          </a:prstGeom>
          <a:noFill/>
        </p:spPr>
        <p:txBody>
          <a:bodyPr wrap="square">
            <a:spAutoFit/>
          </a:bodyPr>
          <a:lstStyle/>
          <a:p>
            <a:pPr>
              <a:spcAft>
                <a:spcPts val="1800"/>
              </a:spcAft>
            </a:pPr>
            <a:r>
              <a:rPr sz="1100">
                <a:solidFill>
                  <a:srgbClr val="333333"/>
                </a:solidFill>
                <a:latin typeface="Aptos"/>
              </a:rPr>
              <a:t>To wrap up — AutoOps covers the full CI/CD lifecycle. It's an operator-first dashboard with triage, approval gates, and recovery actions. The clean monorepo architecture is ready to extend. Thank you for your time — we'd be happy to answer any questions.</a:t>
            </a:r>
          </a:p>
        </p:txBody>
      </p:sp>
      <p:sp>
        <p:nvSpPr>
          <p:cNvPr id="18" name="TextBox 17"/>
          <p:cNvSpPr txBox="1"/>
          <p:nvPr/>
        </p:nvSpPr>
        <p:spPr>
          <a:xfrm>
            <a:off x="750000" y="5750000"/>
            <a:ext cx="10600000" cy="300000"/>
          </a:xfrm>
          <a:prstGeom prst="rect">
            <a:avLst/>
          </a:prstGeom>
          <a:noFill/>
        </p:spPr>
        <p:txBody>
          <a:bodyPr wrap="square">
            <a:spAutoFit/>
          </a:bodyPr>
          <a:lstStyle/>
          <a:p>
            <a:r>
              <a:rPr sz="1100" b="1">
                <a:solidFill>
                  <a:srgbClr val="8B5C2A"/>
                </a:solidFill>
                <a:latin typeface="Aptos"/>
              </a:rPr>
              <a:t>Closing: "Thank you. We'd be happy to answer 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