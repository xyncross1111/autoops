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6" r:id="rId17"/>
    <p:sldId id="267" r:id="rId18"/>
    <p:sldId id="268" r:id="rId19"/>
    <p:sldId id="265" r:id="rId11"/>
  </p:sldIdLst>
  <p:notesMasterIdLst>
    <p:notesMasterId r:id="rId12"/>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3.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SPEAKER: Chetali Aggrawal</a:t>
            </a:r>
          </a:p>
          <a:p/>
          <a:p>
            <a:r>
              <a:t>Good morning/afternoon. We're presenting AutoOps — a self-hosted CI/CD platform MVP.</a:t>
            </a:r>
          </a:p>
          <a:p/>
          <a:p>
            <a:r>
              <a:t>The goal of this project is to give teams a single control plane for GitHub-triggered pipelines, deployment operations, approvals, and rollback handling.</a:t>
            </a:r>
          </a:p>
          <a:p/>
          <a:p>
            <a:r>
              <a:t>As you can see on the right, the dashboard is already functional. It tracks active runs, deployment health, approval queues, and execution history — all from one screen.</a:t>
            </a:r>
          </a:p>
          <a:p/>
          <a:p>
            <a:r>
              <a:t>Our team built this with Express, React 19, a background worker, Postgres, and Docker-based execution — the tech tags you see at the bottom.</a:t>
            </a:r>
          </a:p>
          <a:p/>
          <a:p>
            <a:r>
              <a:t>Let's start with what problem we're solving.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SPEAKER: Chetali Aggrawal</a:t>
            </a:r>
          </a:p>
          <a:p/>
          <a:p>
            <a:r>
              <a:t>At a high level, AutoOps solves a common problem: CI/CD workflows are often spread across scripts, servers, and dashboards. Teams lose visibility into what's running, what failed, and how to recover.</a:t>
            </a:r>
          </a:p>
          <a:p/>
          <a:p>
            <a:r>
              <a:t>AutoOps brings those pieces together into one system. It turns a GitHub push into a controlled, self-hosted workflow. It centralizes queueing, execution, deployment state, and recovery — so operators don't rely on fragmented scripts.</a:t>
            </a:r>
          </a:p>
          <a:p/>
          <a:p>
            <a:r>
              <a:t>The core promise is simple: push code, track every stage, deploy safely, recover quickly.</a:t>
            </a:r>
          </a:p>
          <a:p/>
          <a:p>
            <a:r>
              <a:t>Our primary users are platform teams, operators, and self-hosted product teams that need more control over their delivery pipeline.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SPEAKER: Chetali Aggrawal</a:t>
            </a:r>
          </a:p>
          <a:p/>
          <a:p>
            <a:r>
              <a:t>In Phase 1, the platform already covers the full delivery loop — this is not just a single slice of CI/CD.</a:t>
            </a:r>
          </a:p>
          <a:p/>
          <a:p>
            <a:r>
              <a:t>We have six capabilities:</a:t>
            </a:r>
          </a:p>
          <a:p>
            <a:r>
              <a:t>- GitHub Intake handles app installations, webhook validation, and repo syncing.</a:t>
            </a:r>
          </a:p>
          <a:p>
            <a:r>
              <a:t>- Pipeline Config lets each repository define its own build and deploy settings.</a:t>
            </a:r>
          </a:p>
          <a:p>
            <a:r>
              <a:t>- The Execution Engine queues runs, builds Docker images, runs tests, and deploys.</a:t>
            </a:r>
          </a:p>
          <a:p>
            <a:r>
              <a:t>- The Operations UI gives operators a full dashboard with runs, deployments, approvals, and rollback actions.</a:t>
            </a:r>
          </a:p>
          <a:p>
            <a:r>
              <a:t>- Recovery Controls handle deployment revisions, automatic rollback, and promotion approvals.</a:t>
            </a:r>
          </a:p>
          <a:p>
            <a:r>
              <a:t>- And Managed Mode supports importing standalone web applications directly.</a:t>
            </a:r>
          </a:p>
          <a:p/>
          <a:p>
            <a:r>
              <a:t>I'll now hand it over to Bhumika, who will explain the architecture and how the execution flow works.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SPEAKER: Bhumika Burhade</a:t>
            </a:r>
          </a:p>
          <a:p/>
          <a:p>
            <a:r>
              <a:t>The architecture is divided into clear layers.</a:t>
            </a:r>
          </a:p>
          <a:p/>
          <a:p>
            <a:r>
              <a:t>On the left, GitHub sends installations and push webhooks into our system. The apps/api package acts as the control plane — it handles authentication, project and deployment APIs, and repository analysis.</a:t>
            </a:r>
          </a:p>
          <a:p/>
          <a:p>
            <a:r>
              <a:t>The packages/core module contains shared types, pipeline parsing, security helpers, and rollback logic. The apps/worker claims queued runs, clones repos, builds, tests, deploys, and handles rollback and promotion.</a:t>
            </a:r>
          </a:p>
          <a:p/>
          <a:p>
            <a:r>
              <a:t>On the bottom row: apps/web is the React 19 operator dashboard, packages/db manages the Postgres schema with runs, targets, revisions, secrets, and audit logs, and deployment targets support SSH Compose hosts and managed VPS with healthcheck endpoints.</a:t>
            </a:r>
          </a:p>
          <a:p/>
          <a:p>
            <a:r>
              <a:t>This clean separation makes the system easier to maintain and extend.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SPEAKER: Bhumika Burhade</a:t>
            </a:r>
          </a:p>
          <a:p/>
          <a:p>
            <a:r>
              <a:t>This slide shows the full execution flow — every push follows this exact sequence.</a:t>
            </a:r>
          </a:p>
          <a:p/>
          <a:p>
            <a:r>
              <a:t>It starts with a Push Event: GitHub emits a signed webhook. The API validates headers and deduplicates the delivery. Then matching projects create queued runs with the branch and commit SHA.</a:t>
            </a:r>
          </a:p>
          <a:p/>
          <a:p>
            <a:r>
              <a:t>The worker picks up the run, clones the repository, and resolves the pipeline config. It then runs the Docker image build and test commands in sequence. Finally, it pushes the image, deploys to the target, runs a healthcheck, and records the deployment revision.</a:t>
            </a:r>
          </a:p>
          <a:p/>
          <a:p>
            <a:r>
              <a:t>Everything is persisted — runs, stages, logs, delivery outcomes, targets, revisions, and approvals all land in Postgres for full traceability.</a:t>
            </a:r>
          </a:p>
          <a:p/>
          <a:p>
            <a:r>
              <a:t>The result is that the dashboard can immediately show what failed, where it failed, and what the next safe recovery action should be.</a:t>
            </a:r>
          </a:p>
          <a:p/>
          <a:p>
            <a:r>
              <a:t>Next, Anas will show how the product looks from the operator's point of view.</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SPEAKER: Anas Khan</a:t>
            </a:r>
          </a:p>
          <a:p/>
          <a:p>
            <a:r>
              <a:t>This is the overview screen — the first thing an operator sees when they log in.</a:t>
            </a:r>
          </a:p>
          <a:p/>
          <a:p>
            <a:r>
              <a:t>It's designed for triage. The top row shows the most important metrics: active runs, unhealthy targets, 7-day success rate, and pending approvals. Below that, the "Needs Attention" section highlights the latest failed run with a one-click rerun button.</a:t>
            </a:r>
          </a:p>
          <a:p/>
          <a:p>
            <a:r>
              <a:t>On the right, the release approval queue shows pending promotions, and the live execution panel shows currently running deployments. At the bottom, the execution history table gives a quick view of recent runs across all projects.</a:t>
            </a:r>
          </a:p>
          <a:p/>
          <a:p>
            <a:r>
              <a:t>Instead of digging through multiple tools, the operator gets an immediate picture of delivery health from this single page.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SPEAKER: Anas Khan</a:t>
            </a:r>
          </a:p>
          <a:p/>
          <a:p>
            <a:r>
              <a:t>This repositories view supports onboarding — it's where AutoOps links source repositories to deployment paths.</a:t>
            </a:r>
          </a:p>
          <a:p/>
          <a:p>
            <a:r>
              <a:t>The UI brings together OAuth connection, GitHub App installation sync, repository inventory, and import actions in one workflow. Teams can connect GitHub, inspect repositories, and decide whether a project should follow a managed deployment path or a custom pipeline path.</a:t>
            </a:r>
          </a:p>
          <a:p/>
          <a:p>
            <a:r>
              <a:t>For Version 1, managed mode targets standalone Next.js, React, CRA, and static HTML repositories. Monorepos stay on the custom-pipeline route. This makes AutoOps flexible enough for different project types while keeping the workflow centralized.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SPEAKER: Anas Khan</a:t>
            </a:r>
          </a:p>
          <a:p/>
          <a:p>
            <a:r>
              <a:t>This deployment view is one of the strongest parts of the platform — and it's where AutoOps shows operational maturity.</a:t>
            </a:r>
          </a:p>
          <a:p/>
          <a:p>
            <a:r>
              <a:t>Each target carries its environment, protection status, promotion order, healthcheck URL, and deployment metadata. When a release succeeds, it becomes a deployment revision with image references and digests — which makes rollback explicit rather than guesswork.</a:t>
            </a:r>
          </a:p>
          <a:p/>
          <a:p>
            <a:r>
              <a:t>The key point here is: if deployment health fails after a known-good revision exists, the worker can attempt automatic rollback. Deployment history is tied directly to recovery options.</a:t>
            </a:r>
          </a:p>
          <a:p/>
          <a:p>
            <a:r>
              <a:t>You can also see the revision ledger and inspector panels, which let operators drill into exactly what was deployed, when, and what went wrong.</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SPEAKER: Anas Khan</a:t>
            </a:r>
          </a:p>
          <a:p/>
          <a:p>
            <a:r>
              <a:t>This slide focuses on governance and traceability.</a:t>
            </a:r>
          </a:p>
          <a:p/>
          <a:p>
            <a:r>
              <a:t>AutoOps supports protected release approvals — so important promotions can require an explicit decision before deployment work is queued. For example, promoting from staging to production requires someone to approve it first.</a:t>
            </a:r>
          </a:p>
          <a:p/>
          <a:p>
            <a:r>
              <a:t>Each approval record stores the requester, revision, source target, destination target, comments, and decision timestamps. This creates a proper audit trail.</a:t>
            </a:r>
          </a:p>
          <a:p/>
          <a:p>
            <a:r>
              <a:t>The bottom section shows recent decisions, so there's always a traceable history of who approved what and when. Operators get a durable change trail instead of relying on memory or side-channel approvals.</a:t>
            </a:r>
          </a:p>
          <a:p/>
          <a:p>
            <a:r>
              <a:t>I'll now pass it to Anshuman for code quality, our roadmap, and the closing.</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SPEAKER: Anshuman Tiwari</a:t>
            </a:r>
          </a:p>
          <a:p/>
          <a:p>
            <a:r>
              <a:t>To wrap up — AutoOps already covers the full CI/CD lifecycle: webhook intake, build, test, deploy, healthcheck, and rollback.</a:t>
            </a:r>
          </a:p>
          <a:p/>
          <a:p>
            <a:r>
              <a:t>It's an operator-first dashboard with triage, approval gates, and recovery actions — not just a deployment log.</a:t>
            </a:r>
          </a:p>
          <a:p/>
          <a:p>
            <a:r>
              <a:t>And the clean monorepo architecture means it's ready to extend with new deployment targets, frameworks, and observability tools.</a:t>
            </a:r>
          </a:p>
          <a:p/>
          <a:p>
            <a:r>
              <a:t>Thank you for your time. We'd be happy to answer any questions.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Anshuman Tiwari</a:t>
            </a:r>
          </a:p>
          <a:p/>
          <a:p>
            <a:r>
              <a:t>Before we look ahead, let's talk about engineering discipline — because an MVP is only credible if it's well-tested.</a:t>
            </a:r>
          </a:p>
          <a:p/>
          <a:p>
            <a:r>
              <a:t>We have 17 test suites passing across all five packages, with 68 individual test cases. These cover webhook validation, pipeline parsing, deployment rollback, run streaming, and UI rendering.</a:t>
            </a:r>
          </a:p>
          <a:p/>
          <a:p>
            <a:r>
              <a:t>There are 26 test files living alongside 52 source modules — about 14,400 lines of TypeScript. Every package has its own tests: apps/api, apps/web, apps/worker, packages/core, and packages/db.</a:t>
            </a:r>
          </a:p>
          <a:p/>
          <a:p>
            <a:r>
              <a:t>The monorepo uses pnpm workspaces, so shared packages ensure type safety between the API, worker, and dashboard without code duplication. We use Vitest and Testing Library for fast unit and integration tests, including DOM testing for the React dashboard.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Anshuman Tiwari</a:t>
            </a:r>
          </a:p>
          <a:p/>
          <a:p>
            <a:r>
              <a:t>Looking ahead, here's what Phase 2 builds on top of the current foundation — without requiring a rearchitecture.</a:t>
            </a:r>
          </a:p>
          <a:p/>
          <a:p>
            <a:r>
              <a:t>Multi-environment promotion will formalize staging-to-production chains with environment-specific configs and approval gates. Kubernetes targets will let us deploy to k8s clusters alongside existing Docker Compose and VPS targets.</a:t>
            </a:r>
          </a:p>
          <a:p/>
          <a:p>
            <a:r>
              <a:t>Role-based access control will add team-scoped permissions for projects, approvals, and deployment targets. Deeper observability means build time trends, deploy frequency tracking, and integration with tools like Grafana or Prometheus.</a:t>
            </a:r>
          </a:p>
          <a:p/>
          <a:p>
            <a:r>
              <a:t>We're also planning broader framework support — monorepo detection, Rust, Go, and Python pipelines. And finally, an audit and compliance log for an immutable record of every deployment decision.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Anshuman Tiwari</a:t>
            </a:r>
          </a:p>
          <a:p/>
          <a:p>
            <a:r>
              <a:t>At this point we'd like to show you AutoOps in action.</a:t>
            </a:r>
          </a:p>
          <a:p/>
          <a:p>
            <a:r>
              <a:t>The demo follows the exact flow we described earlier: we'll push code to main, watch the webhook trigger a pipeline run, see the build and test stages execute, watch the deployment go out, observe the healthcheck, and — if we have time — trigger a rollback to show recovery in action.</a:t>
            </a:r>
          </a:p>
          <a:p/>
          <a:p>
            <a:r>
              <a:t>[SWITCH TO LIVE DEMO]</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3.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2133"/>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02133"/>
          </a:solidFill>
          <a:ln w="12700">
            <a:solidFill>
              <a:srgbClr val="102133"/>
            </a:solidFill>
            <a:prstDash val="solid"/>
          </a:ln>
        </p:spPr>
      </p:sp>
      <p:sp>
        <p:nvSpPr>
          <p:cNvPr id="3" name="Shape 1"/>
          <p:cNvSpPr/>
          <p:nvPr/>
        </p:nvSpPr>
        <p:spPr>
          <a:xfrm rot="360000">
            <a:off x="8092440" y="-137160"/>
            <a:ext cx="4572000" cy="2057400"/>
          </a:xfrm>
          <a:prstGeom prst="rect">
            <a:avLst/>
          </a:prstGeom>
          <a:solidFill>
            <a:srgbClr val="2E68FF">
              <a:alpha val="88000"/>
            </a:srgbClr>
          </a:solidFill>
          <a:ln w="12700">
            <a:solidFill>
              <a:srgbClr val="2E68FF">
                <a:alpha val="0"/>
              </a:srgbClr>
            </a:solidFill>
            <a:prstDash val="solid"/>
          </a:ln>
        </p:spPr>
      </p:sp>
      <p:sp>
        <p:nvSpPr>
          <p:cNvPr id="4" name="Shape 2"/>
          <p:cNvSpPr/>
          <p:nvPr/>
        </p:nvSpPr>
        <p:spPr>
          <a:xfrm rot="-360000">
            <a:off x="8869680" y="5349240"/>
            <a:ext cx="3383280" cy="1325880"/>
          </a:xfrm>
          <a:prstGeom prst="rect">
            <a:avLst/>
          </a:prstGeom>
          <a:solidFill>
            <a:srgbClr val="F18E2C">
              <a:alpha val="94000"/>
            </a:srgbClr>
          </a:solidFill>
          <a:ln w="12700">
            <a:solidFill>
              <a:srgbClr val="F18E2C">
                <a:alpha val="0"/>
              </a:srgbClr>
            </a:solidFill>
            <a:prstDash val="solid"/>
          </a:ln>
        </p:spPr>
      </p:sp>
      <p:sp>
        <p:nvSpPr>
          <p:cNvPr id="5" name="Text 3"/>
          <p:cNvSpPr/>
          <p:nvPr/>
        </p:nvSpPr>
        <p:spPr>
          <a:xfrm>
            <a:off x="713232" y="658368"/>
            <a:ext cx="3200400" cy="274320"/>
          </a:xfrm>
          <a:prstGeom prst="rect">
            <a:avLst/>
          </a:prstGeom>
          <a:noFill/>
          <a:ln/>
        </p:spPr>
        <p:txBody>
          <a:bodyPr wrap="square" lIns="0" tIns="0" rIns="0" bIns="0" rtlCol="0" anchor="ctr"/>
          <a:lstStyle/>
          <a:p>
            <a:pPr indent="0" marL="0">
              <a:buNone/>
            </a:pPr>
            <a:r>
              <a:rPr lang="en-US" sz="1700" b="1" dirty="0">
                <a:solidFill>
                  <a:srgbClr val="A9CBFF"/>
                </a:solidFill>
                <a:latin typeface="Aptos" pitchFamily="34" charset="0"/>
                <a:ea typeface="Aptos" pitchFamily="34" charset="-122"/>
                <a:cs typeface="Aptos" pitchFamily="34" charset="-120"/>
              </a:rPr>
              <a:t>AutoOps</a:t>
            </a:r>
            <a:endParaRPr lang="en-US" sz="1700" dirty="0"/>
          </a:p>
        </p:txBody>
      </p:sp>
      <p:sp>
        <p:nvSpPr>
          <p:cNvPr id="6" name="Text 4"/>
          <p:cNvSpPr/>
          <p:nvPr/>
        </p:nvSpPr>
        <p:spPr>
          <a:xfrm>
            <a:off x="713232" y="1097280"/>
            <a:ext cx="5394960" cy="1325880"/>
          </a:xfrm>
          <a:prstGeom prst="rect">
            <a:avLst/>
          </a:prstGeom>
          <a:noFill/>
          <a:ln/>
        </p:spPr>
        <p:txBody>
          <a:bodyPr wrap="square" lIns="0" tIns="0" rIns="0" bIns="0" rtlCol="0" anchor="ctr">
            <a:normAutofit/>
          </a:bodyPr>
          <a:lstStyle/>
          <a:p>
            <a:pPr indent="0" marL="0">
              <a:buNone/>
            </a:pPr>
            <a:r>
              <a:rPr lang="en-US" sz="2800" b="1" dirty="0">
                <a:solidFill>
                  <a:srgbClr val="FFFFFF"/>
                </a:solidFill>
                <a:latin typeface="Aptos Display" pitchFamily="34" charset="0"/>
                <a:ea typeface="Aptos Display" pitchFamily="34" charset="-122"/>
                <a:cs typeface="Aptos Display" pitchFamily="34" charset="-120"/>
              </a:rPr>
              <a:t>Self-Hosted CI/CD</a:t>
            </a:r>
            <a:endParaRPr lang="en-US" sz="2800" dirty="0"/>
          </a:p>
          <a:p>
            <a:pPr indent="0" marL="0">
              <a:buNone/>
            </a:pPr>
            <a:r>
              <a:rPr lang="en-US" sz="2800" b="1" dirty="0">
                <a:solidFill>
                  <a:srgbClr val="FFFFFF"/>
                </a:solidFill>
                <a:latin typeface="Aptos Display" pitchFamily="34" charset="0"/>
                <a:ea typeface="Aptos Display" pitchFamily="34" charset="-122"/>
                <a:cs typeface="Aptos Display" pitchFamily="34" charset="-120"/>
              </a:rPr>
              <a:t>Platform MVP</a:t>
            </a:r>
            <a:endParaRPr lang="en-US" sz="2800" dirty="0"/>
          </a:p>
        </p:txBody>
      </p:sp>
      <p:sp>
        <p:nvSpPr>
          <p:cNvPr id="7" name="Text 5"/>
          <p:cNvSpPr/>
          <p:nvPr/>
        </p:nvSpPr>
        <p:spPr>
          <a:xfrm>
            <a:off x="731520" y="2743200"/>
            <a:ext cx="5440680" cy="786384"/>
          </a:xfrm>
          <a:prstGeom prst="rect">
            <a:avLst/>
          </a:prstGeom>
          <a:noFill/>
          <a:ln/>
        </p:spPr>
        <p:txBody>
          <a:bodyPr wrap="square" lIns="0" tIns="0" rIns="0" bIns="0" rtlCol="0" anchor="ctr"/>
          <a:lstStyle/>
          <a:p>
            <a:pPr indent="0" marL="0">
              <a:buNone/>
            </a:pPr>
            <a:r>
              <a:rPr lang="en-US" sz="1600" dirty="0">
                <a:solidFill>
                  <a:srgbClr val="DCE6F2"/>
                </a:solidFill>
                <a:latin typeface="Aptos" pitchFamily="34" charset="0"/>
                <a:ea typeface="Aptos" pitchFamily="34" charset="-122"/>
                <a:cs typeface="Aptos" pitchFamily="34" charset="-120"/>
              </a:rPr>
              <a:t>A control plane for GitHub-triggered pipelines, Docker-based execution, deployment health, approvals, and rollback-safe operations.</a:t>
            </a:r>
            <a:endParaRPr lang="en-US" sz="1600" dirty="0"/>
          </a:p>
        </p:txBody>
      </p:sp>
      <p:sp>
        <p:nvSpPr>
          <p:cNvPr id="8" name="Shape 6"/>
          <p:cNvSpPr/>
          <p:nvPr/>
        </p:nvSpPr>
        <p:spPr>
          <a:xfrm>
            <a:off x="749808" y="3877056"/>
            <a:ext cx="1417320" cy="310896"/>
          </a:xfrm>
          <a:prstGeom prst="roundRect">
            <a:avLst>
              <a:gd name="adj" fmla="val 26471"/>
            </a:avLst>
          </a:prstGeom>
          <a:solidFill>
            <a:srgbClr val="2E68FF"/>
          </a:solidFill>
          <a:ln w="12700">
            <a:solidFill>
              <a:srgbClr val="2E68FF"/>
            </a:solidFill>
            <a:prstDash val="solid"/>
          </a:ln>
        </p:spPr>
      </p:sp>
      <p:sp>
        <p:nvSpPr>
          <p:cNvPr id="9" name="Text 7"/>
          <p:cNvSpPr/>
          <p:nvPr/>
        </p:nvSpPr>
        <p:spPr>
          <a:xfrm>
            <a:off x="813816" y="3922776"/>
            <a:ext cx="1289304" cy="128016"/>
          </a:xfrm>
          <a:prstGeom prst="rect">
            <a:avLst/>
          </a:prstGeom>
          <a:noFill/>
          <a:ln/>
        </p:spPr>
        <p:txBody>
          <a:bodyPr wrap="square" lIns="0" tIns="0" rIns="0" bIns="0" rtlCol="0" anchor="ctr"/>
          <a:lstStyle/>
          <a:p>
            <a:pPr algn="ctr" indent="0" marL="0">
              <a:buNone/>
            </a:pPr>
            <a:r>
              <a:rPr lang="en-US" sz="960" b="1" dirty="0">
                <a:solidFill>
                  <a:srgbClr val="FFFFFF"/>
                </a:solidFill>
                <a:latin typeface="Aptos" pitchFamily="34" charset="0"/>
                <a:ea typeface="Aptos" pitchFamily="34" charset="-122"/>
                <a:cs typeface="Aptos" pitchFamily="34" charset="-120"/>
              </a:rPr>
              <a:t>Express API</a:t>
            </a:r>
            <a:endParaRPr lang="en-US" sz="960" dirty="0"/>
          </a:p>
        </p:txBody>
      </p:sp>
      <p:sp>
        <p:nvSpPr>
          <p:cNvPr id="10" name="Shape 8"/>
          <p:cNvSpPr/>
          <p:nvPr/>
        </p:nvSpPr>
        <p:spPr>
          <a:xfrm>
            <a:off x="2286000" y="3877056"/>
            <a:ext cx="1243584" cy="310896"/>
          </a:xfrm>
          <a:prstGeom prst="roundRect">
            <a:avLst>
              <a:gd name="adj" fmla="val 26471"/>
            </a:avLst>
          </a:prstGeom>
          <a:solidFill>
            <a:srgbClr val="1A7B73"/>
          </a:solidFill>
          <a:ln w="12700">
            <a:solidFill>
              <a:srgbClr val="1A7B73"/>
            </a:solidFill>
            <a:prstDash val="solid"/>
          </a:ln>
        </p:spPr>
      </p:sp>
      <p:sp>
        <p:nvSpPr>
          <p:cNvPr id="11" name="Text 9"/>
          <p:cNvSpPr/>
          <p:nvPr/>
        </p:nvSpPr>
        <p:spPr>
          <a:xfrm>
            <a:off x="2350008" y="3922776"/>
            <a:ext cx="1115568" cy="128016"/>
          </a:xfrm>
          <a:prstGeom prst="rect">
            <a:avLst/>
          </a:prstGeom>
          <a:noFill/>
          <a:ln/>
        </p:spPr>
        <p:txBody>
          <a:bodyPr wrap="square" lIns="0" tIns="0" rIns="0" bIns="0" rtlCol="0" anchor="ctr"/>
          <a:lstStyle/>
          <a:p>
            <a:pPr algn="ctr" indent="0" marL="0">
              <a:buNone/>
            </a:pPr>
            <a:r>
              <a:rPr lang="en-US" sz="960" b="1" dirty="0">
                <a:solidFill>
                  <a:srgbClr val="FFFFFF"/>
                </a:solidFill>
                <a:latin typeface="Aptos" pitchFamily="34" charset="0"/>
                <a:ea typeface="Aptos" pitchFamily="34" charset="-122"/>
                <a:cs typeface="Aptos" pitchFamily="34" charset="-120"/>
              </a:rPr>
              <a:t>Worker</a:t>
            </a:r>
            <a:endParaRPr lang="en-US" sz="960" dirty="0"/>
          </a:p>
        </p:txBody>
      </p:sp>
      <p:sp>
        <p:nvSpPr>
          <p:cNvPr id="12" name="Shape 10"/>
          <p:cNvSpPr/>
          <p:nvPr/>
        </p:nvSpPr>
        <p:spPr>
          <a:xfrm>
            <a:off x="3639312" y="3877056"/>
            <a:ext cx="1700784" cy="310896"/>
          </a:xfrm>
          <a:prstGeom prst="roundRect">
            <a:avLst>
              <a:gd name="adj" fmla="val 26471"/>
            </a:avLst>
          </a:prstGeom>
          <a:solidFill>
            <a:srgbClr val="F18E2C"/>
          </a:solidFill>
          <a:ln w="12700">
            <a:solidFill>
              <a:srgbClr val="F18E2C"/>
            </a:solidFill>
            <a:prstDash val="solid"/>
          </a:ln>
        </p:spPr>
      </p:sp>
      <p:sp>
        <p:nvSpPr>
          <p:cNvPr id="13" name="Text 11"/>
          <p:cNvSpPr/>
          <p:nvPr/>
        </p:nvSpPr>
        <p:spPr>
          <a:xfrm>
            <a:off x="3703320" y="3922776"/>
            <a:ext cx="1572768" cy="128016"/>
          </a:xfrm>
          <a:prstGeom prst="rect">
            <a:avLst/>
          </a:prstGeom>
          <a:noFill/>
          <a:ln/>
        </p:spPr>
        <p:txBody>
          <a:bodyPr wrap="square" lIns="0" tIns="0" rIns="0" bIns="0" rtlCol="0" anchor="ctr"/>
          <a:lstStyle/>
          <a:p>
            <a:pPr algn="ctr" indent="0" marL="0">
              <a:buNone/>
            </a:pPr>
            <a:r>
              <a:rPr lang="en-US" sz="960" b="1" dirty="0">
                <a:solidFill>
                  <a:srgbClr val="FFFFFF"/>
                </a:solidFill>
                <a:latin typeface="Aptos" pitchFamily="34" charset="0"/>
                <a:ea typeface="Aptos" pitchFamily="34" charset="-122"/>
                <a:cs typeface="Aptos" pitchFamily="34" charset="-120"/>
              </a:rPr>
              <a:t>React Dashboard</a:t>
            </a:r>
            <a:endParaRPr lang="en-US" sz="960" dirty="0"/>
          </a:p>
        </p:txBody>
      </p:sp>
      <p:sp>
        <p:nvSpPr>
          <p:cNvPr id="14" name="Shape 12"/>
          <p:cNvSpPr/>
          <p:nvPr/>
        </p:nvSpPr>
        <p:spPr>
          <a:xfrm>
            <a:off x="749808" y="4279392"/>
            <a:ext cx="1335024" cy="310896"/>
          </a:xfrm>
          <a:prstGeom prst="roundRect">
            <a:avLst>
              <a:gd name="adj" fmla="val 26471"/>
            </a:avLst>
          </a:prstGeom>
          <a:solidFill>
            <a:srgbClr val="17314F"/>
          </a:solidFill>
          <a:ln w="12700">
            <a:solidFill>
              <a:srgbClr val="17314F"/>
            </a:solidFill>
            <a:prstDash val="solid"/>
          </a:ln>
        </p:spPr>
      </p:sp>
      <p:sp>
        <p:nvSpPr>
          <p:cNvPr id="15" name="Text 13"/>
          <p:cNvSpPr/>
          <p:nvPr/>
        </p:nvSpPr>
        <p:spPr>
          <a:xfrm>
            <a:off x="813816" y="4325112"/>
            <a:ext cx="1207008" cy="128016"/>
          </a:xfrm>
          <a:prstGeom prst="rect">
            <a:avLst/>
          </a:prstGeom>
          <a:noFill/>
          <a:ln/>
        </p:spPr>
        <p:txBody>
          <a:bodyPr wrap="square" lIns="0" tIns="0" rIns="0" bIns="0" rtlCol="0" anchor="ctr"/>
          <a:lstStyle/>
          <a:p>
            <a:pPr algn="ctr" indent="0" marL="0">
              <a:buNone/>
            </a:pPr>
            <a:r>
              <a:rPr lang="en-US" sz="960" b="1" dirty="0">
                <a:solidFill>
                  <a:srgbClr val="FFFFFF"/>
                </a:solidFill>
                <a:latin typeface="Aptos" pitchFamily="34" charset="0"/>
                <a:ea typeface="Aptos" pitchFamily="34" charset="-122"/>
                <a:cs typeface="Aptos" pitchFamily="34" charset="-120"/>
              </a:rPr>
              <a:t>Postgres</a:t>
            </a:r>
            <a:endParaRPr lang="en-US" sz="960" dirty="0"/>
          </a:p>
        </p:txBody>
      </p:sp>
      <p:sp>
        <p:nvSpPr>
          <p:cNvPr id="16" name="Shape 14"/>
          <p:cNvSpPr/>
          <p:nvPr/>
        </p:nvSpPr>
        <p:spPr>
          <a:xfrm>
            <a:off x="2194560" y="4279392"/>
            <a:ext cx="1042416" cy="310896"/>
          </a:xfrm>
          <a:prstGeom prst="roundRect">
            <a:avLst>
              <a:gd name="adj" fmla="val 26471"/>
            </a:avLst>
          </a:prstGeom>
          <a:solidFill>
            <a:srgbClr val="2E9058"/>
          </a:solidFill>
          <a:ln w="12700">
            <a:solidFill>
              <a:srgbClr val="2E9058"/>
            </a:solidFill>
            <a:prstDash val="solid"/>
          </a:ln>
        </p:spPr>
      </p:sp>
      <p:sp>
        <p:nvSpPr>
          <p:cNvPr id="17" name="Text 15"/>
          <p:cNvSpPr/>
          <p:nvPr/>
        </p:nvSpPr>
        <p:spPr>
          <a:xfrm>
            <a:off x="2258568" y="4325112"/>
            <a:ext cx="914400" cy="128016"/>
          </a:xfrm>
          <a:prstGeom prst="rect">
            <a:avLst/>
          </a:prstGeom>
          <a:noFill/>
          <a:ln/>
        </p:spPr>
        <p:txBody>
          <a:bodyPr wrap="square" lIns="0" tIns="0" rIns="0" bIns="0" rtlCol="0" anchor="ctr"/>
          <a:lstStyle/>
          <a:p>
            <a:pPr algn="ctr" indent="0" marL="0">
              <a:buNone/>
            </a:pPr>
            <a:r>
              <a:rPr lang="en-US" sz="960" b="1" dirty="0">
                <a:solidFill>
                  <a:srgbClr val="FFFFFF"/>
                </a:solidFill>
                <a:latin typeface="Aptos" pitchFamily="34" charset="0"/>
                <a:ea typeface="Aptos" pitchFamily="34" charset="-122"/>
                <a:cs typeface="Aptos" pitchFamily="34" charset="-120"/>
              </a:rPr>
              <a:t>Docker</a:t>
            </a:r>
            <a:endParaRPr lang="en-US" sz="960" dirty="0"/>
          </a:p>
        </p:txBody>
      </p:sp>
      <p:sp>
        <p:nvSpPr>
          <p:cNvPr id="18" name="Shape 16"/>
          <p:cNvSpPr/>
          <p:nvPr/>
        </p:nvSpPr>
        <p:spPr>
          <a:xfrm>
            <a:off x="3337560" y="4279392"/>
            <a:ext cx="1993392" cy="310896"/>
          </a:xfrm>
          <a:prstGeom prst="roundRect">
            <a:avLst>
              <a:gd name="adj" fmla="val 26471"/>
            </a:avLst>
          </a:prstGeom>
          <a:solidFill>
            <a:srgbClr val="7B5634"/>
          </a:solidFill>
          <a:ln w="12700">
            <a:solidFill>
              <a:srgbClr val="7B5634"/>
            </a:solidFill>
            <a:prstDash val="solid"/>
          </a:ln>
        </p:spPr>
      </p:sp>
      <p:sp>
        <p:nvSpPr>
          <p:cNvPr id="19" name="Text 17"/>
          <p:cNvSpPr/>
          <p:nvPr/>
        </p:nvSpPr>
        <p:spPr>
          <a:xfrm>
            <a:off x="3401568" y="4325112"/>
            <a:ext cx="1865376" cy="128016"/>
          </a:xfrm>
          <a:prstGeom prst="rect">
            <a:avLst/>
          </a:prstGeom>
          <a:noFill/>
          <a:ln/>
        </p:spPr>
        <p:txBody>
          <a:bodyPr wrap="square" lIns="0" tIns="0" rIns="0" bIns="0" rtlCol="0" anchor="ctr"/>
          <a:lstStyle/>
          <a:p>
            <a:pPr algn="ctr" indent="0" marL="0">
              <a:buNone/>
            </a:pPr>
            <a:r>
              <a:rPr lang="en-US" sz="960" b="1" dirty="0">
                <a:solidFill>
                  <a:srgbClr val="FFFFFF"/>
                </a:solidFill>
                <a:latin typeface="Aptos" pitchFamily="34" charset="0"/>
                <a:ea typeface="Aptos" pitchFamily="34" charset="-122"/>
                <a:cs typeface="Aptos" pitchFamily="34" charset="-120"/>
              </a:rPr>
              <a:t>SSH + Managed Deploys</a:t>
            </a:r>
            <a:endParaRPr lang="en-US" sz="960" dirty="0"/>
          </a:p>
        </p:txBody>
      </p:sp>
      <p:sp>
        <p:nvSpPr>
          <p:cNvPr id="20" name="Shape 18"/>
          <p:cNvSpPr/>
          <p:nvPr/>
        </p:nvSpPr>
        <p:spPr>
          <a:xfrm>
            <a:off x="6858000" y="841248"/>
            <a:ext cx="4572000" cy="3035808"/>
          </a:xfrm>
          <a:prstGeom prst="roundRect">
            <a:avLst>
              <a:gd name="adj" fmla="val 2108"/>
            </a:avLst>
          </a:prstGeom>
          <a:solidFill>
            <a:srgbClr val="FFFFFF"/>
          </a:solidFill>
          <a:ln w="12700">
            <a:solidFill>
              <a:srgbClr val="DCE4EE"/>
            </a:solidFill>
            <a:prstDash val="solid"/>
          </a:ln>
        </p:spPr>
      </p:sp>
      <p:sp>
        <p:nvSpPr>
          <p:cNvPr id="21" name="Shape 19"/>
          <p:cNvSpPr/>
          <p:nvPr/>
        </p:nvSpPr>
        <p:spPr>
          <a:xfrm>
            <a:off x="6986016" y="969264"/>
            <a:ext cx="4315968" cy="2779776"/>
          </a:xfrm>
          <a:prstGeom prst="rect">
            <a:avLst/>
          </a:prstGeom>
          <a:solidFill>
            <a:srgbClr val="F6F8FB"/>
          </a:solidFill>
          <a:ln w="12700">
            <a:solidFill>
              <a:srgbClr val="F6F8FB"/>
            </a:solidFill>
            <a:prstDash val="solid"/>
          </a:ln>
        </p:spPr>
      </p:sp>
      <p:pic>
        <p:nvPicPr>
          <p:cNvPr id="22" name="Image 0" descr="/opt/AutoOps/results-assets/screenshots/overview-page.png">    </p:cNvPr>
          <p:cNvPicPr>
            <a:picLocks noChangeAspect="1"/>
          </p:cNvPicPr>
          <p:nvPr/>
        </p:nvPicPr>
        <p:blipFill>
          <a:blip r:embed="rId1"/>
          <a:stretch>
            <a:fillRect/>
          </a:stretch>
        </p:blipFill>
        <p:spPr>
          <a:xfrm>
            <a:off x="7004304" y="987552"/>
            <a:ext cx="4279392" cy="2743200"/>
          </a:xfrm>
          <a:prstGeom prst="rect">
            <a:avLst/>
          </a:prstGeom>
        </p:spPr>
      </p:pic>
      <p:sp>
        <p:nvSpPr>
          <p:cNvPr id="23" name="Shape 20"/>
          <p:cNvSpPr/>
          <p:nvPr/>
        </p:nvSpPr>
        <p:spPr>
          <a:xfrm>
            <a:off x="7022592" y="676656"/>
            <a:ext cx="1508760" cy="310896"/>
          </a:xfrm>
          <a:prstGeom prst="roundRect">
            <a:avLst>
              <a:gd name="adj" fmla="val 26471"/>
            </a:avLst>
          </a:prstGeom>
          <a:solidFill>
            <a:srgbClr val="43B7C7"/>
          </a:solidFill>
          <a:ln w="12700">
            <a:solidFill>
              <a:srgbClr val="43B7C7"/>
            </a:solidFill>
            <a:prstDash val="solid"/>
          </a:ln>
        </p:spPr>
      </p:sp>
      <p:sp>
        <p:nvSpPr>
          <p:cNvPr id="24" name="Text 21"/>
          <p:cNvSpPr/>
          <p:nvPr/>
        </p:nvSpPr>
        <p:spPr>
          <a:xfrm>
            <a:off x="7086600" y="722376"/>
            <a:ext cx="1380744" cy="128016"/>
          </a:xfrm>
          <a:prstGeom prst="rect">
            <a:avLst/>
          </a:prstGeom>
          <a:noFill/>
          <a:ln/>
        </p:spPr>
        <p:txBody>
          <a:bodyPr wrap="square" lIns="0" tIns="0" rIns="0" bIns="0" rtlCol="0" anchor="ctr"/>
          <a:lstStyle/>
          <a:p>
            <a:pPr algn="ctr" indent="0" marL="0">
              <a:buNone/>
            </a:pPr>
            <a:r>
              <a:rPr lang="en-US" sz="960" b="1" dirty="0">
                <a:solidFill>
                  <a:srgbClr val="FFFFFF"/>
                </a:solidFill>
                <a:latin typeface="Aptos" pitchFamily="34" charset="0"/>
                <a:ea typeface="Aptos" pitchFamily="34" charset="-122"/>
                <a:cs typeface="Aptos" pitchFamily="34" charset="-120"/>
              </a:rPr>
              <a:t>Dashboard</a:t>
            </a:r>
            <a:endParaRPr lang="en-US" sz="960" dirty="0"/>
          </a:p>
        </p:txBody>
      </p:sp>
      <p:sp>
        <p:nvSpPr>
          <p:cNvPr id="28" name="TextBox 27"/>
          <p:cNvSpPr txBox="1"/>
          <p:nvPr/>
        </p:nvSpPr>
        <p:spPr>
          <a:xfrm>
            <a:off x="731520" y="4770000"/>
            <a:ext cx="6400000" cy="400000"/>
          </a:xfrm>
          <a:prstGeom prst="rect">
            <a:avLst/>
          </a:prstGeom>
          <a:noFill/>
        </p:spPr>
        <p:txBody>
          <a:bodyPr wrap="none">
            <a:spAutoFit/>
          </a:bodyPr>
          <a:lstStyle/>
          <a:p>
            <a:pPr algn="l"/>
            <a:r>
              <a:rPr sz="1200" b="0">
                <a:solidFill>
                  <a:srgbClr val="A9CBFF"/>
                </a:solidFill>
                <a:latin typeface="Aptos"/>
              </a:rPr>
              <a:t>Anas Khan  •  Anshuman Tiwari  •  Bhumika Burhade  •  Chetali Aggrawal</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8F2"/>
        </a:solidFill>
      </p:bgPr>
    </p:bg>
    <p:spTree>
      <p:nvGrpSpPr>
        <p:cNvPr id="1" name=""/>
        <p:cNvGrpSpPr/>
        <p:nvPr/>
      </p:nvGrpSpPr>
      <p:grpSpPr>
        <a:xfrm>
          <a:off x="0" y="0"/>
          <a:ext cx="0" cy="0"/>
          <a:chOff x="0" y="0"/>
          <a:chExt cx="0" cy="0"/>
        </a:xfrm>
      </p:grpSpPr>
      <p:sp>
        <p:nvSpPr>
          <p:cNvPr id="2" name="Shape 0"/>
          <p:cNvSpPr/>
          <p:nvPr/>
        </p:nvSpPr>
        <p:spPr>
          <a:xfrm>
            <a:off x="0" y="0"/>
            <a:ext cx="12191695" cy="201168"/>
          </a:xfrm>
          <a:prstGeom prst="rect">
            <a:avLst/>
          </a:prstGeom>
          <a:solidFill>
            <a:srgbClr val="2E68FF"/>
          </a:solidFill>
          <a:ln w="12700">
            <a:solidFill>
              <a:srgbClr val="2E68FF"/>
            </a:solidFill>
            <a:prstDash val="solid"/>
          </a:ln>
        </p:spPr>
      </p:sp>
      <p:sp>
        <p:nvSpPr>
          <p:cNvPr id="3" name="Text 1"/>
          <p:cNvSpPr/>
          <p:nvPr/>
        </p:nvSpPr>
        <p:spPr>
          <a:xfrm>
            <a:off x="621792" y="347472"/>
            <a:ext cx="3108960" cy="201168"/>
          </a:xfrm>
          <a:prstGeom prst="rect">
            <a:avLst/>
          </a:prstGeom>
          <a:noFill/>
          <a:ln/>
        </p:spPr>
        <p:txBody>
          <a:bodyPr wrap="square" lIns="0" tIns="0" rIns="0" bIns="0" rtlCol="0" anchor="ctr"/>
          <a:lstStyle/>
          <a:p>
            <a:pPr indent="0" marL="0">
              <a:buNone/>
            </a:pPr>
            <a:r>
              <a:rPr lang="en-US" sz="1000" b="1" dirty="0">
                <a:solidFill>
                  <a:srgbClr val="2E68FF"/>
                </a:solidFill>
                <a:latin typeface="Aptos" pitchFamily="34" charset="0"/>
                <a:ea typeface="Aptos" pitchFamily="34" charset="-122"/>
                <a:cs typeface="Aptos" pitchFamily="34" charset="-120"/>
              </a:rPr>
              <a:t>Project Thesis</a:t>
            </a:r>
            <a:endParaRPr lang="en-US" sz="1000" dirty="0"/>
          </a:p>
        </p:txBody>
      </p:sp>
      <p:sp>
        <p:nvSpPr>
          <p:cNvPr id="4" name="Text 2"/>
          <p:cNvSpPr/>
          <p:nvPr/>
        </p:nvSpPr>
        <p:spPr>
          <a:xfrm>
            <a:off x="621792" y="658368"/>
            <a:ext cx="8046720" cy="457200"/>
          </a:xfrm>
          <a:prstGeom prst="rect">
            <a:avLst/>
          </a:prstGeom>
          <a:noFill/>
          <a:ln/>
        </p:spPr>
        <p:txBody>
          <a:bodyPr wrap="square" lIns="0" tIns="0" rIns="0" bIns="0" rtlCol="0" anchor="ctr"/>
          <a:lstStyle/>
          <a:p>
            <a:pPr indent="0" marL="0">
              <a:buNone/>
            </a:pPr>
            <a:r>
              <a:rPr lang="en-US" sz="2400" b="1" dirty="0">
                <a:solidFill>
                  <a:srgbClr val="102133"/>
                </a:solidFill>
                <a:latin typeface="Aptos Display" pitchFamily="34" charset="0"/>
                <a:ea typeface="Aptos Display" pitchFamily="34" charset="-122"/>
                <a:cs typeface="Aptos Display" pitchFamily="34" charset="-120"/>
              </a:rPr>
              <a:t>What AutoOps is designed to solve</a:t>
            </a:r>
            <a:endParaRPr lang="en-US" sz="2400" dirty="0"/>
          </a:p>
        </p:txBody>
      </p:sp>
      <p:sp>
        <p:nvSpPr>
          <p:cNvPr id="5" name="Text 3"/>
          <p:cNvSpPr/>
          <p:nvPr/>
        </p:nvSpPr>
        <p:spPr>
          <a:xfrm>
            <a:off x="621792" y="1143000"/>
            <a:ext cx="9784080" cy="310896"/>
          </a:xfrm>
          <a:prstGeom prst="rect">
            <a:avLst/>
          </a:prstGeom>
          <a:noFill/>
          <a:ln/>
        </p:spPr>
        <p:txBody>
          <a:bodyPr wrap="square" lIns="0" tIns="0" rIns="0" bIns="0" rtlCol="0" anchor="ctr"/>
          <a:lstStyle/>
          <a:p>
            <a:pPr indent="0" marL="0">
              <a:buNone/>
            </a:pPr>
            <a:r>
              <a:rPr lang="en-US" sz="1150" dirty="0">
                <a:solidFill>
                  <a:srgbClr val="5B6978"/>
                </a:solidFill>
                <a:latin typeface="Aptos" pitchFamily="34" charset="0"/>
                <a:ea typeface="Aptos" pitchFamily="34" charset="-122"/>
                <a:cs typeface="Aptos" pitchFamily="34" charset="-120"/>
              </a:rPr>
              <a:t>The problem AutoOps addresses and who it serves.</a:t>
            </a:r>
            <a:endParaRPr lang="en-US" sz="1150" dirty="0"/>
          </a:p>
        </p:txBody>
      </p:sp>
      <p:sp>
        <p:nvSpPr>
          <p:cNvPr id="6" name="Text 4"/>
          <p:cNvSpPr/>
          <p:nvPr/>
        </p:nvSpPr>
        <p:spPr>
          <a:xfrm>
            <a:off x="10652760" y="347472"/>
            <a:ext cx="914400" cy="201168"/>
          </a:xfrm>
          <a:prstGeom prst="rect">
            <a:avLst/>
          </a:prstGeom>
          <a:noFill/>
          <a:ln/>
        </p:spPr>
        <p:txBody>
          <a:bodyPr wrap="square" lIns="0" tIns="0" rIns="0" bIns="0" rtlCol="0" anchor="ctr"/>
          <a:lstStyle/>
          <a:p>
            <a:pPr algn="r" indent="0" marL="0">
              <a:buNone/>
            </a:pPr>
            <a:r>
              <a:rPr lang="en-US" sz="1000" b="1" dirty="0">
                <a:solidFill>
                  <a:srgbClr val="5B6978"/>
                </a:solidFill>
                <a:latin typeface="Aptos" pitchFamily="34" charset="0"/>
                <a:ea typeface="Aptos" pitchFamily="34" charset="-122"/>
                <a:cs typeface="Aptos" pitchFamily="34" charset="-120"/>
              </a:rPr>
              <a:t>AutoOps</a:t>
            </a:r>
            <a:endParaRPr lang="en-US" sz="1000" dirty="0"/>
          </a:p>
        </p:txBody>
      </p:sp>
      <p:sp>
        <p:nvSpPr>
          <p:cNvPr id="7" name="Text 5"/>
          <p:cNvSpPr/>
          <p:nvPr/>
        </p:nvSpPr>
        <p:spPr>
          <a:xfrm>
            <a:off x="749808" y="1783080"/>
            <a:ext cx="6629400" cy="4434840"/>
          </a:xfrm>
          <a:prstGeom prst="rect">
            <a:avLst/>
          </a:prstGeom>
          <a:noFill/>
          <a:ln/>
        </p:spPr>
        <p:txBody>
          <a:bodyPr wrap="square" lIns="508" tIns="508" rIns="508" bIns="508" rtlCol="0" anchor="ctr">
            <a:normAutofit/>
          </a:bodyPr>
          <a:lstStyle/>
          <a:p>
            <a:pPr indent="0" marL="0">
              <a:buNone/>
            </a:pPr>
            <a:r>
              <a:rPr lang="en-US" sz="1640" dirty="0">
                <a:solidFill>
                  <a:srgbClr val="102133"/>
                </a:solidFill>
                <a:latin typeface="Aptos" pitchFamily="34" charset="0"/>
                <a:ea typeface="Aptos" pitchFamily="34" charset="-122"/>
                <a:cs typeface="Aptos" pitchFamily="34" charset="-120"/>
              </a:rPr>
              <a:t>• Turns a GitHub push into a controlled, self-hosted CI/CD workflow.</a:t>
            </a:r>
            <a:endParaRPr lang="en-US" sz="1640" dirty="0"/>
          </a:p>
          <a:p>
            <a:pPr indent="0" marL="0">
              <a:buNone/>
            </a:pPr>
            <a:r>
              <a:rPr lang="en-US" sz="1640" dirty="0">
                <a:solidFill>
                  <a:srgbClr val="102133"/>
                </a:solidFill>
                <a:latin typeface="Aptos" pitchFamily="34" charset="0"/>
                <a:ea typeface="Aptos" pitchFamily="34" charset="-122"/>
                <a:cs typeface="Aptos" pitchFamily="34" charset="-120"/>
              </a:rPr>
              <a:t>• Centralizes queueing, execution, deployment state, and recovery.</a:t>
            </a:r>
            <a:endParaRPr lang="en-US" sz="1640" dirty="0"/>
          </a:p>
          <a:p>
            <a:pPr indent="0" marL="0">
              <a:buNone/>
            </a:pPr>
            <a:r>
              <a:rPr lang="en-US" sz="1640" dirty="0">
                <a:solidFill>
                  <a:srgbClr val="102133"/>
                </a:solidFill>
                <a:latin typeface="Aptos" pitchFamily="34" charset="0"/>
                <a:ea typeface="Aptos" pitchFamily="34" charset="-122"/>
                <a:cs typeface="Aptos" pitchFamily="34" charset="-120"/>
              </a:rPr>
              <a:t>• Strongest where operations hurt: stage visibility, approval gates, and rollback.</a:t>
            </a:r>
            <a:endParaRPr lang="en-US" sz="1640" dirty="0"/>
          </a:p>
          <a:p>
            <a:pPr indent="0" marL="0">
              <a:buNone/>
            </a:pPr>
            <a:r>
              <a:rPr lang="en-US" sz="1640" dirty="0">
                <a:solidFill>
                  <a:srgbClr val="102133"/>
                </a:solidFill>
                <a:latin typeface="Aptos" pitchFamily="34" charset="0"/>
                <a:ea typeface="Aptos" pitchFamily="34" charset="-122"/>
                <a:cs typeface="Aptos" pitchFamily="34" charset="-120"/>
              </a:rPr>
              <a:t>• Supports both custom pipelines and managed imports for web applications.</a:t>
            </a:r>
            <a:endParaRPr lang="en-US" sz="1640" dirty="0"/>
          </a:p>
        </p:txBody>
      </p:sp>
      <p:sp>
        <p:nvSpPr>
          <p:cNvPr id="8" name="Shape 6"/>
          <p:cNvSpPr/>
          <p:nvPr/>
        </p:nvSpPr>
        <p:spPr>
          <a:xfrm>
            <a:off x="7726680" y="1828800"/>
            <a:ext cx="3401568" cy="914400"/>
          </a:xfrm>
          <a:prstGeom prst="roundRect">
            <a:avLst>
              <a:gd name="adj" fmla="val 7000"/>
            </a:avLst>
          </a:prstGeom>
          <a:solidFill>
            <a:srgbClr val="F4F8FF"/>
          </a:solidFill>
          <a:ln w="12700">
            <a:solidFill>
              <a:srgbClr val="D4E4FF"/>
            </a:solidFill>
            <a:prstDash val="solid"/>
          </a:ln>
        </p:spPr>
      </p:sp>
      <p:sp>
        <p:nvSpPr>
          <p:cNvPr id="9" name="Text 7"/>
          <p:cNvSpPr/>
          <p:nvPr/>
        </p:nvSpPr>
        <p:spPr>
          <a:xfrm>
            <a:off x="7891272" y="1956816"/>
            <a:ext cx="3072384" cy="201168"/>
          </a:xfrm>
          <a:prstGeom prst="rect">
            <a:avLst/>
          </a:prstGeom>
          <a:noFill/>
          <a:ln/>
        </p:spPr>
        <p:txBody>
          <a:bodyPr wrap="square" lIns="0" tIns="0" rIns="0" bIns="0" rtlCol="0" anchor="ctr"/>
          <a:lstStyle/>
          <a:p>
            <a:pPr indent="0" marL="0">
              <a:buNone/>
            </a:pPr>
            <a:r>
              <a:rPr lang="en-US" sz="1400" b="1" dirty="0">
                <a:solidFill>
                  <a:srgbClr val="102133"/>
                </a:solidFill>
                <a:latin typeface="Aptos Display" pitchFamily="34" charset="0"/>
                <a:ea typeface="Aptos Display" pitchFamily="34" charset="-122"/>
                <a:cs typeface="Aptos Display" pitchFamily="34" charset="-120"/>
              </a:rPr>
              <a:t>Core promise</a:t>
            </a:r>
            <a:endParaRPr lang="en-US" sz="1400" dirty="0"/>
          </a:p>
        </p:txBody>
      </p:sp>
      <p:sp>
        <p:nvSpPr>
          <p:cNvPr id="10" name="Text 8"/>
          <p:cNvSpPr/>
          <p:nvPr/>
        </p:nvSpPr>
        <p:spPr>
          <a:xfrm>
            <a:off x="7891272" y="2240280"/>
            <a:ext cx="3072384" cy="384048"/>
          </a:xfrm>
          <a:prstGeom prst="rect">
            <a:avLst/>
          </a:prstGeom>
          <a:noFill/>
          <a:ln/>
        </p:spPr>
        <p:txBody>
          <a:bodyPr wrap="square" lIns="0" tIns="0" rIns="0" bIns="0" rtlCol="0" anchor="ctr">
            <a:normAutofit/>
          </a:bodyPr>
          <a:lstStyle/>
          <a:p>
            <a:pPr indent="0" marL="0">
              <a:buNone/>
            </a:pPr>
            <a:r>
              <a:rPr lang="en-US" sz="1130" dirty="0">
                <a:solidFill>
                  <a:srgbClr val="5B6978"/>
                </a:solidFill>
                <a:latin typeface="Aptos" pitchFamily="34" charset="0"/>
                <a:ea typeface="Aptos" pitchFamily="34" charset="-122"/>
                <a:cs typeface="Aptos" pitchFamily="34" charset="-120"/>
              </a:rPr>
              <a:t>Push code. Track every stage. Deploy safely. Recover quickly.</a:t>
            </a:r>
            <a:endParaRPr lang="en-US" sz="1130" dirty="0"/>
          </a:p>
        </p:txBody>
      </p:sp>
      <p:sp>
        <p:nvSpPr>
          <p:cNvPr id="11" name="Shape 9"/>
          <p:cNvSpPr/>
          <p:nvPr/>
        </p:nvSpPr>
        <p:spPr>
          <a:xfrm>
            <a:off x="7726680" y="2971800"/>
            <a:ext cx="3401568" cy="914400"/>
          </a:xfrm>
          <a:prstGeom prst="roundRect">
            <a:avLst>
              <a:gd name="adj" fmla="val 7000"/>
            </a:avLst>
          </a:prstGeom>
          <a:solidFill>
            <a:srgbClr val="ECF8F2"/>
          </a:solidFill>
          <a:ln w="12700">
            <a:solidFill>
              <a:srgbClr val="CFE9DD"/>
            </a:solidFill>
            <a:prstDash val="solid"/>
          </a:ln>
        </p:spPr>
      </p:sp>
      <p:sp>
        <p:nvSpPr>
          <p:cNvPr id="12" name="Text 10"/>
          <p:cNvSpPr/>
          <p:nvPr/>
        </p:nvSpPr>
        <p:spPr>
          <a:xfrm>
            <a:off x="7891272" y="3099816"/>
            <a:ext cx="3072384" cy="201168"/>
          </a:xfrm>
          <a:prstGeom prst="rect">
            <a:avLst/>
          </a:prstGeom>
          <a:noFill/>
          <a:ln/>
        </p:spPr>
        <p:txBody>
          <a:bodyPr wrap="square" lIns="0" tIns="0" rIns="0" bIns="0" rtlCol="0" anchor="ctr"/>
          <a:lstStyle/>
          <a:p>
            <a:pPr indent="0" marL="0">
              <a:buNone/>
            </a:pPr>
            <a:r>
              <a:rPr lang="en-US" sz="1400" b="1" dirty="0">
                <a:solidFill>
                  <a:srgbClr val="102133"/>
                </a:solidFill>
                <a:latin typeface="Aptos Display" pitchFamily="34" charset="0"/>
                <a:ea typeface="Aptos Display" pitchFamily="34" charset="-122"/>
                <a:cs typeface="Aptos Display" pitchFamily="34" charset="-120"/>
              </a:rPr>
              <a:t>Primary users</a:t>
            </a:r>
            <a:endParaRPr lang="en-US" sz="1400" dirty="0"/>
          </a:p>
        </p:txBody>
      </p:sp>
      <p:sp>
        <p:nvSpPr>
          <p:cNvPr id="13" name="Text 11"/>
          <p:cNvSpPr/>
          <p:nvPr/>
        </p:nvSpPr>
        <p:spPr>
          <a:xfrm>
            <a:off x="7891272" y="3383280"/>
            <a:ext cx="3072384" cy="384048"/>
          </a:xfrm>
          <a:prstGeom prst="rect">
            <a:avLst/>
          </a:prstGeom>
          <a:noFill/>
          <a:ln/>
        </p:spPr>
        <p:txBody>
          <a:bodyPr wrap="square" lIns="0" tIns="0" rIns="0" bIns="0" rtlCol="0" anchor="ctr">
            <a:normAutofit/>
          </a:bodyPr>
          <a:lstStyle/>
          <a:p>
            <a:pPr indent="0" marL="0">
              <a:buNone/>
            </a:pPr>
            <a:r>
              <a:rPr lang="en-US" sz="1130" dirty="0">
                <a:solidFill>
                  <a:srgbClr val="5B6978"/>
                </a:solidFill>
                <a:latin typeface="Aptos" pitchFamily="34" charset="0"/>
                <a:ea typeface="Aptos" pitchFamily="34" charset="-122"/>
                <a:cs typeface="Aptos" pitchFamily="34" charset="-120"/>
              </a:rPr>
              <a:t>Platform teams, operators, and self-hosted product teams that need more control.</a:t>
            </a:r>
            <a:endParaRPr lang="en-US" sz="1130" dirty="0"/>
          </a:p>
        </p:txBody>
      </p:sp>
      <p:sp>
        <p:nvSpPr>
          <p:cNvPr id="17" name="Text 15"/>
          <p:cNvSpPr/>
          <p:nvPr/>
        </p:nvSpPr>
        <p:spPr>
          <a:xfrm>
            <a:off x="11338560" y="6409944"/>
            <a:ext cx="256032" cy="146304"/>
          </a:xfrm>
          <a:prstGeom prst="rect">
            <a:avLst/>
          </a:prstGeom>
          <a:noFill/>
          <a:ln/>
        </p:spPr>
        <p:txBody>
          <a:bodyPr wrap="square" lIns="0" tIns="0" rIns="0" bIns="0" rtlCol="0" anchor="ctr"/>
          <a:lstStyle/>
          <a:p>
            <a:pPr algn="r" indent="0" marL="0">
              <a:buNone/>
            </a:pPr>
            <a:r>
              <a:rPr lang="en-US" sz="950" dirty="0">
                <a:solidFill>
                  <a:srgbClr val="5B6978"/>
                </a:solidFill>
                <a:latin typeface="Aptos" pitchFamily="34" charset="0"/>
                <a:ea typeface="Aptos" pitchFamily="34" charset="-122"/>
                <a:cs typeface="Aptos" pitchFamily="34" charset="-120"/>
              </a:rPr>
              <a:t>2</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8F2"/>
        </a:solidFill>
      </p:bgPr>
    </p:bg>
    <p:spTree>
      <p:nvGrpSpPr>
        <p:cNvPr id="1" name=""/>
        <p:cNvGrpSpPr/>
        <p:nvPr/>
      </p:nvGrpSpPr>
      <p:grpSpPr>
        <a:xfrm>
          <a:off x="0" y="0"/>
          <a:ext cx="0" cy="0"/>
          <a:chOff x="0" y="0"/>
          <a:chExt cx="0" cy="0"/>
        </a:xfrm>
      </p:grpSpPr>
      <p:sp>
        <p:nvSpPr>
          <p:cNvPr id="2" name="Shape 0"/>
          <p:cNvSpPr/>
          <p:nvPr/>
        </p:nvSpPr>
        <p:spPr>
          <a:xfrm>
            <a:off x="0" y="0"/>
            <a:ext cx="12191695" cy="201168"/>
          </a:xfrm>
          <a:prstGeom prst="rect">
            <a:avLst/>
          </a:prstGeom>
          <a:solidFill>
            <a:srgbClr val="2E68FF"/>
          </a:solidFill>
          <a:ln w="12700">
            <a:solidFill>
              <a:srgbClr val="2E68FF"/>
            </a:solidFill>
            <a:prstDash val="solid"/>
          </a:ln>
        </p:spPr>
      </p:sp>
      <p:sp>
        <p:nvSpPr>
          <p:cNvPr id="3" name="Text 1"/>
          <p:cNvSpPr/>
          <p:nvPr/>
        </p:nvSpPr>
        <p:spPr>
          <a:xfrm>
            <a:off x="621792" y="347472"/>
            <a:ext cx="3108960" cy="201168"/>
          </a:xfrm>
          <a:prstGeom prst="rect">
            <a:avLst/>
          </a:prstGeom>
          <a:noFill/>
          <a:ln/>
        </p:spPr>
        <p:txBody>
          <a:bodyPr wrap="square" lIns="0" tIns="0" rIns="0" bIns="0" rtlCol="0" anchor="ctr"/>
          <a:lstStyle/>
          <a:p>
            <a:pPr indent="0" marL="0">
              <a:buNone/>
            </a:pPr>
            <a:r>
              <a:rPr lang="en-US" sz="1000" b="1" dirty="0">
                <a:solidFill>
                  <a:srgbClr val="2E68FF"/>
                </a:solidFill>
                <a:latin typeface="Aptos" pitchFamily="34" charset="0"/>
                <a:ea typeface="Aptos" pitchFamily="34" charset="-122"/>
                <a:cs typeface="Aptos" pitchFamily="34" charset="-120"/>
              </a:rPr>
              <a:t>Capability Map</a:t>
            </a:r>
            <a:endParaRPr lang="en-US" sz="1000" dirty="0"/>
          </a:p>
        </p:txBody>
      </p:sp>
      <p:sp>
        <p:nvSpPr>
          <p:cNvPr id="4" name="Text 2"/>
          <p:cNvSpPr/>
          <p:nvPr/>
        </p:nvSpPr>
        <p:spPr>
          <a:xfrm>
            <a:off x="621792" y="658368"/>
            <a:ext cx="8046720" cy="457200"/>
          </a:xfrm>
          <a:prstGeom prst="rect">
            <a:avLst/>
          </a:prstGeom>
          <a:noFill/>
          <a:ln/>
        </p:spPr>
        <p:txBody>
          <a:bodyPr wrap="square" lIns="0" tIns="0" rIns="0" bIns="0" rtlCol="0" anchor="ctr"/>
          <a:lstStyle/>
          <a:p>
            <a:pPr indent="0" marL="0">
              <a:buNone/>
            </a:pPr>
            <a:r>
              <a:rPr lang="en-US" sz="2400" b="1" dirty="0">
                <a:solidFill>
                  <a:srgbClr val="102133"/>
                </a:solidFill>
                <a:latin typeface="Aptos Display" pitchFamily="34" charset="0"/>
                <a:ea typeface="Aptos Display" pitchFamily="34" charset="-122"/>
                <a:cs typeface="Aptos Display" pitchFamily="34" charset="-120"/>
              </a:rPr>
              <a:t>What Phase 1 already includes</a:t>
            </a:r>
            <a:endParaRPr lang="en-US" sz="2400" dirty="0"/>
          </a:p>
        </p:txBody>
      </p:sp>
      <p:sp>
        <p:nvSpPr>
          <p:cNvPr id="5" name="Text 3"/>
          <p:cNvSpPr/>
          <p:nvPr/>
        </p:nvSpPr>
        <p:spPr>
          <a:xfrm>
            <a:off x="621792" y="1143000"/>
            <a:ext cx="9784080" cy="310896"/>
          </a:xfrm>
          <a:prstGeom prst="rect">
            <a:avLst/>
          </a:prstGeom>
          <a:noFill/>
          <a:ln/>
        </p:spPr>
        <p:txBody>
          <a:bodyPr wrap="square" lIns="0" tIns="0" rIns="0" bIns="0" rtlCol="0" anchor="ctr"/>
          <a:lstStyle/>
          <a:p>
            <a:pPr indent="0" marL="0">
              <a:buNone/>
            </a:pPr>
            <a:r>
              <a:rPr lang="en-US" sz="1150" dirty="0">
                <a:solidFill>
                  <a:srgbClr val="5B6978"/>
                </a:solidFill>
                <a:latin typeface="Aptos" pitchFamily="34" charset="0"/>
                <a:ea typeface="Aptos" pitchFamily="34" charset="-122"/>
                <a:cs typeface="Aptos" pitchFamily="34" charset="-120"/>
              </a:rPr>
              <a:t>Six capabilities that cover the full CI/CD loop from intake to recovery.</a:t>
            </a:r>
            <a:endParaRPr lang="en-US" sz="1150" dirty="0"/>
          </a:p>
        </p:txBody>
      </p:sp>
      <p:sp>
        <p:nvSpPr>
          <p:cNvPr id="6" name="Text 4"/>
          <p:cNvSpPr/>
          <p:nvPr/>
        </p:nvSpPr>
        <p:spPr>
          <a:xfrm>
            <a:off x="10652760" y="347472"/>
            <a:ext cx="914400" cy="201168"/>
          </a:xfrm>
          <a:prstGeom prst="rect">
            <a:avLst/>
          </a:prstGeom>
          <a:noFill/>
          <a:ln/>
        </p:spPr>
        <p:txBody>
          <a:bodyPr wrap="square" lIns="0" tIns="0" rIns="0" bIns="0" rtlCol="0" anchor="ctr"/>
          <a:lstStyle/>
          <a:p>
            <a:pPr algn="r" indent="0" marL="0">
              <a:buNone/>
            </a:pPr>
            <a:r>
              <a:rPr lang="en-US" sz="1000" b="1" dirty="0">
                <a:solidFill>
                  <a:srgbClr val="5B6978"/>
                </a:solidFill>
                <a:latin typeface="Aptos" pitchFamily="34" charset="0"/>
                <a:ea typeface="Aptos" pitchFamily="34" charset="-122"/>
                <a:cs typeface="Aptos" pitchFamily="34" charset="-120"/>
              </a:rPr>
              <a:t>AutoOps</a:t>
            </a:r>
            <a:endParaRPr lang="en-US" sz="1000" dirty="0"/>
          </a:p>
        </p:txBody>
      </p:sp>
      <p:sp>
        <p:nvSpPr>
          <p:cNvPr id="7" name="Shape 5"/>
          <p:cNvSpPr/>
          <p:nvPr/>
        </p:nvSpPr>
        <p:spPr>
          <a:xfrm>
            <a:off x="749808" y="1783080"/>
            <a:ext cx="3346704" cy="1627632"/>
          </a:xfrm>
          <a:prstGeom prst="roundRect">
            <a:avLst>
              <a:gd name="adj" fmla="val 3933"/>
            </a:avLst>
          </a:prstGeom>
          <a:solidFill>
            <a:srgbClr val="F4F8FF"/>
          </a:solidFill>
          <a:ln w="12700">
            <a:solidFill>
              <a:srgbClr val="D4E4FF"/>
            </a:solidFill>
            <a:prstDash val="solid"/>
          </a:ln>
        </p:spPr>
      </p:sp>
      <p:sp>
        <p:nvSpPr>
          <p:cNvPr id="8" name="Text 6"/>
          <p:cNvSpPr/>
          <p:nvPr/>
        </p:nvSpPr>
        <p:spPr>
          <a:xfrm>
            <a:off x="914400" y="1911096"/>
            <a:ext cx="3017520" cy="201168"/>
          </a:xfrm>
          <a:prstGeom prst="rect">
            <a:avLst/>
          </a:prstGeom>
          <a:noFill/>
          <a:ln/>
        </p:spPr>
        <p:txBody>
          <a:bodyPr wrap="square" lIns="0" tIns="0" rIns="0" bIns="0" rtlCol="0" anchor="ctr"/>
          <a:lstStyle/>
          <a:p>
            <a:pPr indent="0" marL="0">
              <a:buNone/>
            </a:pPr>
            <a:r>
              <a:rPr lang="en-US" sz="1400" b="1" dirty="0">
                <a:solidFill>
                  <a:srgbClr val="102133"/>
                </a:solidFill>
                <a:latin typeface="Aptos Display" pitchFamily="34" charset="0"/>
                <a:ea typeface="Aptos Display" pitchFamily="34" charset="-122"/>
                <a:cs typeface="Aptos Display" pitchFamily="34" charset="-120"/>
              </a:rPr>
              <a:t>GitHub Intake</a:t>
            </a:r>
            <a:endParaRPr lang="en-US" sz="1400" dirty="0"/>
          </a:p>
        </p:txBody>
      </p:sp>
      <p:sp>
        <p:nvSpPr>
          <p:cNvPr id="9" name="Text 7"/>
          <p:cNvSpPr/>
          <p:nvPr/>
        </p:nvSpPr>
        <p:spPr>
          <a:xfrm>
            <a:off x="914400" y="2194560"/>
            <a:ext cx="3017520" cy="1097280"/>
          </a:xfrm>
          <a:prstGeom prst="rect">
            <a:avLst/>
          </a:prstGeom>
          <a:noFill/>
          <a:ln/>
        </p:spPr>
        <p:txBody>
          <a:bodyPr wrap="square" lIns="0" tIns="0" rIns="0" bIns="0" rtlCol="0" anchor="ctr">
            <a:normAutofit/>
          </a:bodyPr>
          <a:lstStyle/>
          <a:p>
            <a:pPr indent="0" marL="0">
              <a:buNone/>
            </a:pPr>
            <a:r>
              <a:rPr lang="en-US" sz="1130" dirty="0">
                <a:solidFill>
                  <a:srgbClr val="5B6978"/>
                </a:solidFill>
                <a:latin typeface="Aptos" pitchFamily="34" charset="0"/>
                <a:ea typeface="Aptos" pitchFamily="34" charset="-122"/>
                <a:cs typeface="Aptos" pitchFamily="34" charset="-120"/>
              </a:rPr>
              <a:t>App installations, webhook validation, deduplication, repository syncing, and onboarding metadata.</a:t>
            </a:r>
            <a:endParaRPr lang="en-US" sz="1130" dirty="0"/>
          </a:p>
        </p:txBody>
      </p:sp>
      <p:sp>
        <p:nvSpPr>
          <p:cNvPr id="10" name="Shape 8"/>
          <p:cNvSpPr/>
          <p:nvPr/>
        </p:nvSpPr>
        <p:spPr>
          <a:xfrm>
            <a:off x="4498848" y="1783080"/>
            <a:ext cx="3346704" cy="1627632"/>
          </a:xfrm>
          <a:prstGeom prst="roundRect">
            <a:avLst>
              <a:gd name="adj" fmla="val 3933"/>
            </a:avLst>
          </a:prstGeom>
          <a:solidFill>
            <a:srgbClr val="FFFFFF"/>
          </a:solidFill>
          <a:ln w="12700">
            <a:solidFill>
              <a:srgbClr val="DCE4EE"/>
            </a:solidFill>
            <a:prstDash val="solid"/>
          </a:ln>
        </p:spPr>
      </p:sp>
      <p:sp>
        <p:nvSpPr>
          <p:cNvPr id="11" name="Text 9"/>
          <p:cNvSpPr/>
          <p:nvPr/>
        </p:nvSpPr>
        <p:spPr>
          <a:xfrm>
            <a:off x="4663440" y="1911096"/>
            <a:ext cx="3017520" cy="201168"/>
          </a:xfrm>
          <a:prstGeom prst="rect">
            <a:avLst/>
          </a:prstGeom>
          <a:noFill/>
          <a:ln/>
        </p:spPr>
        <p:txBody>
          <a:bodyPr wrap="square" lIns="0" tIns="0" rIns="0" bIns="0" rtlCol="0" anchor="ctr"/>
          <a:lstStyle/>
          <a:p>
            <a:pPr indent="0" marL="0">
              <a:buNone/>
            </a:pPr>
            <a:r>
              <a:rPr lang="en-US" sz="1400" b="1" dirty="0">
                <a:solidFill>
                  <a:srgbClr val="102133"/>
                </a:solidFill>
                <a:latin typeface="Aptos Display" pitchFamily="34" charset="0"/>
                <a:ea typeface="Aptos Display" pitchFamily="34" charset="-122"/>
                <a:cs typeface="Aptos Display" pitchFamily="34" charset="-120"/>
              </a:rPr>
              <a:t>Pipeline Config</a:t>
            </a:r>
            <a:endParaRPr lang="en-US" sz="1400" dirty="0"/>
          </a:p>
        </p:txBody>
      </p:sp>
      <p:sp>
        <p:nvSpPr>
          <p:cNvPr id="12" name="Text 10"/>
          <p:cNvSpPr/>
          <p:nvPr/>
        </p:nvSpPr>
        <p:spPr>
          <a:xfrm>
            <a:off x="4663440" y="2194560"/>
            <a:ext cx="3017520" cy="1097280"/>
          </a:xfrm>
          <a:prstGeom prst="rect">
            <a:avLst/>
          </a:prstGeom>
          <a:noFill/>
          <a:ln/>
        </p:spPr>
        <p:txBody>
          <a:bodyPr wrap="square" lIns="0" tIns="0" rIns="0" bIns="0" rtlCol="0" anchor="ctr">
            <a:normAutofit/>
          </a:bodyPr>
          <a:lstStyle/>
          <a:p>
            <a:pPr indent="0" marL="0">
              <a:buNone/>
            </a:pPr>
            <a:r>
              <a:rPr lang="en-US" sz="1130" dirty="0">
                <a:solidFill>
                  <a:srgbClr val="5B6978"/>
                </a:solidFill>
                <a:latin typeface="Aptos" pitchFamily="34" charset="0"/>
                <a:ea typeface="Aptos" pitchFamily="34" charset="-122"/>
                <a:cs typeface="Aptos" pitchFamily="34" charset="-120"/>
              </a:rPr>
              <a:t>Per-repository .autoops/pipeline.yml with triggers, build settings, test commands, and deployment targets.</a:t>
            </a:r>
            <a:endParaRPr lang="en-US" sz="1130" dirty="0"/>
          </a:p>
        </p:txBody>
      </p:sp>
      <p:sp>
        <p:nvSpPr>
          <p:cNvPr id="13" name="Shape 11"/>
          <p:cNvSpPr/>
          <p:nvPr/>
        </p:nvSpPr>
        <p:spPr>
          <a:xfrm>
            <a:off x="8247888" y="1783080"/>
            <a:ext cx="3346704" cy="1627632"/>
          </a:xfrm>
          <a:prstGeom prst="roundRect">
            <a:avLst>
              <a:gd name="adj" fmla="val 3933"/>
            </a:avLst>
          </a:prstGeom>
          <a:solidFill>
            <a:srgbClr val="FFFFFF"/>
          </a:solidFill>
          <a:ln w="12700">
            <a:solidFill>
              <a:srgbClr val="DCE4EE"/>
            </a:solidFill>
            <a:prstDash val="solid"/>
          </a:ln>
        </p:spPr>
      </p:sp>
      <p:sp>
        <p:nvSpPr>
          <p:cNvPr id="14" name="Text 12"/>
          <p:cNvSpPr/>
          <p:nvPr/>
        </p:nvSpPr>
        <p:spPr>
          <a:xfrm>
            <a:off x="8412480" y="1911096"/>
            <a:ext cx="3017520" cy="201168"/>
          </a:xfrm>
          <a:prstGeom prst="rect">
            <a:avLst/>
          </a:prstGeom>
          <a:noFill/>
          <a:ln/>
        </p:spPr>
        <p:txBody>
          <a:bodyPr wrap="square" lIns="0" tIns="0" rIns="0" bIns="0" rtlCol="0" anchor="ctr"/>
          <a:lstStyle/>
          <a:p>
            <a:pPr indent="0" marL="0">
              <a:buNone/>
            </a:pPr>
            <a:r>
              <a:rPr lang="en-US" sz="1400" b="1" dirty="0">
                <a:solidFill>
                  <a:srgbClr val="102133"/>
                </a:solidFill>
                <a:latin typeface="Aptos Display" pitchFamily="34" charset="0"/>
                <a:ea typeface="Aptos Display" pitchFamily="34" charset="-122"/>
                <a:cs typeface="Aptos Display" pitchFamily="34" charset="-120"/>
              </a:rPr>
              <a:t>Execution Engine</a:t>
            </a:r>
            <a:endParaRPr lang="en-US" sz="1400" dirty="0"/>
          </a:p>
        </p:txBody>
      </p:sp>
      <p:sp>
        <p:nvSpPr>
          <p:cNvPr id="15" name="Text 13"/>
          <p:cNvSpPr/>
          <p:nvPr/>
        </p:nvSpPr>
        <p:spPr>
          <a:xfrm>
            <a:off x="8412480" y="2194560"/>
            <a:ext cx="3017520" cy="1097280"/>
          </a:xfrm>
          <a:prstGeom prst="rect">
            <a:avLst/>
          </a:prstGeom>
          <a:noFill/>
          <a:ln/>
        </p:spPr>
        <p:txBody>
          <a:bodyPr wrap="square" lIns="0" tIns="0" rIns="0" bIns="0" rtlCol="0" anchor="ctr">
            <a:normAutofit/>
          </a:bodyPr>
          <a:lstStyle/>
          <a:p>
            <a:pPr indent="0" marL="0">
              <a:buNone/>
            </a:pPr>
            <a:r>
              <a:rPr lang="en-US" sz="1130" dirty="0">
                <a:solidFill>
                  <a:srgbClr val="5B6978"/>
                </a:solidFill>
                <a:latin typeface="Aptos" pitchFamily="34" charset="0"/>
                <a:ea typeface="Aptos" pitchFamily="34" charset="-122"/>
                <a:cs typeface="Aptos" pitchFamily="34" charset="-120"/>
              </a:rPr>
              <a:t>Queued runs, ordered stages, Docker build and test execution, image push, and per-target deployment.</a:t>
            </a:r>
            <a:endParaRPr lang="en-US" sz="1130" dirty="0"/>
          </a:p>
        </p:txBody>
      </p:sp>
      <p:sp>
        <p:nvSpPr>
          <p:cNvPr id="16" name="Shape 14"/>
          <p:cNvSpPr/>
          <p:nvPr/>
        </p:nvSpPr>
        <p:spPr>
          <a:xfrm>
            <a:off x="749808" y="3776472"/>
            <a:ext cx="3346704" cy="1627632"/>
          </a:xfrm>
          <a:prstGeom prst="roundRect">
            <a:avLst>
              <a:gd name="adj" fmla="val 3933"/>
            </a:avLst>
          </a:prstGeom>
          <a:solidFill>
            <a:srgbClr val="FFFFFF"/>
          </a:solidFill>
          <a:ln w="12700">
            <a:solidFill>
              <a:srgbClr val="DCE4EE"/>
            </a:solidFill>
            <a:prstDash val="solid"/>
          </a:ln>
        </p:spPr>
      </p:sp>
      <p:sp>
        <p:nvSpPr>
          <p:cNvPr id="17" name="Text 15"/>
          <p:cNvSpPr/>
          <p:nvPr/>
        </p:nvSpPr>
        <p:spPr>
          <a:xfrm>
            <a:off x="914400" y="3904488"/>
            <a:ext cx="3017520" cy="201168"/>
          </a:xfrm>
          <a:prstGeom prst="rect">
            <a:avLst/>
          </a:prstGeom>
          <a:noFill/>
          <a:ln/>
        </p:spPr>
        <p:txBody>
          <a:bodyPr wrap="square" lIns="0" tIns="0" rIns="0" bIns="0" rtlCol="0" anchor="ctr"/>
          <a:lstStyle/>
          <a:p>
            <a:pPr indent="0" marL="0">
              <a:buNone/>
            </a:pPr>
            <a:r>
              <a:rPr lang="en-US" sz="1400" b="1" dirty="0">
                <a:solidFill>
                  <a:srgbClr val="102133"/>
                </a:solidFill>
                <a:latin typeface="Aptos Display" pitchFamily="34" charset="0"/>
                <a:ea typeface="Aptos Display" pitchFamily="34" charset="-122"/>
                <a:cs typeface="Aptos Display" pitchFamily="34" charset="-120"/>
              </a:rPr>
              <a:t>Operations UI</a:t>
            </a:r>
            <a:endParaRPr lang="en-US" sz="1400" dirty="0"/>
          </a:p>
        </p:txBody>
      </p:sp>
      <p:sp>
        <p:nvSpPr>
          <p:cNvPr id="18" name="Text 16"/>
          <p:cNvSpPr/>
          <p:nvPr/>
        </p:nvSpPr>
        <p:spPr>
          <a:xfrm>
            <a:off x="914400" y="4187952"/>
            <a:ext cx="3017520" cy="1097280"/>
          </a:xfrm>
          <a:prstGeom prst="rect">
            <a:avLst/>
          </a:prstGeom>
          <a:noFill/>
          <a:ln/>
        </p:spPr>
        <p:txBody>
          <a:bodyPr wrap="square" lIns="0" tIns="0" rIns="0" bIns="0" rtlCol="0" anchor="ctr">
            <a:normAutofit/>
          </a:bodyPr>
          <a:lstStyle/>
          <a:p>
            <a:pPr indent="0" marL="0">
              <a:buNone/>
            </a:pPr>
            <a:r>
              <a:rPr lang="en-US" sz="1130" dirty="0">
                <a:solidFill>
                  <a:srgbClr val="5B6978"/>
                </a:solidFill>
                <a:latin typeface="Aptos" pitchFamily="34" charset="0"/>
                <a:ea typeface="Aptos" pitchFamily="34" charset="-122"/>
                <a:cs typeface="Aptos" pitchFamily="34" charset="-120"/>
              </a:rPr>
              <a:t>Overview, repositories, projects, runs, deployments, approvals, activity feeds, and rollback actions.</a:t>
            </a:r>
            <a:endParaRPr lang="en-US" sz="1130" dirty="0"/>
          </a:p>
        </p:txBody>
      </p:sp>
      <p:sp>
        <p:nvSpPr>
          <p:cNvPr id="19" name="Shape 17"/>
          <p:cNvSpPr/>
          <p:nvPr/>
        </p:nvSpPr>
        <p:spPr>
          <a:xfrm>
            <a:off x="4498848" y="3776472"/>
            <a:ext cx="3346704" cy="1627632"/>
          </a:xfrm>
          <a:prstGeom prst="roundRect">
            <a:avLst>
              <a:gd name="adj" fmla="val 3933"/>
            </a:avLst>
          </a:prstGeom>
          <a:solidFill>
            <a:srgbClr val="FFF2E3"/>
          </a:solidFill>
          <a:ln w="12700">
            <a:solidFill>
              <a:srgbClr val="F2D8B8"/>
            </a:solidFill>
            <a:prstDash val="solid"/>
          </a:ln>
        </p:spPr>
      </p:sp>
      <p:sp>
        <p:nvSpPr>
          <p:cNvPr id="20" name="Text 18"/>
          <p:cNvSpPr/>
          <p:nvPr/>
        </p:nvSpPr>
        <p:spPr>
          <a:xfrm>
            <a:off x="4663440" y="3904488"/>
            <a:ext cx="3017520" cy="201168"/>
          </a:xfrm>
          <a:prstGeom prst="rect">
            <a:avLst/>
          </a:prstGeom>
          <a:noFill/>
          <a:ln/>
        </p:spPr>
        <p:txBody>
          <a:bodyPr wrap="square" lIns="0" tIns="0" rIns="0" bIns="0" rtlCol="0" anchor="ctr"/>
          <a:lstStyle/>
          <a:p>
            <a:pPr indent="0" marL="0">
              <a:buNone/>
            </a:pPr>
            <a:r>
              <a:rPr lang="en-US" sz="1400" b="1" dirty="0">
                <a:solidFill>
                  <a:srgbClr val="102133"/>
                </a:solidFill>
                <a:latin typeface="Aptos Display" pitchFamily="34" charset="0"/>
                <a:ea typeface="Aptos Display" pitchFamily="34" charset="-122"/>
                <a:cs typeface="Aptos Display" pitchFamily="34" charset="-120"/>
              </a:rPr>
              <a:t>Recovery Controls</a:t>
            </a:r>
            <a:endParaRPr lang="en-US" sz="1400" dirty="0"/>
          </a:p>
        </p:txBody>
      </p:sp>
      <p:sp>
        <p:nvSpPr>
          <p:cNvPr id="21" name="Text 19"/>
          <p:cNvSpPr/>
          <p:nvPr/>
        </p:nvSpPr>
        <p:spPr>
          <a:xfrm>
            <a:off x="4663440" y="4187952"/>
            <a:ext cx="3017520" cy="1097280"/>
          </a:xfrm>
          <a:prstGeom prst="rect">
            <a:avLst/>
          </a:prstGeom>
          <a:noFill/>
          <a:ln/>
        </p:spPr>
        <p:txBody>
          <a:bodyPr wrap="square" lIns="0" tIns="0" rIns="0" bIns="0" rtlCol="0" anchor="ctr">
            <a:normAutofit/>
          </a:bodyPr>
          <a:lstStyle/>
          <a:p>
            <a:pPr indent="0" marL="0">
              <a:buNone/>
            </a:pPr>
            <a:r>
              <a:rPr lang="en-US" sz="1130" dirty="0">
                <a:solidFill>
                  <a:srgbClr val="5B6978"/>
                </a:solidFill>
                <a:latin typeface="Aptos" pitchFamily="34" charset="0"/>
                <a:ea typeface="Aptos" pitchFamily="34" charset="-122"/>
                <a:cs typeface="Aptos" pitchFamily="34" charset="-120"/>
              </a:rPr>
              <a:t>Deployment revisions, automatic rollback, manual rollback, and protected-target promotion approvals.</a:t>
            </a:r>
            <a:endParaRPr lang="en-US" sz="1130" dirty="0"/>
          </a:p>
        </p:txBody>
      </p:sp>
      <p:sp>
        <p:nvSpPr>
          <p:cNvPr id="22" name="Shape 20"/>
          <p:cNvSpPr/>
          <p:nvPr/>
        </p:nvSpPr>
        <p:spPr>
          <a:xfrm>
            <a:off x="8247888" y="3776472"/>
            <a:ext cx="3346704" cy="1627632"/>
          </a:xfrm>
          <a:prstGeom prst="roundRect">
            <a:avLst>
              <a:gd name="adj" fmla="val 3933"/>
            </a:avLst>
          </a:prstGeom>
          <a:solidFill>
            <a:srgbClr val="ECF8F2"/>
          </a:solidFill>
          <a:ln w="12700">
            <a:solidFill>
              <a:srgbClr val="CFE9DD"/>
            </a:solidFill>
            <a:prstDash val="solid"/>
          </a:ln>
        </p:spPr>
      </p:sp>
      <p:sp>
        <p:nvSpPr>
          <p:cNvPr id="23" name="Text 21"/>
          <p:cNvSpPr/>
          <p:nvPr/>
        </p:nvSpPr>
        <p:spPr>
          <a:xfrm>
            <a:off x="8412480" y="3904488"/>
            <a:ext cx="3017520" cy="201168"/>
          </a:xfrm>
          <a:prstGeom prst="rect">
            <a:avLst/>
          </a:prstGeom>
          <a:noFill/>
          <a:ln/>
        </p:spPr>
        <p:txBody>
          <a:bodyPr wrap="square" lIns="0" tIns="0" rIns="0" bIns="0" rtlCol="0" anchor="ctr"/>
          <a:lstStyle/>
          <a:p>
            <a:pPr indent="0" marL="0">
              <a:buNone/>
            </a:pPr>
            <a:r>
              <a:rPr lang="en-US" sz="1400" b="1" dirty="0">
                <a:solidFill>
                  <a:srgbClr val="102133"/>
                </a:solidFill>
                <a:latin typeface="Aptos Display" pitchFamily="34" charset="0"/>
                <a:ea typeface="Aptos Display" pitchFamily="34" charset="-122"/>
                <a:cs typeface="Aptos Display" pitchFamily="34" charset="-120"/>
              </a:rPr>
              <a:t>Managed Mode</a:t>
            </a:r>
            <a:endParaRPr lang="en-US" sz="1400" dirty="0"/>
          </a:p>
        </p:txBody>
      </p:sp>
      <p:sp>
        <p:nvSpPr>
          <p:cNvPr id="24" name="Text 22"/>
          <p:cNvSpPr/>
          <p:nvPr/>
        </p:nvSpPr>
        <p:spPr>
          <a:xfrm>
            <a:off x="8412480" y="4187952"/>
            <a:ext cx="3017520" cy="1097280"/>
          </a:xfrm>
          <a:prstGeom prst="rect">
            <a:avLst/>
          </a:prstGeom>
          <a:noFill/>
          <a:ln/>
        </p:spPr>
        <p:txBody>
          <a:bodyPr wrap="square" lIns="0" tIns="0" rIns="0" bIns="0" rtlCol="0" anchor="ctr">
            <a:normAutofit/>
          </a:bodyPr>
          <a:lstStyle/>
          <a:p>
            <a:pPr indent="0" marL="0">
              <a:buNone/>
            </a:pPr>
            <a:r>
              <a:rPr lang="en-US" sz="1130" dirty="0">
                <a:solidFill>
                  <a:srgbClr val="5B6978"/>
                </a:solidFill>
                <a:latin typeface="Aptos" pitchFamily="34" charset="0"/>
                <a:ea typeface="Aptos" pitchFamily="34" charset="-122"/>
                <a:cs typeface="Aptos" pitchFamily="34" charset="-120"/>
              </a:rPr>
              <a:t>Supported imports for standalone Next.js, React, CRA, and static HTML applications.</a:t>
            </a:r>
            <a:endParaRPr lang="en-US" sz="1130" dirty="0"/>
          </a:p>
        </p:txBody>
      </p:sp>
      <p:sp>
        <p:nvSpPr>
          <p:cNvPr id="25" name="Text 23"/>
          <p:cNvSpPr/>
          <p:nvPr/>
        </p:nvSpPr>
        <p:spPr>
          <a:xfrm>
            <a:off x="11338560" y="6409944"/>
            <a:ext cx="256032" cy="146304"/>
          </a:xfrm>
          <a:prstGeom prst="rect">
            <a:avLst/>
          </a:prstGeom>
          <a:noFill/>
          <a:ln/>
        </p:spPr>
        <p:txBody>
          <a:bodyPr wrap="square" lIns="0" tIns="0" rIns="0" bIns="0" rtlCol="0" anchor="ctr"/>
          <a:lstStyle/>
          <a:p>
            <a:pPr algn="r" indent="0" marL="0">
              <a:buNone/>
            </a:pPr>
            <a:r>
              <a:rPr lang="en-US" sz="950" dirty="0">
                <a:solidFill>
                  <a:srgbClr val="5B6978"/>
                </a:solidFill>
                <a:latin typeface="Aptos" pitchFamily="34" charset="0"/>
                <a:ea typeface="Aptos" pitchFamily="34" charset="-122"/>
                <a:cs typeface="Aptos" pitchFamily="34" charset="-120"/>
              </a:rPr>
              <a:t>3</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8F2"/>
        </a:solidFill>
      </p:bgPr>
    </p:bg>
    <p:spTree>
      <p:nvGrpSpPr>
        <p:cNvPr id="1" name=""/>
        <p:cNvGrpSpPr/>
        <p:nvPr/>
      </p:nvGrpSpPr>
      <p:grpSpPr>
        <a:xfrm>
          <a:off x="0" y="0"/>
          <a:ext cx="0" cy="0"/>
          <a:chOff x="0" y="0"/>
          <a:chExt cx="0" cy="0"/>
        </a:xfrm>
      </p:grpSpPr>
      <p:sp>
        <p:nvSpPr>
          <p:cNvPr id="2" name="Shape 0"/>
          <p:cNvSpPr/>
          <p:nvPr/>
        </p:nvSpPr>
        <p:spPr>
          <a:xfrm>
            <a:off x="0" y="0"/>
            <a:ext cx="12191695" cy="201168"/>
          </a:xfrm>
          <a:prstGeom prst="rect">
            <a:avLst/>
          </a:prstGeom>
          <a:solidFill>
            <a:srgbClr val="2E68FF"/>
          </a:solidFill>
          <a:ln w="12700">
            <a:solidFill>
              <a:srgbClr val="2E68FF"/>
            </a:solidFill>
            <a:prstDash val="solid"/>
          </a:ln>
        </p:spPr>
      </p:sp>
      <p:sp>
        <p:nvSpPr>
          <p:cNvPr id="3" name="Text 1"/>
          <p:cNvSpPr/>
          <p:nvPr/>
        </p:nvSpPr>
        <p:spPr>
          <a:xfrm>
            <a:off x="621792" y="347472"/>
            <a:ext cx="3108960" cy="201168"/>
          </a:xfrm>
          <a:prstGeom prst="rect">
            <a:avLst/>
          </a:prstGeom>
          <a:noFill/>
          <a:ln/>
        </p:spPr>
        <p:txBody>
          <a:bodyPr wrap="square" lIns="0" tIns="0" rIns="0" bIns="0" rtlCol="0" anchor="ctr"/>
          <a:lstStyle/>
          <a:p>
            <a:pPr indent="0" marL="0">
              <a:buNone/>
            </a:pPr>
            <a:r>
              <a:rPr lang="en-US" sz="1000" b="1" dirty="0">
                <a:solidFill>
                  <a:srgbClr val="2E68FF"/>
                </a:solidFill>
                <a:latin typeface="Aptos" pitchFamily="34" charset="0"/>
                <a:ea typeface="Aptos" pitchFamily="34" charset="-122"/>
                <a:cs typeface="Aptos" pitchFamily="34" charset="-120"/>
              </a:rPr>
              <a:t>Architecture</a:t>
            </a:r>
            <a:endParaRPr lang="en-US" sz="1000" dirty="0"/>
          </a:p>
        </p:txBody>
      </p:sp>
      <p:sp>
        <p:nvSpPr>
          <p:cNvPr id="4" name="Text 2"/>
          <p:cNvSpPr/>
          <p:nvPr/>
        </p:nvSpPr>
        <p:spPr>
          <a:xfrm>
            <a:off x="621792" y="658368"/>
            <a:ext cx="8046720" cy="457200"/>
          </a:xfrm>
          <a:prstGeom prst="rect">
            <a:avLst/>
          </a:prstGeom>
          <a:noFill/>
          <a:ln/>
        </p:spPr>
        <p:txBody>
          <a:bodyPr wrap="square" lIns="0" tIns="0" rIns="0" bIns="0" rtlCol="0" anchor="ctr"/>
          <a:lstStyle/>
          <a:p>
            <a:pPr indent="0" marL="0">
              <a:buNone/>
            </a:pPr>
            <a:r>
              <a:rPr lang="en-US" sz="2400" b="1" dirty="0">
                <a:solidFill>
                  <a:srgbClr val="102133"/>
                </a:solidFill>
                <a:latin typeface="Aptos Display" pitchFamily="34" charset="0"/>
                <a:ea typeface="Aptos Display" pitchFamily="34" charset="-122"/>
                <a:cs typeface="Aptos Display" pitchFamily="34" charset="-120"/>
              </a:rPr>
              <a:t>How the system is split up</a:t>
            </a:r>
            <a:endParaRPr lang="en-US" sz="2400" dirty="0"/>
          </a:p>
        </p:txBody>
      </p:sp>
      <p:sp>
        <p:nvSpPr>
          <p:cNvPr id="5" name="Text 3"/>
          <p:cNvSpPr/>
          <p:nvPr/>
        </p:nvSpPr>
        <p:spPr>
          <a:xfrm>
            <a:off x="621792" y="1143000"/>
            <a:ext cx="9784080" cy="310896"/>
          </a:xfrm>
          <a:prstGeom prst="rect">
            <a:avLst/>
          </a:prstGeom>
          <a:noFill/>
          <a:ln/>
        </p:spPr>
        <p:txBody>
          <a:bodyPr wrap="square" lIns="0" tIns="0" rIns="0" bIns="0" rtlCol="0" anchor="ctr"/>
          <a:lstStyle/>
          <a:p>
            <a:pPr indent="0" marL="0">
              <a:buNone/>
            </a:pPr>
            <a:r>
              <a:rPr lang="en-US" sz="1150" dirty="0">
                <a:solidFill>
                  <a:srgbClr val="5B6978"/>
                </a:solidFill>
                <a:latin typeface="Aptos" pitchFamily="34" charset="0"/>
                <a:ea typeface="Aptos" pitchFamily="34" charset="-122"/>
                <a:cs typeface="Aptos" pitchFamily="34" charset="-120"/>
              </a:rPr>
              <a:t>Clean separation between control plane, execution, product UI, and shared platform logic.</a:t>
            </a:r>
            <a:endParaRPr lang="en-US" sz="1150" dirty="0"/>
          </a:p>
        </p:txBody>
      </p:sp>
      <p:sp>
        <p:nvSpPr>
          <p:cNvPr id="6" name="Text 4"/>
          <p:cNvSpPr/>
          <p:nvPr/>
        </p:nvSpPr>
        <p:spPr>
          <a:xfrm>
            <a:off x="10652760" y="347472"/>
            <a:ext cx="914400" cy="201168"/>
          </a:xfrm>
          <a:prstGeom prst="rect">
            <a:avLst/>
          </a:prstGeom>
          <a:noFill/>
          <a:ln/>
        </p:spPr>
        <p:txBody>
          <a:bodyPr wrap="square" lIns="0" tIns="0" rIns="0" bIns="0" rtlCol="0" anchor="ctr"/>
          <a:lstStyle/>
          <a:p>
            <a:pPr algn="r" indent="0" marL="0">
              <a:buNone/>
            </a:pPr>
            <a:r>
              <a:rPr lang="en-US" sz="1000" b="1" dirty="0">
                <a:solidFill>
                  <a:srgbClr val="5B6978"/>
                </a:solidFill>
                <a:latin typeface="Aptos" pitchFamily="34" charset="0"/>
                <a:ea typeface="Aptos" pitchFamily="34" charset="-122"/>
                <a:cs typeface="Aptos" pitchFamily="34" charset="-120"/>
              </a:rPr>
              <a:t>AutoOps</a:t>
            </a:r>
            <a:endParaRPr lang="en-US" sz="1000" dirty="0"/>
          </a:p>
        </p:txBody>
      </p:sp>
      <p:sp>
        <p:nvSpPr>
          <p:cNvPr id="7" name="Shape 5"/>
          <p:cNvSpPr/>
          <p:nvPr/>
        </p:nvSpPr>
        <p:spPr>
          <a:xfrm>
            <a:off x="768096" y="1874520"/>
            <a:ext cx="2011680" cy="1097280"/>
          </a:xfrm>
          <a:prstGeom prst="roundRect">
            <a:avLst>
              <a:gd name="adj" fmla="val 5833"/>
            </a:avLst>
          </a:prstGeom>
          <a:solidFill>
            <a:srgbClr val="F4F8FF"/>
          </a:solidFill>
          <a:ln w="12700">
            <a:solidFill>
              <a:srgbClr val="D4E4FF"/>
            </a:solidFill>
            <a:prstDash val="solid"/>
          </a:ln>
        </p:spPr>
      </p:sp>
      <p:sp>
        <p:nvSpPr>
          <p:cNvPr id="8" name="Text 6"/>
          <p:cNvSpPr/>
          <p:nvPr/>
        </p:nvSpPr>
        <p:spPr>
          <a:xfrm>
            <a:off x="932688" y="2002536"/>
            <a:ext cx="1682496" cy="201168"/>
          </a:xfrm>
          <a:prstGeom prst="rect">
            <a:avLst/>
          </a:prstGeom>
          <a:noFill/>
          <a:ln/>
        </p:spPr>
        <p:txBody>
          <a:bodyPr wrap="square" lIns="0" tIns="0" rIns="0" bIns="0" rtlCol="0" anchor="ctr"/>
          <a:lstStyle/>
          <a:p>
            <a:pPr indent="0" marL="0">
              <a:buNone/>
            </a:pPr>
            <a:r>
              <a:rPr lang="en-US" sz="1400" b="1" dirty="0">
                <a:solidFill>
                  <a:srgbClr val="102133"/>
                </a:solidFill>
                <a:latin typeface="Aptos Display" pitchFamily="34" charset="0"/>
                <a:ea typeface="Aptos Display" pitchFamily="34" charset="-122"/>
                <a:cs typeface="Aptos Display" pitchFamily="34" charset="-120"/>
              </a:rPr>
              <a:t>GitHub</a:t>
            </a:r>
            <a:endParaRPr lang="en-US" sz="1400" dirty="0"/>
          </a:p>
        </p:txBody>
      </p:sp>
      <p:sp>
        <p:nvSpPr>
          <p:cNvPr id="9" name="Text 7"/>
          <p:cNvSpPr/>
          <p:nvPr/>
        </p:nvSpPr>
        <p:spPr>
          <a:xfrm>
            <a:off x="932688" y="2286000"/>
            <a:ext cx="1682496" cy="566928"/>
          </a:xfrm>
          <a:prstGeom prst="rect">
            <a:avLst/>
          </a:prstGeom>
          <a:noFill/>
          <a:ln/>
        </p:spPr>
        <p:txBody>
          <a:bodyPr wrap="square" lIns="0" tIns="0" rIns="0" bIns="0" rtlCol="0" anchor="ctr">
            <a:normAutofit/>
          </a:bodyPr>
          <a:lstStyle/>
          <a:p>
            <a:pPr indent="0" marL="0">
              <a:buNone/>
            </a:pPr>
            <a:r>
              <a:rPr lang="en-US" sz="1130" dirty="0">
                <a:solidFill>
                  <a:srgbClr val="5B6978"/>
                </a:solidFill>
                <a:latin typeface="Aptos" pitchFamily="34" charset="0"/>
                <a:ea typeface="Aptos" pitchFamily="34" charset="-122"/>
                <a:cs typeface="Aptos" pitchFamily="34" charset="-120"/>
              </a:rPr>
              <a:t>Installations</a:t>
            </a:r>
            <a:endParaRPr lang="en-US" sz="1130" dirty="0"/>
          </a:p>
          <a:p>
            <a:pPr indent="0" marL="0">
              <a:buNone/>
            </a:pPr>
            <a:r>
              <a:rPr lang="en-US" sz="1130" dirty="0">
                <a:solidFill>
                  <a:srgbClr val="5B6978"/>
                </a:solidFill>
                <a:latin typeface="Aptos" pitchFamily="34" charset="0"/>
                <a:ea typeface="Aptos" pitchFamily="34" charset="-122"/>
                <a:cs typeface="Aptos" pitchFamily="34" charset="-120"/>
              </a:rPr>
              <a:t>Push webhooks</a:t>
            </a:r>
            <a:endParaRPr lang="en-US" sz="1130" dirty="0"/>
          </a:p>
          <a:p>
            <a:pPr indent="0" marL="0">
              <a:buNone/>
            </a:pPr>
            <a:r>
              <a:rPr lang="en-US" sz="1130" dirty="0">
                <a:solidFill>
                  <a:srgbClr val="5B6978"/>
                </a:solidFill>
                <a:latin typeface="Aptos" pitchFamily="34" charset="0"/>
                <a:ea typeface="Aptos" pitchFamily="34" charset="-122"/>
                <a:cs typeface="Aptos" pitchFamily="34" charset="-120"/>
              </a:rPr>
              <a:t>Repository access</a:t>
            </a:r>
            <a:endParaRPr lang="en-US" sz="1130" dirty="0"/>
          </a:p>
        </p:txBody>
      </p:sp>
      <p:sp>
        <p:nvSpPr>
          <p:cNvPr id="10" name="Shape 8"/>
          <p:cNvSpPr/>
          <p:nvPr/>
        </p:nvSpPr>
        <p:spPr>
          <a:xfrm>
            <a:off x="2999232" y="1664208"/>
            <a:ext cx="2331720" cy="1417320"/>
          </a:xfrm>
          <a:prstGeom prst="roundRect">
            <a:avLst>
              <a:gd name="adj" fmla="val 4516"/>
            </a:avLst>
          </a:prstGeom>
          <a:solidFill>
            <a:srgbClr val="FFFFFF"/>
          </a:solidFill>
          <a:ln w="12700">
            <a:solidFill>
              <a:srgbClr val="DCE4EE"/>
            </a:solidFill>
            <a:prstDash val="solid"/>
          </a:ln>
        </p:spPr>
      </p:sp>
      <p:sp>
        <p:nvSpPr>
          <p:cNvPr id="11" name="Text 9"/>
          <p:cNvSpPr/>
          <p:nvPr/>
        </p:nvSpPr>
        <p:spPr>
          <a:xfrm>
            <a:off x="3163824" y="1792224"/>
            <a:ext cx="2002536" cy="201168"/>
          </a:xfrm>
          <a:prstGeom prst="rect">
            <a:avLst/>
          </a:prstGeom>
          <a:noFill/>
          <a:ln/>
        </p:spPr>
        <p:txBody>
          <a:bodyPr wrap="square" lIns="0" tIns="0" rIns="0" bIns="0" rtlCol="0" anchor="ctr"/>
          <a:lstStyle/>
          <a:p>
            <a:pPr indent="0" marL="0">
              <a:buNone/>
            </a:pPr>
            <a:r>
              <a:rPr lang="en-US" sz="1400" b="1" dirty="0">
                <a:solidFill>
                  <a:srgbClr val="102133"/>
                </a:solidFill>
                <a:latin typeface="Aptos Display" pitchFamily="34" charset="0"/>
                <a:ea typeface="Aptos Display" pitchFamily="34" charset="-122"/>
                <a:cs typeface="Aptos Display" pitchFamily="34" charset="-120"/>
              </a:rPr>
              <a:t>apps/api</a:t>
            </a:r>
            <a:endParaRPr lang="en-US" sz="1400" dirty="0"/>
          </a:p>
        </p:txBody>
      </p:sp>
      <p:sp>
        <p:nvSpPr>
          <p:cNvPr id="12" name="Text 10"/>
          <p:cNvSpPr/>
          <p:nvPr/>
        </p:nvSpPr>
        <p:spPr>
          <a:xfrm>
            <a:off x="3163824" y="2075688"/>
            <a:ext cx="2002536" cy="886968"/>
          </a:xfrm>
          <a:prstGeom prst="rect">
            <a:avLst/>
          </a:prstGeom>
          <a:noFill/>
          <a:ln/>
        </p:spPr>
        <p:txBody>
          <a:bodyPr wrap="square" lIns="0" tIns="0" rIns="0" bIns="0" rtlCol="0" anchor="ctr">
            <a:normAutofit/>
          </a:bodyPr>
          <a:lstStyle/>
          <a:p>
            <a:pPr indent="0" marL="0">
              <a:buNone/>
            </a:pPr>
            <a:r>
              <a:rPr lang="en-US" sz="1130" dirty="0">
                <a:solidFill>
                  <a:srgbClr val="5B6978"/>
                </a:solidFill>
                <a:latin typeface="Aptos" pitchFamily="34" charset="0"/>
                <a:ea typeface="Aptos" pitchFamily="34" charset="-122"/>
                <a:cs typeface="Aptos" pitchFamily="34" charset="-120"/>
              </a:rPr>
              <a:t>Express control plane</a:t>
            </a:r>
            <a:endParaRPr lang="en-US" sz="1130" dirty="0"/>
          </a:p>
          <a:p>
            <a:pPr indent="0" marL="0">
              <a:buNone/>
            </a:pPr>
            <a:r>
              <a:rPr lang="en-US" sz="1130" dirty="0">
                <a:solidFill>
                  <a:srgbClr val="5B6978"/>
                </a:solidFill>
                <a:latin typeface="Aptos" pitchFamily="34" charset="0"/>
                <a:ea typeface="Aptos" pitchFamily="34" charset="-122"/>
                <a:cs typeface="Aptos" pitchFamily="34" charset="-120"/>
              </a:rPr>
              <a:t>Authentication</a:t>
            </a:r>
            <a:endParaRPr lang="en-US" sz="1130" dirty="0"/>
          </a:p>
          <a:p>
            <a:pPr indent="0" marL="0">
              <a:buNone/>
            </a:pPr>
            <a:r>
              <a:rPr lang="en-US" sz="1130" dirty="0">
                <a:solidFill>
                  <a:srgbClr val="5B6978"/>
                </a:solidFill>
                <a:latin typeface="Aptos" pitchFamily="34" charset="0"/>
                <a:ea typeface="Aptos" pitchFamily="34" charset="-122"/>
                <a:cs typeface="Aptos" pitchFamily="34" charset="-120"/>
              </a:rPr>
              <a:t>Project and deployment APIs</a:t>
            </a:r>
            <a:endParaRPr lang="en-US" sz="1130" dirty="0"/>
          </a:p>
          <a:p>
            <a:pPr indent="0" marL="0">
              <a:buNone/>
            </a:pPr>
            <a:r>
              <a:rPr lang="en-US" sz="1130" dirty="0">
                <a:solidFill>
                  <a:srgbClr val="5B6978"/>
                </a:solidFill>
                <a:latin typeface="Aptos" pitchFamily="34" charset="0"/>
                <a:ea typeface="Aptos" pitchFamily="34" charset="-122"/>
                <a:cs typeface="Aptos" pitchFamily="34" charset="-120"/>
              </a:rPr>
              <a:t>Repository analysis</a:t>
            </a:r>
            <a:endParaRPr lang="en-US" sz="1130" dirty="0"/>
          </a:p>
        </p:txBody>
      </p:sp>
      <p:sp>
        <p:nvSpPr>
          <p:cNvPr id="13" name="Shape 11"/>
          <p:cNvSpPr/>
          <p:nvPr/>
        </p:nvSpPr>
        <p:spPr>
          <a:xfrm>
            <a:off x="2999232" y="3703320"/>
            <a:ext cx="2331720" cy="1417320"/>
          </a:xfrm>
          <a:prstGeom prst="roundRect">
            <a:avLst>
              <a:gd name="adj" fmla="val 4516"/>
            </a:avLst>
          </a:prstGeom>
          <a:solidFill>
            <a:srgbClr val="FFFFFF"/>
          </a:solidFill>
          <a:ln w="12700">
            <a:solidFill>
              <a:srgbClr val="DCE4EE"/>
            </a:solidFill>
            <a:prstDash val="solid"/>
          </a:ln>
        </p:spPr>
      </p:sp>
      <p:sp>
        <p:nvSpPr>
          <p:cNvPr id="14" name="Text 12"/>
          <p:cNvSpPr/>
          <p:nvPr/>
        </p:nvSpPr>
        <p:spPr>
          <a:xfrm>
            <a:off x="3163824" y="3831336"/>
            <a:ext cx="2002536" cy="201168"/>
          </a:xfrm>
          <a:prstGeom prst="rect">
            <a:avLst/>
          </a:prstGeom>
          <a:noFill/>
          <a:ln/>
        </p:spPr>
        <p:txBody>
          <a:bodyPr wrap="square" lIns="0" tIns="0" rIns="0" bIns="0" rtlCol="0" anchor="ctr"/>
          <a:lstStyle/>
          <a:p>
            <a:pPr indent="0" marL="0">
              <a:buNone/>
            </a:pPr>
            <a:r>
              <a:rPr lang="en-US" sz="1400" b="1" dirty="0">
                <a:solidFill>
                  <a:srgbClr val="102133"/>
                </a:solidFill>
                <a:latin typeface="Aptos Display" pitchFamily="34" charset="0"/>
                <a:ea typeface="Aptos Display" pitchFamily="34" charset="-122"/>
                <a:cs typeface="Aptos Display" pitchFamily="34" charset="-120"/>
              </a:rPr>
              <a:t>apps/web</a:t>
            </a:r>
            <a:endParaRPr lang="en-US" sz="1400" dirty="0"/>
          </a:p>
        </p:txBody>
      </p:sp>
      <p:sp>
        <p:nvSpPr>
          <p:cNvPr id="15" name="Text 13"/>
          <p:cNvSpPr/>
          <p:nvPr/>
        </p:nvSpPr>
        <p:spPr>
          <a:xfrm>
            <a:off x="3163824" y="4114800"/>
            <a:ext cx="2002536" cy="886968"/>
          </a:xfrm>
          <a:prstGeom prst="rect">
            <a:avLst/>
          </a:prstGeom>
          <a:noFill/>
          <a:ln/>
        </p:spPr>
        <p:txBody>
          <a:bodyPr wrap="square" lIns="0" tIns="0" rIns="0" bIns="0" rtlCol="0" anchor="ctr">
            <a:normAutofit/>
          </a:bodyPr>
          <a:lstStyle/>
          <a:p>
            <a:pPr indent="0" marL="0">
              <a:buNone/>
            </a:pPr>
            <a:r>
              <a:rPr lang="en-US" sz="1130" dirty="0">
                <a:solidFill>
                  <a:srgbClr val="5B6978"/>
                </a:solidFill>
                <a:latin typeface="Aptos" pitchFamily="34" charset="0"/>
                <a:ea typeface="Aptos" pitchFamily="34" charset="-122"/>
                <a:cs typeface="Aptos" pitchFamily="34" charset="-120"/>
              </a:rPr>
              <a:t>React 19 dashboard</a:t>
            </a:r>
            <a:endParaRPr lang="en-US" sz="1130" dirty="0"/>
          </a:p>
          <a:p>
            <a:pPr indent="0" marL="0">
              <a:buNone/>
            </a:pPr>
            <a:r>
              <a:rPr lang="en-US" sz="1130" dirty="0">
                <a:solidFill>
                  <a:srgbClr val="5B6978"/>
                </a:solidFill>
                <a:latin typeface="Aptos" pitchFamily="34" charset="0"/>
                <a:ea typeface="Aptos" pitchFamily="34" charset="-122"/>
                <a:cs typeface="Aptos" pitchFamily="34" charset="-120"/>
              </a:rPr>
              <a:t>Operator workflows</a:t>
            </a:r>
            <a:endParaRPr lang="en-US" sz="1130" dirty="0"/>
          </a:p>
          <a:p>
            <a:pPr indent="0" marL="0">
              <a:buNone/>
            </a:pPr>
            <a:r>
              <a:rPr lang="en-US" sz="1130" dirty="0">
                <a:solidFill>
                  <a:srgbClr val="5B6978"/>
                </a:solidFill>
                <a:latin typeface="Aptos" pitchFamily="34" charset="0"/>
                <a:ea typeface="Aptos" pitchFamily="34" charset="-122"/>
                <a:cs typeface="Aptos" pitchFamily="34" charset="-120"/>
              </a:rPr>
              <a:t>Run and deployment views</a:t>
            </a:r>
            <a:endParaRPr lang="en-US" sz="1130" dirty="0"/>
          </a:p>
          <a:p>
            <a:pPr indent="0" marL="0">
              <a:buNone/>
            </a:pPr>
            <a:r>
              <a:rPr lang="en-US" sz="1130" dirty="0">
                <a:solidFill>
                  <a:srgbClr val="5B6978"/>
                </a:solidFill>
                <a:latin typeface="Aptos" pitchFamily="34" charset="0"/>
                <a:ea typeface="Aptos" pitchFamily="34" charset="-122"/>
                <a:cs typeface="Aptos" pitchFamily="34" charset="-120"/>
              </a:rPr>
              <a:t>Approvals and activity</a:t>
            </a:r>
            <a:endParaRPr lang="en-US" sz="1130" dirty="0"/>
          </a:p>
        </p:txBody>
      </p:sp>
      <p:sp>
        <p:nvSpPr>
          <p:cNvPr id="16" name="Shape 14"/>
          <p:cNvSpPr/>
          <p:nvPr/>
        </p:nvSpPr>
        <p:spPr>
          <a:xfrm>
            <a:off x="5632704" y="1664208"/>
            <a:ext cx="2240280" cy="1417320"/>
          </a:xfrm>
          <a:prstGeom prst="roundRect">
            <a:avLst>
              <a:gd name="adj" fmla="val 4516"/>
            </a:avLst>
          </a:prstGeom>
          <a:solidFill>
            <a:srgbClr val="F5F8FC"/>
          </a:solidFill>
          <a:ln w="12700">
            <a:solidFill>
              <a:srgbClr val="DCE4EE"/>
            </a:solidFill>
            <a:prstDash val="solid"/>
          </a:ln>
        </p:spPr>
      </p:sp>
      <p:sp>
        <p:nvSpPr>
          <p:cNvPr id="17" name="Text 15"/>
          <p:cNvSpPr/>
          <p:nvPr/>
        </p:nvSpPr>
        <p:spPr>
          <a:xfrm>
            <a:off x="5797296" y="1792224"/>
            <a:ext cx="1911096" cy="201168"/>
          </a:xfrm>
          <a:prstGeom prst="rect">
            <a:avLst/>
          </a:prstGeom>
          <a:noFill/>
          <a:ln/>
        </p:spPr>
        <p:txBody>
          <a:bodyPr wrap="square" lIns="0" tIns="0" rIns="0" bIns="0" rtlCol="0" anchor="ctr"/>
          <a:lstStyle/>
          <a:p>
            <a:pPr indent="0" marL="0">
              <a:buNone/>
            </a:pPr>
            <a:r>
              <a:rPr lang="en-US" sz="1400" b="1" dirty="0">
                <a:solidFill>
                  <a:srgbClr val="102133"/>
                </a:solidFill>
                <a:latin typeface="Aptos Display" pitchFamily="34" charset="0"/>
                <a:ea typeface="Aptos Display" pitchFamily="34" charset="-122"/>
                <a:cs typeface="Aptos Display" pitchFamily="34" charset="-120"/>
              </a:rPr>
              <a:t>packages/core</a:t>
            </a:r>
            <a:endParaRPr lang="en-US" sz="1400" dirty="0"/>
          </a:p>
        </p:txBody>
      </p:sp>
      <p:sp>
        <p:nvSpPr>
          <p:cNvPr id="18" name="Text 16"/>
          <p:cNvSpPr/>
          <p:nvPr/>
        </p:nvSpPr>
        <p:spPr>
          <a:xfrm>
            <a:off x="5797296" y="2075688"/>
            <a:ext cx="1911096" cy="886968"/>
          </a:xfrm>
          <a:prstGeom prst="rect">
            <a:avLst/>
          </a:prstGeom>
          <a:noFill/>
          <a:ln/>
        </p:spPr>
        <p:txBody>
          <a:bodyPr wrap="square" lIns="0" tIns="0" rIns="0" bIns="0" rtlCol="0" anchor="ctr">
            <a:normAutofit/>
          </a:bodyPr>
          <a:lstStyle/>
          <a:p>
            <a:pPr indent="0" marL="0">
              <a:buNone/>
            </a:pPr>
            <a:r>
              <a:rPr lang="en-US" sz="1130" dirty="0">
                <a:solidFill>
                  <a:srgbClr val="5B6978"/>
                </a:solidFill>
                <a:latin typeface="Aptos" pitchFamily="34" charset="0"/>
                <a:ea typeface="Aptos" pitchFamily="34" charset="-122"/>
                <a:cs typeface="Aptos" pitchFamily="34" charset="-120"/>
              </a:rPr>
              <a:t>Shared types</a:t>
            </a:r>
            <a:endParaRPr lang="en-US" sz="1130" dirty="0"/>
          </a:p>
          <a:p>
            <a:pPr indent="0" marL="0">
              <a:buNone/>
            </a:pPr>
            <a:r>
              <a:rPr lang="en-US" sz="1130" dirty="0">
                <a:solidFill>
                  <a:srgbClr val="5B6978"/>
                </a:solidFill>
                <a:latin typeface="Aptos" pitchFamily="34" charset="0"/>
                <a:ea typeface="Aptos" pitchFamily="34" charset="-122"/>
                <a:cs typeface="Aptos" pitchFamily="34" charset="-120"/>
              </a:rPr>
              <a:t>Pipeline parsing</a:t>
            </a:r>
            <a:endParaRPr lang="en-US" sz="1130" dirty="0"/>
          </a:p>
          <a:p>
            <a:pPr indent="0" marL="0">
              <a:buNone/>
            </a:pPr>
            <a:r>
              <a:rPr lang="en-US" sz="1130" dirty="0">
                <a:solidFill>
                  <a:srgbClr val="5B6978"/>
                </a:solidFill>
                <a:latin typeface="Aptos" pitchFamily="34" charset="0"/>
                <a:ea typeface="Aptos" pitchFamily="34" charset="-122"/>
                <a:cs typeface="Aptos" pitchFamily="34" charset="-120"/>
              </a:rPr>
              <a:t>Security helpers</a:t>
            </a:r>
            <a:endParaRPr lang="en-US" sz="1130" dirty="0"/>
          </a:p>
          <a:p>
            <a:pPr indent="0" marL="0">
              <a:buNone/>
            </a:pPr>
            <a:r>
              <a:rPr lang="en-US" sz="1130" dirty="0">
                <a:solidFill>
                  <a:srgbClr val="5B6978"/>
                </a:solidFill>
                <a:latin typeface="Aptos" pitchFamily="34" charset="0"/>
                <a:ea typeface="Aptos" pitchFamily="34" charset="-122"/>
                <a:cs typeface="Aptos" pitchFamily="34" charset="-120"/>
              </a:rPr>
              <a:t>Rollback logic</a:t>
            </a:r>
            <a:endParaRPr lang="en-US" sz="1130" dirty="0"/>
          </a:p>
        </p:txBody>
      </p:sp>
      <p:sp>
        <p:nvSpPr>
          <p:cNvPr id="19" name="Shape 17"/>
          <p:cNvSpPr/>
          <p:nvPr/>
        </p:nvSpPr>
        <p:spPr>
          <a:xfrm>
            <a:off x="5632704" y="3703320"/>
            <a:ext cx="2240280" cy="1417320"/>
          </a:xfrm>
          <a:prstGeom prst="roundRect">
            <a:avLst>
              <a:gd name="adj" fmla="val 4516"/>
            </a:avLst>
          </a:prstGeom>
          <a:solidFill>
            <a:srgbClr val="F5F8FC"/>
          </a:solidFill>
          <a:ln w="12700">
            <a:solidFill>
              <a:srgbClr val="DCE4EE"/>
            </a:solidFill>
            <a:prstDash val="solid"/>
          </a:ln>
        </p:spPr>
      </p:sp>
      <p:sp>
        <p:nvSpPr>
          <p:cNvPr id="20" name="Text 18"/>
          <p:cNvSpPr/>
          <p:nvPr/>
        </p:nvSpPr>
        <p:spPr>
          <a:xfrm>
            <a:off x="5797296" y="3831336"/>
            <a:ext cx="1911096" cy="201168"/>
          </a:xfrm>
          <a:prstGeom prst="rect">
            <a:avLst/>
          </a:prstGeom>
          <a:noFill/>
          <a:ln/>
        </p:spPr>
        <p:txBody>
          <a:bodyPr wrap="square" lIns="0" tIns="0" rIns="0" bIns="0" rtlCol="0" anchor="ctr"/>
          <a:lstStyle/>
          <a:p>
            <a:pPr indent="0" marL="0">
              <a:buNone/>
            </a:pPr>
            <a:r>
              <a:rPr lang="en-US" sz="1400" b="1" dirty="0">
                <a:solidFill>
                  <a:srgbClr val="102133"/>
                </a:solidFill>
                <a:latin typeface="Aptos Display" pitchFamily="34" charset="0"/>
                <a:ea typeface="Aptos Display" pitchFamily="34" charset="-122"/>
                <a:cs typeface="Aptos Display" pitchFamily="34" charset="-120"/>
              </a:rPr>
              <a:t>packages/db</a:t>
            </a:r>
            <a:endParaRPr lang="en-US" sz="1400" dirty="0"/>
          </a:p>
        </p:txBody>
      </p:sp>
      <p:sp>
        <p:nvSpPr>
          <p:cNvPr id="21" name="Text 19"/>
          <p:cNvSpPr/>
          <p:nvPr/>
        </p:nvSpPr>
        <p:spPr>
          <a:xfrm>
            <a:off x="5797296" y="4114800"/>
            <a:ext cx="1911096" cy="886968"/>
          </a:xfrm>
          <a:prstGeom prst="rect">
            <a:avLst/>
          </a:prstGeom>
          <a:noFill/>
          <a:ln/>
        </p:spPr>
        <p:txBody>
          <a:bodyPr wrap="square" lIns="0" tIns="0" rIns="0" bIns="0" rtlCol="0" anchor="ctr">
            <a:normAutofit/>
          </a:bodyPr>
          <a:lstStyle/>
          <a:p>
            <a:pPr indent="0" marL="0">
              <a:buNone/>
            </a:pPr>
            <a:r>
              <a:rPr lang="en-US" sz="1130" dirty="0">
                <a:solidFill>
                  <a:srgbClr val="5B6978"/>
                </a:solidFill>
                <a:latin typeface="Aptos" pitchFamily="34" charset="0"/>
                <a:ea typeface="Aptos" pitchFamily="34" charset="-122"/>
                <a:cs typeface="Aptos" pitchFamily="34" charset="-120"/>
              </a:rPr>
              <a:t>Postgres schema</a:t>
            </a:r>
            <a:endParaRPr lang="en-US" sz="1130" dirty="0"/>
          </a:p>
          <a:p>
            <a:pPr indent="0" marL="0">
              <a:buNone/>
            </a:pPr>
            <a:r>
              <a:rPr lang="en-US" sz="1130" dirty="0">
                <a:solidFill>
                  <a:srgbClr val="5B6978"/>
                </a:solidFill>
                <a:latin typeface="Aptos" pitchFamily="34" charset="0"/>
                <a:ea typeface="Aptos" pitchFamily="34" charset="-122"/>
                <a:cs typeface="Aptos" pitchFamily="34" charset="-120"/>
              </a:rPr>
              <a:t>Runs, targets, revisions</a:t>
            </a:r>
            <a:endParaRPr lang="en-US" sz="1130" dirty="0"/>
          </a:p>
          <a:p>
            <a:pPr indent="0" marL="0">
              <a:buNone/>
            </a:pPr>
            <a:r>
              <a:rPr lang="en-US" sz="1130" dirty="0">
                <a:solidFill>
                  <a:srgbClr val="5B6978"/>
                </a:solidFill>
                <a:latin typeface="Aptos" pitchFamily="34" charset="0"/>
                <a:ea typeface="Aptos" pitchFamily="34" charset="-122"/>
                <a:cs typeface="Aptos" pitchFamily="34" charset="-120"/>
              </a:rPr>
              <a:t>Secrets, approvals, audit logs</a:t>
            </a:r>
            <a:endParaRPr lang="en-US" sz="1130" dirty="0"/>
          </a:p>
        </p:txBody>
      </p:sp>
      <p:sp>
        <p:nvSpPr>
          <p:cNvPr id="22" name="Shape 20"/>
          <p:cNvSpPr/>
          <p:nvPr/>
        </p:nvSpPr>
        <p:spPr>
          <a:xfrm>
            <a:off x="8193024" y="1664208"/>
            <a:ext cx="2651760" cy="1417320"/>
          </a:xfrm>
          <a:prstGeom prst="roundRect">
            <a:avLst>
              <a:gd name="adj" fmla="val 4516"/>
            </a:avLst>
          </a:prstGeom>
          <a:solidFill>
            <a:srgbClr val="ECF8F2"/>
          </a:solidFill>
          <a:ln w="12700">
            <a:solidFill>
              <a:srgbClr val="CFE9DD"/>
            </a:solidFill>
            <a:prstDash val="solid"/>
          </a:ln>
        </p:spPr>
      </p:sp>
      <p:sp>
        <p:nvSpPr>
          <p:cNvPr id="23" name="Text 21"/>
          <p:cNvSpPr/>
          <p:nvPr/>
        </p:nvSpPr>
        <p:spPr>
          <a:xfrm>
            <a:off x="8357616" y="1792224"/>
            <a:ext cx="2322576" cy="201168"/>
          </a:xfrm>
          <a:prstGeom prst="rect">
            <a:avLst/>
          </a:prstGeom>
          <a:noFill/>
          <a:ln/>
        </p:spPr>
        <p:txBody>
          <a:bodyPr wrap="square" lIns="0" tIns="0" rIns="0" bIns="0" rtlCol="0" anchor="ctr"/>
          <a:lstStyle/>
          <a:p>
            <a:pPr indent="0" marL="0">
              <a:buNone/>
            </a:pPr>
            <a:r>
              <a:rPr lang="en-US" sz="1400" b="1" dirty="0">
                <a:solidFill>
                  <a:srgbClr val="102133"/>
                </a:solidFill>
                <a:latin typeface="Aptos Display" pitchFamily="34" charset="0"/>
                <a:ea typeface="Aptos Display" pitchFamily="34" charset="-122"/>
                <a:cs typeface="Aptos Display" pitchFamily="34" charset="-120"/>
              </a:rPr>
              <a:t>apps/worker</a:t>
            </a:r>
            <a:endParaRPr lang="en-US" sz="1400" dirty="0"/>
          </a:p>
        </p:txBody>
      </p:sp>
      <p:sp>
        <p:nvSpPr>
          <p:cNvPr id="24" name="Text 22"/>
          <p:cNvSpPr/>
          <p:nvPr/>
        </p:nvSpPr>
        <p:spPr>
          <a:xfrm>
            <a:off x="8357616" y="2075688"/>
            <a:ext cx="2322576" cy="886968"/>
          </a:xfrm>
          <a:prstGeom prst="rect">
            <a:avLst/>
          </a:prstGeom>
          <a:noFill/>
          <a:ln/>
        </p:spPr>
        <p:txBody>
          <a:bodyPr wrap="square" lIns="0" tIns="0" rIns="0" bIns="0" rtlCol="0" anchor="ctr">
            <a:normAutofit/>
          </a:bodyPr>
          <a:lstStyle/>
          <a:p>
            <a:pPr indent="0" marL="0">
              <a:buNone/>
            </a:pPr>
            <a:r>
              <a:rPr lang="en-US" sz="1130" dirty="0">
                <a:solidFill>
                  <a:srgbClr val="5B6978"/>
                </a:solidFill>
                <a:latin typeface="Aptos" pitchFamily="34" charset="0"/>
                <a:ea typeface="Aptos" pitchFamily="34" charset="-122"/>
                <a:cs typeface="Aptos" pitchFamily="34" charset="-120"/>
              </a:rPr>
              <a:t>Claims queued runs</a:t>
            </a:r>
            <a:endParaRPr lang="en-US" sz="1130" dirty="0"/>
          </a:p>
          <a:p>
            <a:pPr indent="0" marL="0">
              <a:buNone/>
            </a:pPr>
            <a:r>
              <a:rPr lang="en-US" sz="1130" dirty="0">
                <a:solidFill>
                  <a:srgbClr val="5B6978"/>
                </a:solidFill>
                <a:latin typeface="Aptos" pitchFamily="34" charset="0"/>
                <a:ea typeface="Aptos" pitchFamily="34" charset="-122"/>
                <a:cs typeface="Aptos" pitchFamily="34" charset="-120"/>
              </a:rPr>
              <a:t>Clones repos</a:t>
            </a:r>
            <a:endParaRPr lang="en-US" sz="1130" dirty="0"/>
          </a:p>
          <a:p>
            <a:pPr indent="0" marL="0">
              <a:buNone/>
            </a:pPr>
            <a:r>
              <a:rPr lang="en-US" sz="1130" dirty="0">
                <a:solidFill>
                  <a:srgbClr val="5B6978"/>
                </a:solidFill>
                <a:latin typeface="Aptos" pitchFamily="34" charset="0"/>
                <a:ea typeface="Aptos" pitchFamily="34" charset="-122"/>
                <a:cs typeface="Aptos" pitchFamily="34" charset="-120"/>
              </a:rPr>
              <a:t>Builds, tests, deploys</a:t>
            </a:r>
            <a:endParaRPr lang="en-US" sz="1130" dirty="0"/>
          </a:p>
          <a:p>
            <a:pPr indent="0" marL="0">
              <a:buNone/>
            </a:pPr>
            <a:r>
              <a:rPr lang="en-US" sz="1130" dirty="0">
                <a:solidFill>
                  <a:srgbClr val="5B6978"/>
                </a:solidFill>
                <a:latin typeface="Aptos" pitchFamily="34" charset="0"/>
                <a:ea typeface="Aptos" pitchFamily="34" charset="-122"/>
                <a:cs typeface="Aptos" pitchFamily="34" charset="-120"/>
              </a:rPr>
              <a:t>Handles rollback and promotion</a:t>
            </a:r>
            <a:endParaRPr lang="en-US" sz="1130" dirty="0"/>
          </a:p>
        </p:txBody>
      </p:sp>
      <p:sp>
        <p:nvSpPr>
          <p:cNvPr id="25" name="Shape 23"/>
          <p:cNvSpPr/>
          <p:nvPr/>
        </p:nvSpPr>
        <p:spPr>
          <a:xfrm>
            <a:off x="8193024" y="3703320"/>
            <a:ext cx="2651760" cy="1417320"/>
          </a:xfrm>
          <a:prstGeom prst="roundRect">
            <a:avLst>
              <a:gd name="adj" fmla="val 4516"/>
            </a:avLst>
          </a:prstGeom>
          <a:solidFill>
            <a:srgbClr val="FFF2E3"/>
          </a:solidFill>
          <a:ln w="12700">
            <a:solidFill>
              <a:srgbClr val="F2D8B8"/>
            </a:solidFill>
            <a:prstDash val="solid"/>
          </a:ln>
        </p:spPr>
      </p:sp>
      <p:sp>
        <p:nvSpPr>
          <p:cNvPr id="26" name="Text 24"/>
          <p:cNvSpPr/>
          <p:nvPr/>
        </p:nvSpPr>
        <p:spPr>
          <a:xfrm>
            <a:off x="8357616" y="3831336"/>
            <a:ext cx="2322576" cy="201168"/>
          </a:xfrm>
          <a:prstGeom prst="rect">
            <a:avLst/>
          </a:prstGeom>
          <a:noFill/>
          <a:ln/>
        </p:spPr>
        <p:txBody>
          <a:bodyPr wrap="square" lIns="0" tIns="0" rIns="0" bIns="0" rtlCol="0" anchor="ctr"/>
          <a:lstStyle/>
          <a:p>
            <a:pPr indent="0" marL="0">
              <a:buNone/>
            </a:pPr>
            <a:r>
              <a:rPr lang="en-US" sz="1400" b="1" dirty="0">
                <a:solidFill>
                  <a:srgbClr val="102133"/>
                </a:solidFill>
                <a:latin typeface="Aptos Display" pitchFamily="34" charset="0"/>
                <a:ea typeface="Aptos Display" pitchFamily="34" charset="-122"/>
                <a:cs typeface="Aptos Display" pitchFamily="34" charset="-120"/>
              </a:rPr>
              <a:t>Deployment targets</a:t>
            </a:r>
            <a:endParaRPr lang="en-US" sz="1400" dirty="0"/>
          </a:p>
        </p:txBody>
      </p:sp>
      <p:sp>
        <p:nvSpPr>
          <p:cNvPr id="27" name="Text 25"/>
          <p:cNvSpPr/>
          <p:nvPr/>
        </p:nvSpPr>
        <p:spPr>
          <a:xfrm>
            <a:off x="8357616" y="4114800"/>
            <a:ext cx="2322576" cy="886968"/>
          </a:xfrm>
          <a:prstGeom prst="rect">
            <a:avLst/>
          </a:prstGeom>
          <a:noFill/>
          <a:ln/>
        </p:spPr>
        <p:txBody>
          <a:bodyPr wrap="square" lIns="0" tIns="0" rIns="0" bIns="0" rtlCol="0" anchor="ctr">
            <a:normAutofit/>
          </a:bodyPr>
          <a:lstStyle/>
          <a:p>
            <a:pPr indent="0" marL="0">
              <a:buNone/>
            </a:pPr>
            <a:r>
              <a:rPr lang="en-US" sz="1130" dirty="0">
                <a:solidFill>
                  <a:srgbClr val="5B6978"/>
                </a:solidFill>
                <a:latin typeface="Aptos" pitchFamily="34" charset="0"/>
                <a:ea typeface="Aptos" pitchFamily="34" charset="-122"/>
                <a:cs typeface="Aptos" pitchFamily="34" charset="-120"/>
              </a:rPr>
              <a:t>SSH Compose hosts</a:t>
            </a:r>
            <a:endParaRPr lang="en-US" sz="1130" dirty="0"/>
          </a:p>
          <a:p>
            <a:pPr indent="0" marL="0">
              <a:buNone/>
            </a:pPr>
            <a:r>
              <a:rPr lang="en-US" sz="1130" dirty="0">
                <a:solidFill>
                  <a:srgbClr val="5B6978"/>
                </a:solidFill>
                <a:latin typeface="Aptos" pitchFamily="34" charset="0"/>
                <a:ea typeface="Aptos" pitchFamily="34" charset="-122"/>
                <a:cs typeface="Aptos" pitchFamily="34" charset="-120"/>
              </a:rPr>
              <a:t>Managed VPS targets</a:t>
            </a:r>
            <a:endParaRPr lang="en-US" sz="1130" dirty="0"/>
          </a:p>
          <a:p>
            <a:pPr indent="0" marL="0">
              <a:buNone/>
            </a:pPr>
            <a:r>
              <a:rPr lang="en-US" sz="1130" dirty="0">
                <a:solidFill>
                  <a:srgbClr val="5B6978"/>
                </a:solidFill>
                <a:latin typeface="Aptos" pitchFamily="34" charset="0"/>
                <a:ea typeface="Aptos" pitchFamily="34" charset="-122"/>
                <a:cs typeface="Aptos" pitchFamily="34" charset="-120"/>
              </a:rPr>
              <a:t>Healthcheck endpoints</a:t>
            </a:r>
            <a:endParaRPr lang="en-US" sz="1130" dirty="0"/>
          </a:p>
        </p:txBody>
      </p:sp>
      <p:sp>
        <p:nvSpPr>
          <p:cNvPr id="28" name="Shape 26"/>
          <p:cNvSpPr/>
          <p:nvPr/>
        </p:nvSpPr>
        <p:spPr>
          <a:xfrm>
            <a:off x="2788920" y="2414016"/>
            <a:ext cx="173736" cy="0"/>
          </a:xfrm>
          <a:prstGeom prst="line">
            <a:avLst/>
          </a:prstGeom>
          <a:noFill/>
          <a:ln w="12700">
            <a:solidFill>
              <a:srgbClr val="2E68FF"/>
            </a:solidFill>
            <a:prstDash val="solid"/>
            <a:headEnd type="none"/>
            <a:tailEnd type="triangle"/>
          </a:ln>
        </p:spPr>
      </p:sp>
      <p:sp>
        <p:nvSpPr>
          <p:cNvPr id="29" name="Shape 27"/>
          <p:cNvSpPr/>
          <p:nvPr/>
        </p:nvSpPr>
        <p:spPr>
          <a:xfrm>
            <a:off x="5358384" y="2414016"/>
            <a:ext cx="237744" cy="0"/>
          </a:xfrm>
          <a:prstGeom prst="line">
            <a:avLst/>
          </a:prstGeom>
          <a:noFill/>
          <a:ln w="12700">
            <a:solidFill>
              <a:srgbClr val="2E68FF"/>
            </a:solidFill>
            <a:prstDash val="solid"/>
            <a:headEnd type="none"/>
            <a:tailEnd type="triangle"/>
          </a:ln>
        </p:spPr>
      </p:sp>
      <p:sp>
        <p:nvSpPr>
          <p:cNvPr id="30" name="Shape 28"/>
          <p:cNvSpPr/>
          <p:nvPr/>
        </p:nvSpPr>
        <p:spPr>
          <a:xfrm>
            <a:off x="7900416" y="2414016"/>
            <a:ext cx="256032" cy="0"/>
          </a:xfrm>
          <a:prstGeom prst="line">
            <a:avLst/>
          </a:prstGeom>
          <a:noFill/>
          <a:ln w="12700">
            <a:solidFill>
              <a:srgbClr val="2E68FF"/>
            </a:solidFill>
            <a:prstDash val="solid"/>
            <a:headEnd type="none"/>
            <a:tailEnd type="triangle"/>
          </a:ln>
        </p:spPr>
      </p:sp>
      <p:sp>
        <p:nvSpPr>
          <p:cNvPr id="31" name="Shape 29"/>
          <p:cNvSpPr/>
          <p:nvPr/>
        </p:nvSpPr>
        <p:spPr>
          <a:xfrm>
            <a:off x="4151376" y="3108960"/>
            <a:ext cx="0" cy="548640"/>
          </a:xfrm>
          <a:prstGeom prst="line">
            <a:avLst/>
          </a:prstGeom>
          <a:noFill/>
          <a:ln w="12700">
            <a:solidFill>
              <a:srgbClr val="5B6978"/>
            </a:solidFill>
            <a:prstDash val="solid"/>
            <a:headEnd type="none"/>
            <a:tailEnd type="triangle"/>
          </a:ln>
        </p:spPr>
      </p:sp>
      <p:sp>
        <p:nvSpPr>
          <p:cNvPr id="32" name="Shape 30"/>
          <p:cNvSpPr/>
          <p:nvPr/>
        </p:nvSpPr>
        <p:spPr>
          <a:xfrm>
            <a:off x="6748272" y="3108960"/>
            <a:ext cx="0" cy="548640"/>
          </a:xfrm>
          <a:prstGeom prst="line">
            <a:avLst/>
          </a:prstGeom>
          <a:noFill/>
          <a:ln w="12700">
            <a:solidFill>
              <a:srgbClr val="5B6978"/>
            </a:solidFill>
            <a:prstDash val="solid"/>
            <a:headEnd type="none"/>
            <a:tailEnd type="triangle"/>
          </a:ln>
        </p:spPr>
      </p:sp>
      <p:sp>
        <p:nvSpPr>
          <p:cNvPr id="33" name="Shape 31"/>
          <p:cNvSpPr/>
          <p:nvPr/>
        </p:nvSpPr>
        <p:spPr>
          <a:xfrm>
            <a:off x="9464040" y="3108960"/>
            <a:ext cx="0" cy="548640"/>
          </a:xfrm>
          <a:prstGeom prst="line">
            <a:avLst/>
          </a:prstGeom>
          <a:noFill/>
          <a:ln w="12700">
            <a:solidFill>
              <a:srgbClr val="5B6978"/>
            </a:solidFill>
            <a:prstDash val="solid"/>
            <a:headEnd type="none"/>
            <a:tailEnd type="triangle"/>
          </a:ln>
        </p:spPr>
      </p:sp>
      <p:sp>
        <p:nvSpPr>
          <p:cNvPr id="34" name="Text 32"/>
          <p:cNvSpPr/>
          <p:nvPr/>
        </p:nvSpPr>
        <p:spPr>
          <a:xfrm>
            <a:off x="11338560" y="6409944"/>
            <a:ext cx="256032" cy="146304"/>
          </a:xfrm>
          <a:prstGeom prst="rect">
            <a:avLst/>
          </a:prstGeom>
          <a:noFill/>
          <a:ln/>
        </p:spPr>
        <p:txBody>
          <a:bodyPr wrap="square" lIns="0" tIns="0" rIns="0" bIns="0" rtlCol="0" anchor="ctr"/>
          <a:lstStyle/>
          <a:p>
            <a:pPr algn="r" indent="0" marL="0">
              <a:buNone/>
            </a:pPr>
            <a:r>
              <a:rPr lang="en-US" sz="950" dirty="0">
                <a:solidFill>
                  <a:srgbClr val="5B6978"/>
                </a:solidFill>
                <a:latin typeface="Aptos" pitchFamily="34" charset="0"/>
                <a:ea typeface="Aptos" pitchFamily="34" charset="-122"/>
                <a:cs typeface="Aptos" pitchFamily="34" charset="-120"/>
              </a:rPr>
              <a:t>4</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8F2"/>
        </a:solidFill>
      </p:bgPr>
    </p:bg>
    <p:spTree>
      <p:nvGrpSpPr>
        <p:cNvPr id="1" name=""/>
        <p:cNvGrpSpPr/>
        <p:nvPr/>
      </p:nvGrpSpPr>
      <p:grpSpPr>
        <a:xfrm>
          <a:off x="0" y="0"/>
          <a:ext cx="0" cy="0"/>
          <a:chOff x="0" y="0"/>
          <a:chExt cx="0" cy="0"/>
        </a:xfrm>
      </p:grpSpPr>
      <p:sp>
        <p:nvSpPr>
          <p:cNvPr id="2" name="Shape 0"/>
          <p:cNvSpPr/>
          <p:nvPr/>
        </p:nvSpPr>
        <p:spPr>
          <a:xfrm>
            <a:off x="0" y="0"/>
            <a:ext cx="12191695" cy="201168"/>
          </a:xfrm>
          <a:prstGeom prst="rect">
            <a:avLst/>
          </a:prstGeom>
          <a:solidFill>
            <a:srgbClr val="2E68FF"/>
          </a:solidFill>
          <a:ln w="12700">
            <a:solidFill>
              <a:srgbClr val="2E68FF"/>
            </a:solidFill>
            <a:prstDash val="solid"/>
          </a:ln>
        </p:spPr>
      </p:sp>
      <p:sp>
        <p:nvSpPr>
          <p:cNvPr id="3" name="Text 1"/>
          <p:cNvSpPr/>
          <p:nvPr/>
        </p:nvSpPr>
        <p:spPr>
          <a:xfrm>
            <a:off x="621792" y="347472"/>
            <a:ext cx="3108960" cy="201168"/>
          </a:xfrm>
          <a:prstGeom prst="rect">
            <a:avLst/>
          </a:prstGeom>
          <a:noFill/>
          <a:ln/>
        </p:spPr>
        <p:txBody>
          <a:bodyPr wrap="square" lIns="0" tIns="0" rIns="0" bIns="0" rtlCol="0" anchor="ctr"/>
          <a:lstStyle/>
          <a:p>
            <a:pPr indent="0" marL="0">
              <a:buNone/>
            </a:pPr>
            <a:r>
              <a:rPr lang="en-US" sz="1000" b="1" dirty="0">
                <a:solidFill>
                  <a:srgbClr val="2E68FF"/>
                </a:solidFill>
                <a:latin typeface="Aptos" pitchFamily="34" charset="0"/>
                <a:ea typeface="Aptos" pitchFamily="34" charset="-122"/>
                <a:cs typeface="Aptos" pitchFamily="34" charset="-120"/>
              </a:rPr>
              <a:t>Execution Flow</a:t>
            </a:r>
            <a:endParaRPr lang="en-US" sz="1000" dirty="0"/>
          </a:p>
        </p:txBody>
      </p:sp>
      <p:sp>
        <p:nvSpPr>
          <p:cNvPr id="4" name="Text 2"/>
          <p:cNvSpPr/>
          <p:nvPr/>
        </p:nvSpPr>
        <p:spPr>
          <a:xfrm>
            <a:off x="621792" y="658368"/>
            <a:ext cx="8046720" cy="457200"/>
          </a:xfrm>
          <a:prstGeom prst="rect">
            <a:avLst/>
          </a:prstGeom>
          <a:noFill/>
          <a:ln/>
        </p:spPr>
        <p:txBody>
          <a:bodyPr wrap="square" lIns="0" tIns="0" rIns="0" bIns="0" rtlCol="0" anchor="ctr"/>
          <a:lstStyle/>
          <a:p>
            <a:pPr indent="0" marL="0">
              <a:buNone/>
            </a:pPr>
            <a:r>
              <a:rPr lang="en-US" sz="2400" b="1" dirty="0">
                <a:solidFill>
                  <a:srgbClr val="102133"/>
                </a:solidFill>
                <a:latin typeface="Aptos Display" pitchFamily="34" charset="0"/>
                <a:ea typeface="Aptos Display" pitchFamily="34" charset="-122"/>
                <a:cs typeface="Aptos Display" pitchFamily="34" charset="-120"/>
              </a:rPr>
              <a:t>From webhook to deployed revision</a:t>
            </a:r>
            <a:endParaRPr lang="en-US" sz="2400" dirty="0"/>
          </a:p>
        </p:txBody>
      </p:sp>
      <p:sp>
        <p:nvSpPr>
          <p:cNvPr id="5" name="Text 3"/>
          <p:cNvSpPr/>
          <p:nvPr/>
        </p:nvSpPr>
        <p:spPr>
          <a:xfrm>
            <a:off x="621792" y="1143000"/>
            <a:ext cx="9784080" cy="310896"/>
          </a:xfrm>
          <a:prstGeom prst="rect">
            <a:avLst/>
          </a:prstGeom>
          <a:noFill/>
          <a:ln/>
        </p:spPr>
        <p:txBody>
          <a:bodyPr wrap="square" lIns="0" tIns="0" rIns="0" bIns="0" rtlCol="0" anchor="ctr"/>
          <a:lstStyle/>
          <a:p>
            <a:pPr indent="0" marL="0">
              <a:buNone/>
            </a:pPr>
            <a:r>
              <a:rPr lang="en-US" sz="1150" dirty="0">
                <a:solidFill>
                  <a:srgbClr val="5B6978"/>
                </a:solidFill>
                <a:latin typeface="Aptos" pitchFamily="34" charset="0"/>
                <a:ea typeface="Aptos" pitchFamily="34" charset="-122"/>
                <a:cs typeface="Aptos" pitchFamily="34" charset="-120"/>
              </a:rPr>
              <a:t>Every push follows this sequence from webhook to deployed revision.</a:t>
            </a:r>
            <a:endParaRPr lang="en-US" sz="1150" dirty="0"/>
          </a:p>
        </p:txBody>
      </p:sp>
      <p:sp>
        <p:nvSpPr>
          <p:cNvPr id="6" name="Text 4"/>
          <p:cNvSpPr/>
          <p:nvPr/>
        </p:nvSpPr>
        <p:spPr>
          <a:xfrm>
            <a:off x="10652760" y="347472"/>
            <a:ext cx="914400" cy="201168"/>
          </a:xfrm>
          <a:prstGeom prst="rect">
            <a:avLst/>
          </a:prstGeom>
          <a:noFill/>
          <a:ln/>
        </p:spPr>
        <p:txBody>
          <a:bodyPr wrap="square" lIns="0" tIns="0" rIns="0" bIns="0" rtlCol="0" anchor="ctr"/>
          <a:lstStyle/>
          <a:p>
            <a:pPr algn="r" indent="0" marL="0">
              <a:buNone/>
            </a:pPr>
            <a:r>
              <a:rPr lang="en-US" sz="1000" b="1" dirty="0">
                <a:solidFill>
                  <a:srgbClr val="5B6978"/>
                </a:solidFill>
                <a:latin typeface="Aptos" pitchFamily="34" charset="0"/>
                <a:ea typeface="Aptos" pitchFamily="34" charset="-122"/>
                <a:cs typeface="Aptos" pitchFamily="34" charset="-120"/>
              </a:rPr>
              <a:t>AutoOps</a:t>
            </a:r>
            <a:endParaRPr lang="en-US" sz="1000" dirty="0"/>
          </a:p>
        </p:txBody>
      </p:sp>
      <p:sp>
        <p:nvSpPr>
          <p:cNvPr id="7" name="Shape 5"/>
          <p:cNvSpPr/>
          <p:nvPr/>
        </p:nvSpPr>
        <p:spPr>
          <a:xfrm>
            <a:off x="548640" y="2240280"/>
            <a:ext cx="1773936" cy="1755648"/>
          </a:xfrm>
          <a:prstGeom prst="roundRect">
            <a:avLst>
              <a:gd name="adj" fmla="val 3646"/>
            </a:avLst>
          </a:prstGeom>
          <a:solidFill>
            <a:srgbClr val="FFFFFF"/>
          </a:solidFill>
          <a:ln w="12700">
            <a:solidFill>
              <a:srgbClr val="DCE4EE"/>
            </a:solidFill>
            <a:prstDash val="solid"/>
          </a:ln>
        </p:spPr>
      </p:sp>
      <p:sp>
        <p:nvSpPr>
          <p:cNvPr id="8" name="Text 6"/>
          <p:cNvSpPr/>
          <p:nvPr/>
        </p:nvSpPr>
        <p:spPr>
          <a:xfrm>
            <a:off x="713232" y="2368296"/>
            <a:ext cx="1444752" cy="201168"/>
          </a:xfrm>
          <a:prstGeom prst="rect">
            <a:avLst/>
          </a:prstGeom>
          <a:noFill/>
          <a:ln/>
        </p:spPr>
        <p:txBody>
          <a:bodyPr wrap="square" lIns="0" tIns="0" rIns="0" bIns="0" rtlCol="0" anchor="ctr"/>
          <a:lstStyle/>
          <a:p>
            <a:pPr indent="0" marL="0">
              <a:buNone/>
            </a:pPr>
            <a:r>
              <a:rPr lang="en-US" sz="1400" b="1" dirty="0">
                <a:solidFill>
                  <a:srgbClr val="102133"/>
                </a:solidFill>
                <a:latin typeface="Aptos Display" pitchFamily="34" charset="0"/>
                <a:ea typeface="Aptos Display" pitchFamily="34" charset="-122"/>
                <a:cs typeface="Aptos Display" pitchFamily="34" charset="-120"/>
              </a:rPr>
              <a:t>Push event</a:t>
            </a:r>
            <a:endParaRPr lang="en-US" sz="1400" dirty="0"/>
          </a:p>
        </p:txBody>
      </p:sp>
      <p:sp>
        <p:nvSpPr>
          <p:cNvPr id="9" name="Text 7"/>
          <p:cNvSpPr/>
          <p:nvPr/>
        </p:nvSpPr>
        <p:spPr>
          <a:xfrm>
            <a:off x="713232" y="2651760"/>
            <a:ext cx="1444752" cy="1225296"/>
          </a:xfrm>
          <a:prstGeom prst="rect">
            <a:avLst/>
          </a:prstGeom>
          <a:noFill/>
          <a:ln/>
        </p:spPr>
        <p:txBody>
          <a:bodyPr wrap="square" lIns="0" tIns="0" rIns="0" bIns="0" rtlCol="0" anchor="ctr">
            <a:normAutofit/>
          </a:bodyPr>
          <a:lstStyle/>
          <a:p>
            <a:pPr indent="0" marL="0">
              <a:buNone/>
            </a:pPr>
            <a:r>
              <a:rPr lang="en-US" sz="1080" dirty="0">
                <a:solidFill>
                  <a:srgbClr val="5B6978"/>
                </a:solidFill>
                <a:latin typeface="Aptos" pitchFamily="34" charset="0"/>
                <a:ea typeface="Aptos" pitchFamily="34" charset="-122"/>
                <a:cs typeface="Aptos" pitchFamily="34" charset="-120"/>
              </a:rPr>
              <a:t>GitHub emits a signed push webhook.</a:t>
            </a:r>
            <a:endParaRPr lang="en-US" sz="1080" dirty="0"/>
          </a:p>
        </p:txBody>
      </p:sp>
      <p:sp>
        <p:nvSpPr>
          <p:cNvPr id="10" name="Shape 8"/>
          <p:cNvSpPr/>
          <p:nvPr/>
        </p:nvSpPr>
        <p:spPr>
          <a:xfrm>
            <a:off x="2322576" y="3118104"/>
            <a:ext cx="164592" cy="0"/>
          </a:xfrm>
          <a:prstGeom prst="line">
            <a:avLst/>
          </a:prstGeom>
          <a:noFill/>
          <a:ln w="12700">
            <a:solidFill>
              <a:srgbClr val="2E68FF"/>
            </a:solidFill>
            <a:prstDash val="solid"/>
            <a:headEnd type="none"/>
            <a:tailEnd type="triangle"/>
          </a:ln>
        </p:spPr>
      </p:sp>
      <p:sp>
        <p:nvSpPr>
          <p:cNvPr id="11" name="Shape 9"/>
          <p:cNvSpPr/>
          <p:nvPr/>
        </p:nvSpPr>
        <p:spPr>
          <a:xfrm>
            <a:off x="2468880" y="2240280"/>
            <a:ext cx="1773936" cy="1755648"/>
          </a:xfrm>
          <a:prstGeom prst="roundRect">
            <a:avLst>
              <a:gd name="adj" fmla="val 3646"/>
            </a:avLst>
          </a:prstGeom>
          <a:solidFill>
            <a:srgbClr val="F8FAFF"/>
          </a:solidFill>
          <a:ln w="12700">
            <a:solidFill>
              <a:srgbClr val="DCE4EE"/>
            </a:solidFill>
            <a:prstDash val="solid"/>
          </a:ln>
        </p:spPr>
      </p:sp>
      <p:sp>
        <p:nvSpPr>
          <p:cNvPr id="12" name="Text 10"/>
          <p:cNvSpPr/>
          <p:nvPr/>
        </p:nvSpPr>
        <p:spPr>
          <a:xfrm>
            <a:off x="2633472" y="2368296"/>
            <a:ext cx="1444752" cy="201168"/>
          </a:xfrm>
          <a:prstGeom prst="rect">
            <a:avLst/>
          </a:prstGeom>
          <a:noFill/>
          <a:ln/>
        </p:spPr>
        <p:txBody>
          <a:bodyPr wrap="square" lIns="0" tIns="0" rIns="0" bIns="0" rtlCol="0" anchor="ctr"/>
          <a:lstStyle/>
          <a:p>
            <a:pPr indent="0" marL="0">
              <a:buNone/>
            </a:pPr>
            <a:r>
              <a:rPr lang="en-US" sz="1400" b="1" dirty="0">
                <a:solidFill>
                  <a:srgbClr val="102133"/>
                </a:solidFill>
                <a:latin typeface="Aptos Display" pitchFamily="34" charset="0"/>
                <a:ea typeface="Aptos Display" pitchFamily="34" charset="-122"/>
                <a:cs typeface="Aptos Display" pitchFamily="34" charset="-120"/>
              </a:rPr>
              <a:t>Validation</a:t>
            </a:r>
            <a:endParaRPr lang="en-US" sz="1400" dirty="0"/>
          </a:p>
        </p:txBody>
      </p:sp>
      <p:sp>
        <p:nvSpPr>
          <p:cNvPr id="13" name="Text 11"/>
          <p:cNvSpPr/>
          <p:nvPr/>
        </p:nvSpPr>
        <p:spPr>
          <a:xfrm>
            <a:off x="2633472" y="2651760"/>
            <a:ext cx="1444752" cy="1225296"/>
          </a:xfrm>
          <a:prstGeom prst="rect">
            <a:avLst/>
          </a:prstGeom>
          <a:noFill/>
          <a:ln/>
        </p:spPr>
        <p:txBody>
          <a:bodyPr wrap="square" lIns="0" tIns="0" rIns="0" bIns="0" rtlCol="0" anchor="ctr">
            <a:normAutofit/>
          </a:bodyPr>
          <a:lstStyle/>
          <a:p>
            <a:pPr indent="0" marL="0">
              <a:buNone/>
            </a:pPr>
            <a:r>
              <a:rPr lang="en-US" sz="1080" dirty="0">
                <a:solidFill>
                  <a:srgbClr val="5B6978"/>
                </a:solidFill>
                <a:latin typeface="Aptos" pitchFamily="34" charset="0"/>
                <a:ea typeface="Aptos" pitchFamily="34" charset="-122"/>
                <a:cs typeface="Aptos" pitchFamily="34" charset="-120"/>
              </a:rPr>
              <a:t>API verifies headers and deduplicates the delivery.</a:t>
            </a:r>
            <a:endParaRPr lang="en-US" sz="1080" dirty="0"/>
          </a:p>
        </p:txBody>
      </p:sp>
      <p:sp>
        <p:nvSpPr>
          <p:cNvPr id="14" name="Shape 12"/>
          <p:cNvSpPr/>
          <p:nvPr/>
        </p:nvSpPr>
        <p:spPr>
          <a:xfrm>
            <a:off x="4242816" y="3118104"/>
            <a:ext cx="164592" cy="0"/>
          </a:xfrm>
          <a:prstGeom prst="line">
            <a:avLst/>
          </a:prstGeom>
          <a:noFill/>
          <a:ln w="12700">
            <a:solidFill>
              <a:srgbClr val="2E68FF"/>
            </a:solidFill>
            <a:prstDash val="solid"/>
            <a:headEnd type="none"/>
            <a:tailEnd type="triangle"/>
          </a:ln>
        </p:spPr>
      </p:sp>
      <p:sp>
        <p:nvSpPr>
          <p:cNvPr id="15" name="Shape 13"/>
          <p:cNvSpPr/>
          <p:nvPr/>
        </p:nvSpPr>
        <p:spPr>
          <a:xfrm>
            <a:off x="4389120" y="2240280"/>
            <a:ext cx="1773936" cy="1755648"/>
          </a:xfrm>
          <a:prstGeom prst="roundRect">
            <a:avLst>
              <a:gd name="adj" fmla="val 3646"/>
            </a:avLst>
          </a:prstGeom>
          <a:solidFill>
            <a:srgbClr val="FFFFFF"/>
          </a:solidFill>
          <a:ln w="12700">
            <a:solidFill>
              <a:srgbClr val="DCE4EE"/>
            </a:solidFill>
            <a:prstDash val="solid"/>
          </a:ln>
        </p:spPr>
      </p:sp>
      <p:sp>
        <p:nvSpPr>
          <p:cNvPr id="16" name="Text 14"/>
          <p:cNvSpPr/>
          <p:nvPr/>
        </p:nvSpPr>
        <p:spPr>
          <a:xfrm>
            <a:off x="4553712" y="2368296"/>
            <a:ext cx="1444752" cy="201168"/>
          </a:xfrm>
          <a:prstGeom prst="rect">
            <a:avLst/>
          </a:prstGeom>
          <a:noFill/>
          <a:ln/>
        </p:spPr>
        <p:txBody>
          <a:bodyPr wrap="square" lIns="0" tIns="0" rIns="0" bIns="0" rtlCol="0" anchor="ctr"/>
          <a:lstStyle/>
          <a:p>
            <a:pPr indent="0" marL="0">
              <a:buNone/>
            </a:pPr>
            <a:r>
              <a:rPr lang="en-US" sz="1400" b="1" dirty="0">
                <a:solidFill>
                  <a:srgbClr val="102133"/>
                </a:solidFill>
                <a:latin typeface="Aptos Display" pitchFamily="34" charset="0"/>
                <a:ea typeface="Aptos Display" pitchFamily="34" charset="-122"/>
                <a:cs typeface="Aptos Display" pitchFamily="34" charset="-120"/>
              </a:rPr>
              <a:t>Queueing</a:t>
            </a:r>
            <a:endParaRPr lang="en-US" sz="1400" dirty="0"/>
          </a:p>
        </p:txBody>
      </p:sp>
      <p:sp>
        <p:nvSpPr>
          <p:cNvPr id="17" name="Text 15"/>
          <p:cNvSpPr/>
          <p:nvPr/>
        </p:nvSpPr>
        <p:spPr>
          <a:xfrm>
            <a:off x="4553712" y="2651760"/>
            <a:ext cx="1444752" cy="1225296"/>
          </a:xfrm>
          <a:prstGeom prst="rect">
            <a:avLst/>
          </a:prstGeom>
          <a:noFill/>
          <a:ln/>
        </p:spPr>
        <p:txBody>
          <a:bodyPr wrap="square" lIns="0" tIns="0" rIns="0" bIns="0" rtlCol="0" anchor="ctr">
            <a:normAutofit/>
          </a:bodyPr>
          <a:lstStyle/>
          <a:p>
            <a:pPr indent="0" marL="0">
              <a:buNone/>
            </a:pPr>
            <a:r>
              <a:rPr lang="en-US" sz="1080" dirty="0">
                <a:solidFill>
                  <a:srgbClr val="5B6978"/>
                </a:solidFill>
                <a:latin typeface="Aptos" pitchFamily="34" charset="0"/>
                <a:ea typeface="Aptos" pitchFamily="34" charset="-122"/>
                <a:cs typeface="Aptos" pitchFamily="34" charset="-120"/>
              </a:rPr>
              <a:t>Matching projects create queued runs with branch and SHA.</a:t>
            </a:r>
            <a:endParaRPr lang="en-US" sz="1080" dirty="0"/>
          </a:p>
        </p:txBody>
      </p:sp>
      <p:sp>
        <p:nvSpPr>
          <p:cNvPr id="18" name="Shape 16"/>
          <p:cNvSpPr/>
          <p:nvPr/>
        </p:nvSpPr>
        <p:spPr>
          <a:xfrm>
            <a:off x="6163056" y="3118104"/>
            <a:ext cx="164592" cy="0"/>
          </a:xfrm>
          <a:prstGeom prst="line">
            <a:avLst/>
          </a:prstGeom>
          <a:noFill/>
          <a:ln w="12700">
            <a:solidFill>
              <a:srgbClr val="2E68FF"/>
            </a:solidFill>
            <a:prstDash val="solid"/>
            <a:headEnd type="none"/>
            <a:tailEnd type="triangle"/>
          </a:ln>
        </p:spPr>
      </p:sp>
      <p:sp>
        <p:nvSpPr>
          <p:cNvPr id="19" name="Shape 17"/>
          <p:cNvSpPr/>
          <p:nvPr/>
        </p:nvSpPr>
        <p:spPr>
          <a:xfrm>
            <a:off x="6309360" y="2240280"/>
            <a:ext cx="1773936" cy="1755648"/>
          </a:xfrm>
          <a:prstGeom prst="roundRect">
            <a:avLst>
              <a:gd name="adj" fmla="val 3646"/>
            </a:avLst>
          </a:prstGeom>
          <a:solidFill>
            <a:srgbClr val="F8FAFF"/>
          </a:solidFill>
          <a:ln w="12700">
            <a:solidFill>
              <a:srgbClr val="DCE4EE"/>
            </a:solidFill>
            <a:prstDash val="solid"/>
          </a:ln>
        </p:spPr>
      </p:sp>
      <p:sp>
        <p:nvSpPr>
          <p:cNvPr id="20" name="Text 18"/>
          <p:cNvSpPr/>
          <p:nvPr/>
        </p:nvSpPr>
        <p:spPr>
          <a:xfrm>
            <a:off x="6473952" y="2368296"/>
            <a:ext cx="1444752" cy="201168"/>
          </a:xfrm>
          <a:prstGeom prst="rect">
            <a:avLst/>
          </a:prstGeom>
          <a:noFill/>
          <a:ln/>
        </p:spPr>
        <p:txBody>
          <a:bodyPr wrap="square" lIns="0" tIns="0" rIns="0" bIns="0" rtlCol="0" anchor="ctr"/>
          <a:lstStyle/>
          <a:p>
            <a:pPr indent="0" marL="0">
              <a:buNone/>
            </a:pPr>
            <a:r>
              <a:rPr lang="en-US" sz="1400" b="1" dirty="0">
                <a:solidFill>
                  <a:srgbClr val="102133"/>
                </a:solidFill>
                <a:latin typeface="Aptos Display" pitchFamily="34" charset="0"/>
                <a:ea typeface="Aptos Display" pitchFamily="34" charset="-122"/>
                <a:cs typeface="Aptos Display" pitchFamily="34" charset="-120"/>
              </a:rPr>
              <a:t>Prepare</a:t>
            </a:r>
            <a:endParaRPr lang="en-US" sz="1400" dirty="0"/>
          </a:p>
        </p:txBody>
      </p:sp>
      <p:sp>
        <p:nvSpPr>
          <p:cNvPr id="21" name="Text 19"/>
          <p:cNvSpPr/>
          <p:nvPr/>
        </p:nvSpPr>
        <p:spPr>
          <a:xfrm>
            <a:off x="6473952" y="2651760"/>
            <a:ext cx="1444752" cy="1225296"/>
          </a:xfrm>
          <a:prstGeom prst="rect">
            <a:avLst/>
          </a:prstGeom>
          <a:noFill/>
          <a:ln/>
        </p:spPr>
        <p:txBody>
          <a:bodyPr wrap="square" lIns="0" tIns="0" rIns="0" bIns="0" rtlCol="0" anchor="ctr">
            <a:normAutofit/>
          </a:bodyPr>
          <a:lstStyle/>
          <a:p>
            <a:pPr indent="0" marL="0">
              <a:buNone/>
            </a:pPr>
            <a:r>
              <a:rPr lang="en-US" sz="1080" dirty="0">
                <a:solidFill>
                  <a:srgbClr val="5B6978"/>
                </a:solidFill>
                <a:latin typeface="Aptos" pitchFamily="34" charset="0"/>
                <a:ea typeface="Aptos" pitchFamily="34" charset="-122"/>
                <a:cs typeface="Aptos" pitchFamily="34" charset="-120"/>
              </a:rPr>
              <a:t>Worker clones the repo and resolves the pipeline config.</a:t>
            </a:r>
            <a:endParaRPr lang="en-US" sz="1080" dirty="0"/>
          </a:p>
        </p:txBody>
      </p:sp>
      <p:sp>
        <p:nvSpPr>
          <p:cNvPr id="22" name="Shape 20"/>
          <p:cNvSpPr/>
          <p:nvPr/>
        </p:nvSpPr>
        <p:spPr>
          <a:xfrm>
            <a:off x="8083296" y="3118104"/>
            <a:ext cx="164592" cy="0"/>
          </a:xfrm>
          <a:prstGeom prst="line">
            <a:avLst/>
          </a:prstGeom>
          <a:noFill/>
          <a:ln w="12700">
            <a:solidFill>
              <a:srgbClr val="2E68FF"/>
            </a:solidFill>
            <a:prstDash val="solid"/>
            <a:headEnd type="none"/>
            <a:tailEnd type="triangle"/>
          </a:ln>
        </p:spPr>
      </p:sp>
      <p:sp>
        <p:nvSpPr>
          <p:cNvPr id="23" name="Shape 21"/>
          <p:cNvSpPr/>
          <p:nvPr/>
        </p:nvSpPr>
        <p:spPr>
          <a:xfrm>
            <a:off x="8229600" y="2240280"/>
            <a:ext cx="1773936" cy="1755648"/>
          </a:xfrm>
          <a:prstGeom prst="roundRect">
            <a:avLst>
              <a:gd name="adj" fmla="val 3646"/>
            </a:avLst>
          </a:prstGeom>
          <a:solidFill>
            <a:srgbClr val="FFFFFF"/>
          </a:solidFill>
          <a:ln w="12700">
            <a:solidFill>
              <a:srgbClr val="DCE4EE"/>
            </a:solidFill>
            <a:prstDash val="solid"/>
          </a:ln>
        </p:spPr>
      </p:sp>
      <p:sp>
        <p:nvSpPr>
          <p:cNvPr id="24" name="Text 22"/>
          <p:cNvSpPr/>
          <p:nvPr/>
        </p:nvSpPr>
        <p:spPr>
          <a:xfrm>
            <a:off x="8394192" y="2368296"/>
            <a:ext cx="1444752" cy="201168"/>
          </a:xfrm>
          <a:prstGeom prst="rect">
            <a:avLst/>
          </a:prstGeom>
          <a:noFill/>
          <a:ln/>
        </p:spPr>
        <p:txBody>
          <a:bodyPr wrap="square" lIns="0" tIns="0" rIns="0" bIns="0" rtlCol="0" anchor="ctr"/>
          <a:lstStyle/>
          <a:p>
            <a:pPr indent="0" marL="0">
              <a:buNone/>
            </a:pPr>
            <a:r>
              <a:rPr lang="en-US" sz="1400" b="1" dirty="0">
                <a:solidFill>
                  <a:srgbClr val="102133"/>
                </a:solidFill>
                <a:latin typeface="Aptos Display" pitchFamily="34" charset="0"/>
                <a:ea typeface="Aptos Display" pitchFamily="34" charset="-122"/>
                <a:cs typeface="Aptos Display" pitchFamily="34" charset="-120"/>
              </a:rPr>
              <a:t>Build + test</a:t>
            </a:r>
            <a:endParaRPr lang="en-US" sz="1400" dirty="0"/>
          </a:p>
        </p:txBody>
      </p:sp>
      <p:sp>
        <p:nvSpPr>
          <p:cNvPr id="25" name="Text 23"/>
          <p:cNvSpPr/>
          <p:nvPr/>
        </p:nvSpPr>
        <p:spPr>
          <a:xfrm>
            <a:off x="8394192" y="2651760"/>
            <a:ext cx="1444752" cy="1225296"/>
          </a:xfrm>
          <a:prstGeom prst="rect">
            <a:avLst/>
          </a:prstGeom>
          <a:noFill/>
          <a:ln/>
        </p:spPr>
        <p:txBody>
          <a:bodyPr wrap="square" lIns="0" tIns="0" rIns="0" bIns="0" rtlCol="0" anchor="ctr">
            <a:normAutofit/>
          </a:bodyPr>
          <a:lstStyle/>
          <a:p>
            <a:pPr indent="0" marL="0">
              <a:buNone/>
            </a:pPr>
            <a:r>
              <a:rPr lang="en-US" sz="1080" dirty="0">
                <a:solidFill>
                  <a:srgbClr val="5B6978"/>
                </a:solidFill>
                <a:latin typeface="Aptos" pitchFamily="34" charset="0"/>
                <a:ea typeface="Aptos" pitchFamily="34" charset="-122"/>
                <a:cs typeface="Aptos" pitchFamily="34" charset="-120"/>
              </a:rPr>
              <a:t>Docker image build and test commands run in sequence.</a:t>
            </a:r>
            <a:endParaRPr lang="en-US" sz="1080" dirty="0"/>
          </a:p>
        </p:txBody>
      </p:sp>
      <p:sp>
        <p:nvSpPr>
          <p:cNvPr id="26" name="Shape 24"/>
          <p:cNvSpPr/>
          <p:nvPr/>
        </p:nvSpPr>
        <p:spPr>
          <a:xfrm>
            <a:off x="10003536" y="3118104"/>
            <a:ext cx="164592" cy="0"/>
          </a:xfrm>
          <a:prstGeom prst="line">
            <a:avLst/>
          </a:prstGeom>
          <a:noFill/>
          <a:ln w="12700">
            <a:solidFill>
              <a:srgbClr val="2E68FF"/>
            </a:solidFill>
            <a:prstDash val="solid"/>
            <a:headEnd type="none"/>
            <a:tailEnd type="triangle"/>
          </a:ln>
        </p:spPr>
      </p:sp>
      <p:sp>
        <p:nvSpPr>
          <p:cNvPr id="27" name="Shape 25"/>
          <p:cNvSpPr/>
          <p:nvPr/>
        </p:nvSpPr>
        <p:spPr>
          <a:xfrm>
            <a:off x="10149840" y="2240280"/>
            <a:ext cx="1773936" cy="1755648"/>
          </a:xfrm>
          <a:prstGeom prst="roundRect">
            <a:avLst>
              <a:gd name="adj" fmla="val 3646"/>
            </a:avLst>
          </a:prstGeom>
          <a:solidFill>
            <a:srgbClr val="F8FAFF"/>
          </a:solidFill>
          <a:ln w="12700">
            <a:solidFill>
              <a:srgbClr val="DCE4EE"/>
            </a:solidFill>
            <a:prstDash val="solid"/>
          </a:ln>
        </p:spPr>
      </p:sp>
      <p:sp>
        <p:nvSpPr>
          <p:cNvPr id="28" name="Text 26"/>
          <p:cNvSpPr/>
          <p:nvPr/>
        </p:nvSpPr>
        <p:spPr>
          <a:xfrm>
            <a:off x="10314432" y="2368296"/>
            <a:ext cx="1444752" cy="201168"/>
          </a:xfrm>
          <a:prstGeom prst="rect">
            <a:avLst/>
          </a:prstGeom>
          <a:noFill/>
          <a:ln/>
        </p:spPr>
        <p:txBody>
          <a:bodyPr wrap="square" lIns="0" tIns="0" rIns="0" bIns="0" rtlCol="0" anchor="ctr"/>
          <a:lstStyle/>
          <a:p>
            <a:pPr indent="0" marL="0">
              <a:buNone/>
            </a:pPr>
            <a:r>
              <a:rPr lang="en-US" sz="1400" b="1" dirty="0">
                <a:solidFill>
                  <a:srgbClr val="102133"/>
                </a:solidFill>
                <a:latin typeface="Aptos Display" pitchFamily="34" charset="0"/>
                <a:ea typeface="Aptos Display" pitchFamily="34" charset="-122"/>
                <a:cs typeface="Aptos Display" pitchFamily="34" charset="-120"/>
              </a:rPr>
              <a:t>Deploy</a:t>
            </a:r>
            <a:endParaRPr lang="en-US" sz="1400" dirty="0"/>
          </a:p>
        </p:txBody>
      </p:sp>
      <p:sp>
        <p:nvSpPr>
          <p:cNvPr id="29" name="Text 27"/>
          <p:cNvSpPr/>
          <p:nvPr/>
        </p:nvSpPr>
        <p:spPr>
          <a:xfrm>
            <a:off x="10314432" y="2651760"/>
            <a:ext cx="1444752" cy="1225296"/>
          </a:xfrm>
          <a:prstGeom prst="rect">
            <a:avLst/>
          </a:prstGeom>
          <a:noFill/>
          <a:ln/>
        </p:spPr>
        <p:txBody>
          <a:bodyPr wrap="square" lIns="0" tIns="0" rIns="0" bIns="0" rtlCol="0" anchor="ctr">
            <a:normAutofit/>
          </a:bodyPr>
          <a:lstStyle/>
          <a:p>
            <a:pPr indent="0" marL="0">
              <a:buNone/>
            </a:pPr>
            <a:r>
              <a:rPr lang="en-US" sz="1080" dirty="0">
                <a:solidFill>
                  <a:srgbClr val="5B6978"/>
                </a:solidFill>
                <a:latin typeface="Aptos" pitchFamily="34" charset="0"/>
                <a:ea typeface="Aptos" pitchFamily="34" charset="-122"/>
                <a:cs typeface="Aptos" pitchFamily="34" charset="-120"/>
              </a:rPr>
              <a:t>Image push, target deploy, healthcheck, revision record.</a:t>
            </a:r>
            <a:endParaRPr lang="en-US" sz="1080" dirty="0"/>
          </a:p>
        </p:txBody>
      </p:sp>
      <p:sp>
        <p:nvSpPr>
          <p:cNvPr id="30" name="Shape 28"/>
          <p:cNvSpPr/>
          <p:nvPr/>
        </p:nvSpPr>
        <p:spPr>
          <a:xfrm>
            <a:off x="960120" y="4617720"/>
            <a:ext cx="4709160" cy="914400"/>
          </a:xfrm>
          <a:prstGeom prst="roundRect">
            <a:avLst>
              <a:gd name="adj" fmla="val 7000"/>
            </a:avLst>
          </a:prstGeom>
          <a:solidFill>
            <a:srgbClr val="ECF8F2"/>
          </a:solidFill>
          <a:ln w="12700">
            <a:solidFill>
              <a:srgbClr val="CFE9DD"/>
            </a:solidFill>
            <a:prstDash val="solid"/>
          </a:ln>
        </p:spPr>
      </p:sp>
      <p:sp>
        <p:nvSpPr>
          <p:cNvPr id="31" name="Text 29"/>
          <p:cNvSpPr/>
          <p:nvPr/>
        </p:nvSpPr>
        <p:spPr>
          <a:xfrm>
            <a:off x="1124712" y="4745736"/>
            <a:ext cx="4379976" cy="201168"/>
          </a:xfrm>
          <a:prstGeom prst="rect">
            <a:avLst/>
          </a:prstGeom>
          <a:noFill/>
          <a:ln/>
        </p:spPr>
        <p:txBody>
          <a:bodyPr wrap="square" lIns="0" tIns="0" rIns="0" bIns="0" rtlCol="0" anchor="ctr"/>
          <a:lstStyle/>
          <a:p>
            <a:pPr indent="0" marL="0">
              <a:buNone/>
            </a:pPr>
            <a:r>
              <a:rPr lang="en-US" sz="1400" b="1" dirty="0">
                <a:solidFill>
                  <a:srgbClr val="102133"/>
                </a:solidFill>
                <a:latin typeface="Aptos Display" pitchFamily="34" charset="0"/>
                <a:ea typeface="Aptos Display" pitchFamily="34" charset="-122"/>
                <a:cs typeface="Aptos Display" pitchFamily="34" charset="-120"/>
              </a:rPr>
              <a:t>Persistent state</a:t>
            </a:r>
            <a:endParaRPr lang="en-US" sz="1400" dirty="0"/>
          </a:p>
        </p:txBody>
      </p:sp>
      <p:sp>
        <p:nvSpPr>
          <p:cNvPr id="32" name="Text 30"/>
          <p:cNvSpPr/>
          <p:nvPr/>
        </p:nvSpPr>
        <p:spPr>
          <a:xfrm>
            <a:off x="1124712" y="5029200"/>
            <a:ext cx="4379976" cy="384048"/>
          </a:xfrm>
          <a:prstGeom prst="rect">
            <a:avLst/>
          </a:prstGeom>
          <a:noFill/>
          <a:ln/>
        </p:spPr>
        <p:txBody>
          <a:bodyPr wrap="square" lIns="0" tIns="0" rIns="0" bIns="0" rtlCol="0" anchor="ctr">
            <a:normAutofit/>
          </a:bodyPr>
          <a:lstStyle/>
          <a:p>
            <a:pPr indent="0" marL="0">
              <a:buNone/>
            </a:pPr>
            <a:r>
              <a:rPr lang="en-US" sz="1130" dirty="0">
                <a:solidFill>
                  <a:srgbClr val="5B6978"/>
                </a:solidFill>
                <a:latin typeface="Aptos" pitchFamily="34" charset="0"/>
                <a:ea typeface="Aptos" pitchFamily="34" charset="-122"/>
                <a:cs typeface="Aptos" pitchFamily="34" charset="-120"/>
              </a:rPr>
              <a:t>Runs, stages, logs, delivery outcomes, targets, revisions, and approvals all land in Postgres for traceability.</a:t>
            </a:r>
            <a:endParaRPr lang="en-US" sz="1130" dirty="0"/>
          </a:p>
        </p:txBody>
      </p:sp>
      <p:sp>
        <p:nvSpPr>
          <p:cNvPr id="33" name="Shape 31"/>
          <p:cNvSpPr/>
          <p:nvPr/>
        </p:nvSpPr>
        <p:spPr>
          <a:xfrm>
            <a:off x="6355080" y="4617720"/>
            <a:ext cx="4709160" cy="914400"/>
          </a:xfrm>
          <a:prstGeom prst="roundRect">
            <a:avLst>
              <a:gd name="adj" fmla="val 7000"/>
            </a:avLst>
          </a:prstGeom>
          <a:solidFill>
            <a:srgbClr val="FFF2E3"/>
          </a:solidFill>
          <a:ln w="12700">
            <a:solidFill>
              <a:srgbClr val="F2D8B8"/>
            </a:solidFill>
            <a:prstDash val="solid"/>
          </a:ln>
        </p:spPr>
      </p:sp>
      <p:sp>
        <p:nvSpPr>
          <p:cNvPr id="34" name="Text 32"/>
          <p:cNvSpPr/>
          <p:nvPr/>
        </p:nvSpPr>
        <p:spPr>
          <a:xfrm>
            <a:off x="6519672" y="4745736"/>
            <a:ext cx="4379976" cy="201168"/>
          </a:xfrm>
          <a:prstGeom prst="rect">
            <a:avLst/>
          </a:prstGeom>
          <a:noFill/>
          <a:ln/>
        </p:spPr>
        <p:txBody>
          <a:bodyPr wrap="square" lIns="0" tIns="0" rIns="0" bIns="0" rtlCol="0" anchor="ctr"/>
          <a:lstStyle/>
          <a:p>
            <a:pPr indent="0" marL="0">
              <a:buNone/>
            </a:pPr>
            <a:r>
              <a:rPr lang="en-US" sz="1400" b="1" dirty="0">
                <a:solidFill>
                  <a:srgbClr val="102133"/>
                </a:solidFill>
                <a:latin typeface="Aptos Display" pitchFamily="34" charset="0"/>
                <a:ea typeface="Aptos Display" pitchFamily="34" charset="-122"/>
                <a:cs typeface="Aptos Display" pitchFamily="34" charset="-120"/>
              </a:rPr>
              <a:t>Operator result</a:t>
            </a:r>
            <a:endParaRPr lang="en-US" sz="1400" dirty="0"/>
          </a:p>
        </p:txBody>
      </p:sp>
      <p:sp>
        <p:nvSpPr>
          <p:cNvPr id="35" name="Text 33"/>
          <p:cNvSpPr/>
          <p:nvPr/>
        </p:nvSpPr>
        <p:spPr>
          <a:xfrm>
            <a:off x="6519672" y="5029200"/>
            <a:ext cx="4379976" cy="384048"/>
          </a:xfrm>
          <a:prstGeom prst="rect">
            <a:avLst/>
          </a:prstGeom>
          <a:noFill/>
          <a:ln/>
        </p:spPr>
        <p:txBody>
          <a:bodyPr wrap="square" lIns="0" tIns="0" rIns="0" bIns="0" rtlCol="0" anchor="ctr">
            <a:normAutofit/>
          </a:bodyPr>
          <a:lstStyle/>
          <a:p>
            <a:pPr indent="0" marL="0">
              <a:buNone/>
            </a:pPr>
            <a:r>
              <a:rPr lang="en-US" sz="1130" dirty="0">
                <a:solidFill>
                  <a:srgbClr val="5B6978"/>
                </a:solidFill>
                <a:latin typeface="Aptos" pitchFamily="34" charset="0"/>
                <a:ea typeface="Aptos" pitchFamily="34" charset="-122"/>
                <a:cs typeface="Aptos" pitchFamily="34" charset="-120"/>
              </a:rPr>
              <a:t>The dashboard can immediately show what failed, where it failed, and what the next safe recovery action should be.</a:t>
            </a:r>
            <a:endParaRPr lang="en-US" sz="1130" dirty="0"/>
          </a:p>
        </p:txBody>
      </p:sp>
      <p:sp>
        <p:nvSpPr>
          <p:cNvPr id="36" name="Text 34"/>
          <p:cNvSpPr/>
          <p:nvPr/>
        </p:nvSpPr>
        <p:spPr>
          <a:xfrm>
            <a:off x="11338560" y="6409944"/>
            <a:ext cx="256032" cy="146304"/>
          </a:xfrm>
          <a:prstGeom prst="rect">
            <a:avLst/>
          </a:prstGeom>
          <a:noFill/>
          <a:ln/>
        </p:spPr>
        <p:txBody>
          <a:bodyPr wrap="square" lIns="0" tIns="0" rIns="0" bIns="0" rtlCol="0" anchor="ctr"/>
          <a:lstStyle/>
          <a:p>
            <a:pPr algn="r" indent="0" marL="0">
              <a:buNone/>
            </a:pPr>
            <a:r>
              <a:rPr lang="en-US" sz="950" dirty="0">
                <a:solidFill>
                  <a:srgbClr val="5B6978"/>
                </a:solidFill>
                <a:latin typeface="Aptos" pitchFamily="34" charset="0"/>
                <a:ea typeface="Aptos" pitchFamily="34" charset="-122"/>
                <a:cs typeface="Aptos" pitchFamily="34" charset="-120"/>
              </a:rPr>
              <a:t>5</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8F2"/>
        </a:solidFill>
      </p:bgPr>
    </p:bg>
    <p:spTree>
      <p:nvGrpSpPr>
        <p:cNvPr id="1" name=""/>
        <p:cNvGrpSpPr/>
        <p:nvPr/>
      </p:nvGrpSpPr>
      <p:grpSpPr>
        <a:xfrm>
          <a:off x="0" y="0"/>
          <a:ext cx="0" cy="0"/>
          <a:chOff x="0" y="0"/>
          <a:chExt cx="0" cy="0"/>
        </a:xfrm>
      </p:grpSpPr>
      <p:sp>
        <p:nvSpPr>
          <p:cNvPr id="2" name="Shape 0"/>
          <p:cNvSpPr/>
          <p:nvPr/>
        </p:nvSpPr>
        <p:spPr>
          <a:xfrm>
            <a:off x="0" y="0"/>
            <a:ext cx="12191695" cy="201168"/>
          </a:xfrm>
          <a:prstGeom prst="rect">
            <a:avLst/>
          </a:prstGeom>
          <a:solidFill>
            <a:srgbClr val="2E68FF"/>
          </a:solidFill>
          <a:ln w="12700">
            <a:solidFill>
              <a:srgbClr val="2E68FF"/>
            </a:solidFill>
            <a:prstDash val="solid"/>
          </a:ln>
        </p:spPr>
      </p:sp>
      <p:sp>
        <p:nvSpPr>
          <p:cNvPr id="3" name="Text 1"/>
          <p:cNvSpPr/>
          <p:nvPr/>
        </p:nvSpPr>
        <p:spPr>
          <a:xfrm>
            <a:off x="621792" y="347472"/>
            <a:ext cx="3108960" cy="201168"/>
          </a:xfrm>
          <a:prstGeom prst="rect">
            <a:avLst/>
          </a:prstGeom>
          <a:noFill/>
          <a:ln/>
        </p:spPr>
        <p:txBody>
          <a:bodyPr wrap="square" lIns="0" tIns="0" rIns="0" bIns="0" rtlCol="0" anchor="ctr"/>
          <a:lstStyle/>
          <a:p>
            <a:pPr indent="0" marL="0">
              <a:buNone/>
            </a:pPr>
            <a:r>
              <a:rPr lang="en-US" sz="1000" b="1" dirty="0">
                <a:solidFill>
                  <a:srgbClr val="2E68FF"/>
                </a:solidFill>
                <a:latin typeface="Aptos" pitchFamily="34" charset="0"/>
                <a:ea typeface="Aptos" pitchFamily="34" charset="-122"/>
                <a:cs typeface="Aptos" pitchFamily="34" charset="-120"/>
              </a:rPr>
              <a:t>Product UI</a:t>
            </a:r>
            <a:endParaRPr lang="en-US" sz="1000" dirty="0"/>
          </a:p>
        </p:txBody>
      </p:sp>
      <p:sp>
        <p:nvSpPr>
          <p:cNvPr id="4" name="Text 2"/>
          <p:cNvSpPr/>
          <p:nvPr/>
        </p:nvSpPr>
        <p:spPr>
          <a:xfrm>
            <a:off x="621792" y="658368"/>
            <a:ext cx="8046720" cy="457200"/>
          </a:xfrm>
          <a:prstGeom prst="rect">
            <a:avLst/>
          </a:prstGeom>
          <a:noFill/>
          <a:ln/>
        </p:spPr>
        <p:txBody>
          <a:bodyPr wrap="square" lIns="0" tIns="0" rIns="0" bIns="0" rtlCol="0" anchor="ctr"/>
          <a:lstStyle/>
          <a:p>
            <a:pPr indent="0" marL="0">
              <a:buNone/>
            </a:pPr>
            <a:r>
              <a:rPr lang="en-US" sz="2400" b="1" dirty="0">
                <a:solidFill>
                  <a:srgbClr val="102133"/>
                </a:solidFill>
                <a:latin typeface="Aptos Display" pitchFamily="34" charset="0"/>
                <a:ea typeface="Aptos Display" pitchFamily="34" charset="-122"/>
                <a:cs typeface="Aptos Display" pitchFamily="34" charset="-120"/>
              </a:rPr>
              <a:t>Overview page for the operator</a:t>
            </a:r>
            <a:endParaRPr lang="en-US" sz="2400" dirty="0"/>
          </a:p>
        </p:txBody>
      </p:sp>
      <p:sp>
        <p:nvSpPr>
          <p:cNvPr id="5" name="Text 3"/>
          <p:cNvSpPr/>
          <p:nvPr/>
        </p:nvSpPr>
        <p:spPr>
          <a:xfrm>
            <a:off x="621792" y="1143000"/>
            <a:ext cx="9784080" cy="310896"/>
          </a:xfrm>
          <a:prstGeom prst="rect">
            <a:avLst/>
          </a:prstGeom>
          <a:noFill/>
          <a:ln/>
        </p:spPr>
        <p:txBody>
          <a:bodyPr wrap="square" lIns="0" tIns="0" rIns="0" bIns="0" rtlCol="0" anchor="ctr"/>
          <a:lstStyle/>
          <a:p>
            <a:pPr indent="0" marL="0">
              <a:buNone/>
            </a:pPr>
            <a:r>
              <a:rPr lang="en-US" sz="1150" dirty="0">
                <a:solidFill>
                  <a:srgbClr val="5B6978"/>
                </a:solidFill>
                <a:latin typeface="Aptos" pitchFamily="34" charset="0"/>
                <a:ea typeface="Aptos" pitchFamily="34" charset="-122"/>
                <a:cs typeface="Aptos" pitchFamily="34" charset="-120"/>
              </a:rPr>
              <a:t>The dashboard starts with the things that need attention first.</a:t>
            </a:r>
            <a:endParaRPr lang="en-US" sz="1150" dirty="0"/>
          </a:p>
        </p:txBody>
      </p:sp>
      <p:sp>
        <p:nvSpPr>
          <p:cNvPr id="6" name="Text 4"/>
          <p:cNvSpPr/>
          <p:nvPr/>
        </p:nvSpPr>
        <p:spPr>
          <a:xfrm>
            <a:off x="10652760" y="347472"/>
            <a:ext cx="914400" cy="201168"/>
          </a:xfrm>
          <a:prstGeom prst="rect">
            <a:avLst/>
          </a:prstGeom>
          <a:noFill/>
          <a:ln/>
        </p:spPr>
        <p:txBody>
          <a:bodyPr wrap="square" lIns="0" tIns="0" rIns="0" bIns="0" rtlCol="0" anchor="ctr"/>
          <a:lstStyle/>
          <a:p>
            <a:pPr algn="r" indent="0" marL="0">
              <a:buNone/>
            </a:pPr>
            <a:r>
              <a:rPr lang="en-US" sz="1000" b="1" dirty="0">
                <a:solidFill>
                  <a:srgbClr val="5B6978"/>
                </a:solidFill>
                <a:latin typeface="Aptos" pitchFamily="34" charset="0"/>
                <a:ea typeface="Aptos" pitchFamily="34" charset="-122"/>
                <a:cs typeface="Aptos" pitchFamily="34" charset="-120"/>
              </a:rPr>
              <a:t>AutoOps</a:t>
            </a:r>
            <a:endParaRPr lang="en-US" sz="1000" dirty="0"/>
          </a:p>
        </p:txBody>
      </p:sp>
      <p:sp>
        <p:nvSpPr>
          <p:cNvPr id="7" name="Shape 5"/>
          <p:cNvSpPr/>
          <p:nvPr/>
        </p:nvSpPr>
        <p:spPr>
          <a:xfrm>
            <a:off x="713232" y="1700784"/>
            <a:ext cx="6812280" cy="4297680"/>
          </a:xfrm>
          <a:prstGeom prst="roundRect">
            <a:avLst>
              <a:gd name="adj" fmla="val 1489"/>
            </a:avLst>
          </a:prstGeom>
          <a:solidFill>
            <a:srgbClr val="FFFFFF"/>
          </a:solidFill>
          <a:ln w="12700">
            <a:solidFill>
              <a:srgbClr val="DCE4EE"/>
            </a:solidFill>
            <a:prstDash val="solid"/>
          </a:ln>
        </p:spPr>
      </p:sp>
      <p:sp>
        <p:nvSpPr>
          <p:cNvPr id="8" name="Shape 6"/>
          <p:cNvSpPr/>
          <p:nvPr/>
        </p:nvSpPr>
        <p:spPr>
          <a:xfrm>
            <a:off x="841248" y="1828800"/>
            <a:ext cx="6556248" cy="4041648"/>
          </a:xfrm>
          <a:prstGeom prst="rect">
            <a:avLst/>
          </a:prstGeom>
          <a:solidFill>
            <a:srgbClr val="F6F8FB"/>
          </a:solidFill>
          <a:ln w="12700">
            <a:solidFill>
              <a:srgbClr val="F6F8FB"/>
            </a:solidFill>
            <a:prstDash val="solid"/>
          </a:ln>
        </p:spPr>
      </p:sp>
      <p:pic>
        <p:nvPicPr>
          <p:cNvPr id="9" name="Image 0" descr="/opt/AutoOps/results-assets/screenshots/overview-page.png">    </p:cNvPr>
          <p:cNvPicPr>
            <a:picLocks noChangeAspect="1"/>
          </p:cNvPicPr>
          <p:nvPr/>
        </p:nvPicPr>
        <p:blipFill>
          <a:blip r:embed="rId1"/>
          <a:stretch>
            <a:fillRect/>
          </a:stretch>
        </p:blipFill>
        <p:spPr>
          <a:xfrm>
            <a:off x="859536" y="1847088"/>
            <a:ext cx="6519672" cy="4005072"/>
          </a:xfrm>
          <a:prstGeom prst="rect">
            <a:avLst/>
          </a:prstGeom>
        </p:spPr>
      </p:pic>
      <p:sp>
        <p:nvSpPr>
          <p:cNvPr id="10" name="Shape 7"/>
          <p:cNvSpPr/>
          <p:nvPr/>
        </p:nvSpPr>
        <p:spPr>
          <a:xfrm>
            <a:off x="877824" y="1536192"/>
            <a:ext cx="1508760" cy="310896"/>
          </a:xfrm>
          <a:prstGeom prst="roundRect">
            <a:avLst>
              <a:gd name="adj" fmla="val 26471"/>
            </a:avLst>
          </a:prstGeom>
          <a:solidFill>
            <a:srgbClr val="2E68FF"/>
          </a:solidFill>
          <a:ln w="12700">
            <a:solidFill>
              <a:srgbClr val="2E68FF"/>
            </a:solidFill>
            <a:prstDash val="solid"/>
          </a:ln>
        </p:spPr>
      </p:sp>
      <p:sp>
        <p:nvSpPr>
          <p:cNvPr id="11" name="Text 8"/>
          <p:cNvSpPr/>
          <p:nvPr/>
        </p:nvSpPr>
        <p:spPr>
          <a:xfrm>
            <a:off x="941832" y="1581912"/>
            <a:ext cx="1380744" cy="128016"/>
          </a:xfrm>
          <a:prstGeom prst="rect">
            <a:avLst/>
          </a:prstGeom>
          <a:noFill/>
          <a:ln/>
        </p:spPr>
        <p:txBody>
          <a:bodyPr wrap="square" lIns="0" tIns="0" rIns="0" bIns="0" rtlCol="0" anchor="ctr"/>
          <a:lstStyle/>
          <a:p>
            <a:pPr algn="ctr" indent="0" marL="0">
              <a:buNone/>
            </a:pPr>
            <a:r>
              <a:rPr lang="en-US" sz="960" b="1" dirty="0">
                <a:solidFill>
                  <a:srgbClr val="FFFFFF"/>
                </a:solidFill>
                <a:latin typeface="Aptos" pitchFamily="34" charset="0"/>
                <a:ea typeface="Aptos" pitchFamily="34" charset="-122"/>
                <a:cs typeface="Aptos" pitchFamily="34" charset="-120"/>
              </a:rPr>
              <a:t>Overview</a:t>
            </a:r>
            <a:endParaRPr lang="en-US" sz="960" dirty="0"/>
          </a:p>
        </p:txBody>
      </p:sp>
      <p:sp>
        <p:nvSpPr>
          <p:cNvPr id="12" name="Shape 9"/>
          <p:cNvSpPr/>
          <p:nvPr/>
        </p:nvSpPr>
        <p:spPr>
          <a:xfrm>
            <a:off x="7818120" y="1828800"/>
            <a:ext cx="3456432" cy="914400"/>
          </a:xfrm>
          <a:prstGeom prst="roundRect">
            <a:avLst>
              <a:gd name="adj" fmla="val 7000"/>
            </a:avLst>
          </a:prstGeom>
          <a:solidFill>
            <a:srgbClr val="F4F8FF"/>
          </a:solidFill>
          <a:ln w="12700">
            <a:solidFill>
              <a:srgbClr val="D4E4FF"/>
            </a:solidFill>
            <a:prstDash val="solid"/>
          </a:ln>
        </p:spPr>
      </p:sp>
      <p:sp>
        <p:nvSpPr>
          <p:cNvPr id="13" name="Text 10"/>
          <p:cNvSpPr/>
          <p:nvPr/>
        </p:nvSpPr>
        <p:spPr>
          <a:xfrm>
            <a:off x="7982712" y="1956816"/>
            <a:ext cx="3127248" cy="201168"/>
          </a:xfrm>
          <a:prstGeom prst="rect">
            <a:avLst/>
          </a:prstGeom>
          <a:noFill/>
          <a:ln/>
        </p:spPr>
        <p:txBody>
          <a:bodyPr wrap="square" lIns="0" tIns="0" rIns="0" bIns="0" rtlCol="0" anchor="ctr"/>
          <a:lstStyle/>
          <a:p>
            <a:pPr indent="0" marL="0">
              <a:buNone/>
            </a:pPr>
            <a:r>
              <a:rPr lang="en-US" sz="1400" b="1" dirty="0">
                <a:solidFill>
                  <a:srgbClr val="102133"/>
                </a:solidFill>
                <a:latin typeface="Aptos Display" pitchFamily="34" charset="0"/>
                <a:ea typeface="Aptos Display" pitchFamily="34" charset="-122"/>
                <a:cs typeface="Aptos Display" pitchFamily="34" charset="-120"/>
              </a:rPr>
              <a:t>What it shows</a:t>
            </a:r>
            <a:endParaRPr lang="en-US" sz="1400" dirty="0"/>
          </a:p>
        </p:txBody>
      </p:sp>
      <p:sp>
        <p:nvSpPr>
          <p:cNvPr id="14" name="Text 11"/>
          <p:cNvSpPr/>
          <p:nvPr/>
        </p:nvSpPr>
        <p:spPr>
          <a:xfrm>
            <a:off x="7982712" y="2240280"/>
            <a:ext cx="3127248" cy="384048"/>
          </a:xfrm>
          <a:prstGeom prst="rect">
            <a:avLst/>
          </a:prstGeom>
          <a:noFill/>
          <a:ln/>
        </p:spPr>
        <p:txBody>
          <a:bodyPr wrap="square" lIns="0" tIns="0" rIns="0" bIns="0" rtlCol="0" anchor="ctr">
            <a:normAutofit/>
          </a:bodyPr>
          <a:lstStyle/>
          <a:p>
            <a:pPr indent="0" marL="0">
              <a:buNone/>
            </a:pPr>
            <a:r>
              <a:rPr lang="en-US" sz="1130" dirty="0">
                <a:solidFill>
                  <a:srgbClr val="5B6978"/>
                </a:solidFill>
                <a:latin typeface="Aptos" pitchFamily="34" charset="0"/>
                <a:ea typeface="Aptos" pitchFamily="34" charset="-122"/>
                <a:cs typeface="Aptos" pitchFamily="34" charset="-120"/>
              </a:rPr>
              <a:t>Project count, running work, success rate, unhealthy targets, and pending approvals.</a:t>
            </a:r>
            <a:endParaRPr lang="en-US" sz="1130" dirty="0"/>
          </a:p>
        </p:txBody>
      </p:sp>
      <p:sp>
        <p:nvSpPr>
          <p:cNvPr id="15" name="Shape 12"/>
          <p:cNvSpPr/>
          <p:nvPr/>
        </p:nvSpPr>
        <p:spPr>
          <a:xfrm>
            <a:off x="7818120" y="2944368"/>
            <a:ext cx="3456432" cy="914400"/>
          </a:xfrm>
          <a:prstGeom prst="roundRect">
            <a:avLst>
              <a:gd name="adj" fmla="val 7000"/>
            </a:avLst>
          </a:prstGeom>
          <a:solidFill>
            <a:srgbClr val="FFFFFF"/>
          </a:solidFill>
          <a:ln w="12700">
            <a:solidFill>
              <a:srgbClr val="DCE4EE"/>
            </a:solidFill>
            <a:prstDash val="solid"/>
          </a:ln>
        </p:spPr>
      </p:sp>
      <p:sp>
        <p:nvSpPr>
          <p:cNvPr id="16" name="Text 13"/>
          <p:cNvSpPr/>
          <p:nvPr/>
        </p:nvSpPr>
        <p:spPr>
          <a:xfrm>
            <a:off x="7982712" y="3072384"/>
            <a:ext cx="3127248" cy="201168"/>
          </a:xfrm>
          <a:prstGeom prst="rect">
            <a:avLst/>
          </a:prstGeom>
          <a:noFill/>
          <a:ln/>
        </p:spPr>
        <p:txBody>
          <a:bodyPr wrap="square" lIns="0" tIns="0" rIns="0" bIns="0" rtlCol="0" anchor="ctr"/>
          <a:lstStyle/>
          <a:p>
            <a:pPr indent="0" marL="0">
              <a:buNone/>
            </a:pPr>
            <a:r>
              <a:rPr lang="en-US" sz="1400" b="1" dirty="0">
                <a:solidFill>
                  <a:srgbClr val="102133"/>
                </a:solidFill>
                <a:latin typeface="Aptos Display" pitchFamily="34" charset="0"/>
                <a:ea typeface="Aptos Display" pitchFamily="34" charset="-122"/>
                <a:cs typeface="Aptos Display" pitchFamily="34" charset="-120"/>
              </a:rPr>
              <a:t>Why it matters</a:t>
            </a:r>
            <a:endParaRPr lang="en-US" sz="1400" dirty="0"/>
          </a:p>
        </p:txBody>
      </p:sp>
      <p:sp>
        <p:nvSpPr>
          <p:cNvPr id="17" name="Text 14"/>
          <p:cNvSpPr/>
          <p:nvPr/>
        </p:nvSpPr>
        <p:spPr>
          <a:xfrm>
            <a:off x="7982712" y="3355848"/>
            <a:ext cx="3127248" cy="384048"/>
          </a:xfrm>
          <a:prstGeom prst="rect">
            <a:avLst/>
          </a:prstGeom>
          <a:noFill/>
          <a:ln/>
        </p:spPr>
        <p:txBody>
          <a:bodyPr wrap="square" lIns="0" tIns="0" rIns="0" bIns="0" rtlCol="0" anchor="ctr">
            <a:normAutofit/>
          </a:bodyPr>
          <a:lstStyle/>
          <a:p>
            <a:pPr indent="0" marL="0">
              <a:buNone/>
            </a:pPr>
            <a:r>
              <a:rPr lang="en-US" sz="1130" dirty="0">
                <a:solidFill>
                  <a:srgbClr val="5B6978"/>
                </a:solidFill>
                <a:latin typeface="Aptos" pitchFamily="34" charset="0"/>
                <a:ea typeface="Aptos" pitchFamily="34" charset="-122"/>
                <a:cs typeface="Aptos" pitchFamily="34" charset="-120"/>
              </a:rPr>
              <a:t>The page is tuned for triage: latest failure, active work, and fast rerun access are all surfaced immediately.</a:t>
            </a:r>
            <a:endParaRPr lang="en-US" sz="1130" dirty="0"/>
          </a:p>
        </p:txBody>
      </p:sp>
      <p:sp>
        <p:nvSpPr>
          <p:cNvPr id="21" name="Text 18"/>
          <p:cNvSpPr/>
          <p:nvPr/>
        </p:nvSpPr>
        <p:spPr>
          <a:xfrm>
            <a:off x="11338560" y="6409944"/>
            <a:ext cx="256032" cy="146304"/>
          </a:xfrm>
          <a:prstGeom prst="rect">
            <a:avLst/>
          </a:prstGeom>
          <a:noFill/>
          <a:ln/>
        </p:spPr>
        <p:txBody>
          <a:bodyPr wrap="square" lIns="0" tIns="0" rIns="0" bIns="0" rtlCol="0" anchor="ctr"/>
          <a:lstStyle/>
          <a:p>
            <a:pPr algn="r" indent="0" marL="0">
              <a:buNone/>
            </a:pPr>
            <a:r>
              <a:rPr lang="en-US" sz="950" dirty="0">
                <a:solidFill>
                  <a:srgbClr val="5B6978"/>
                </a:solidFill>
                <a:latin typeface="Aptos" pitchFamily="34" charset="0"/>
                <a:ea typeface="Aptos" pitchFamily="34" charset="-122"/>
                <a:cs typeface="Aptos" pitchFamily="34" charset="-120"/>
              </a:rPr>
              <a:t>6</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8F2"/>
        </a:solidFill>
      </p:bgPr>
    </p:bg>
    <p:spTree>
      <p:nvGrpSpPr>
        <p:cNvPr id="1" name=""/>
        <p:cNvGrpSpPr/>
        <p:nvPr/>
      </p:nvGrpSpPr>
      <p:grpSpPr>
        <a:xfrm>
          <a:off x="0" y="0"/>
          <a:ext cx="0" cy="0"/>
          <a:chOff x="0" y="0"/>
          <a:chExt cx="0" cy="0"/>
        </a:xfrm>
      </p:grpSpPr>
      <p:sp>
        <p:nvSpPr>
          <p:cNvPr id="2" name="Shape 0"/>
          <p:cNvSpPr/>
          <p:nvPr/>
        </p:nvSpPr>
        <p:spPr>
          <a:xfrm>
            <a:off x="0" y="0"/>
            <a:ext cx="12191695" cy="201168"/>
          </a:xfrm>
          <a:prstGeom prst="rect">
            <a:avLst/>
          </a:prstGeom>
          <a:solidFill>
            <a:srgbClr val="2E68FF"/>
          </a:solidFill>
          <a:ln w="12700">
            <a:solidFill>
              <a:srgbClr val="2E68FF"/>
            </a:solidFill>
            <a:prstDash val="solid"/>
          </a:ln>
        </p:spPr>
      </p:sp>
      <p:sp>
        <p:nvSpPr>
          <p:cNvPr id="3" name="Text 1"/>
          <p:cNvSpPr/>
          <p:nvPr/>
        </p:nvSpPr>
        <p:spPr>
          <a:xfrm>
            <a:off x="621792" y="347472"/>
            <a:ext cx="3108960" cy="201168"/>
          </a:xfrm>
          <a:prstGeom prst="rect">
            <a:avLst/>
          </a:prstGeom>
          <a:noFill/>
          <a:ln/>
        </p:spPr>
        <p:txBody>
          <a:bodyPr wrap="square" lIns="0" tIns="0" rIns="0" bIns="0" rtlCol="0" anchor="ctr"/>
          <a:lstStyle/>
          <a:p>
            <a:pPr indent="0" marL="0">
              <a:buNone/>
            </a:pPr>
            <a:r>
              <a:rPr lang="en-US" sz="1000" b="1" dirty="0">
                <a:solidFill>
                  <a:srgbClr val="2E68FF"/>
                </a:solidFill>
                <a:latin typeface="Aptos" pitchFamily="34" charset="0"/>
                <a:ea typeface="Aptos" pitchFamily="34" charset="-122"/>
                <a:cs typeface="Aptos" pitchFamily="34" charset="-120"/>
              </a:rPr>
              <a:t>Onboarding</a:t>
            </a:r>
            <a:endParaRPr lang="en-US" sz="1000" dirty="0"/>
          </a:p>
        </p:txBody>
      </p:sp>
      <p:sp>
        <p:nvSpPr>
          <p:cNvPr id="4" name="Text 2"/>
          <p:cNvSpPr/>
          <p:nvPr/>
        </p:nvSpPr>
        <p:spPr>
          <a:xfrm>
            <a:off x="621792" y="658368"/>
            <a:ext cx="8046720" cy="457200"/>
          </a:xfrm>
          <a:prstGeom prst="rect">
            <a:avLst/>
          </a:prstGeom>
          <a:noFill/>
          <a:ln/>
        </p:spPr>
        <p:txBody>
          <a:bodyPr wrap="square" lIns="0" tIns="0" rIns="0" bIns="0" rtlCol="0" anchor="ctr"/>
          <a:lstStyle/>
          <a:p>
            <a:pPr indent="0" marL="0">
              <a:buNone/>
            </a:pPr>
            <a:r>
              <a:rPr lang="en-US" sz="2400" b="1" dirty="0">
                <a:solidFill>
                  <a:srgbClr val="102133"/>
                </a:solidFill>
                <a:latin typeface="Aptos Display" pitchFamily="34" charset="0"/>
                <a:ea typeface="Aptos Display" pitchFamily="34" charset="-122"/>
                <a:cs typeface="Aptos Display" pitchFamily="34" charset="-120"/>
              </a:rPr>
              <a:t>GitHub connection and repository discovery</a:t>
            </a:r>
            <a:endParaRPr lang="en-US" sz="2400" dirty="0"/>
          </a:p>
        </p:txBody>
      </p:sp>
      <p:sp>
        <p:nvSpPr>
          <p:cNvPr id="5" name="Text 3"/>
          <p:cNvSpPr/>
          <p:nvPr/>
        </p:nvSpPr>
        <p:spPr>
          <a:xfrm>
            <a:off x="621792" y="1143000"/>
            <a:ext cx="9784080" cy="310896"/>
          </a:xfrm>
          <a:prstGeom prst="rect">
            <a:avLst/>
          </a:prstGeom>
          <a:noFill/>
          <a:ln/>
        </p:spPr>
        <p:txBody>
          <a:bodyPr wrap="square" lIns="0" tIns="0" rIns="0" bIns="0" rtlCol="0" anchor="ctr"/>
          <a:lstStyle/>
          <a:p>
            <a:pPr indent="0" marL="0">
              <a:buNone/>
            </a:pPr>
            <a:r>
              <a:rPr lang="en-US" sz="1150" dirty="0">
                <a:solidFill>
                  <a:srgbClr val="5B6978"/>
                </a:solidFill>
                <a:latin typeface="Aptos" pitchFamily="34" charset="0"/>
                <a:ea typeface="Aptos" pitchFamily="34" charset="-122"/>
                <a:cs typeface="Aptos" pitchFamily="34" charset="-120"/>
              </a:rPr>
              <a:t>This is where AutoOps links source repositories to managed or custom deployment paths.</a:t>
            </a:r>
            <a:endParaRPr lang="en-US" sz="1150" dirty="0"/>
          </a:p>
        </p:txBody>
      </p:sp>
      <p:sp>
        <p:nvSpPr>
          <p:cNvPr id="6" name="Text 4"/>
          <p:cNvSpPr/>
          <p:nvPr/>
        </p:nvSpPr>
        <p:spPr>
          <a:xfrm>
            <a:off x="10652760" y="347472"/>
            <a:ext cx="914400" cy="201168"/>
          </a:xfrm>
          <a:prstGeom prst="rect">
            <a:avLst/>
          </a:prstGeom>
          <a:noFill/>
          <a:ln/>
        </p:spPr>
        <p:txBody>
          <a:bodyPr wrap="square" lIns="0" tIns="0" rIns="0" bIns="0" rtlCol="0" anchor="ctr"/>
          <a:lstStyle/>
          <a:p>
            <a:pPr algn="r" indent="0" marL="0">
              <a:buNone/>
            </a:pPr>
            <a:r>
              <a:rPr lang="en-US" sz="1000" b="1" dirty="0">
                <a:solidFill>
                  <a:srgbClr val="5B6978"/>
                </a:solidFill>
                <a:latin typeface="Aptos" pitchFamily="34" charset="0"/>
                <a:ea typeface="Aptos" pitchFamily="34" charset="-122"/>
                <a:cs typeface="Aptos" pitchFamily="34" charset="-120"/>
              </a:rPr>
              <a:t>AutoOps</a:t>
            </a:r>
            <a:endParaRPr lang="en-US" sz="1000" dirty="0"/>
          </a:p>
        </p:txBody>
      </p:sp>
      <p:sp>
        <p:nvSpPr>
          <p:cNvPr id="7" name="Shape 5"/>
          <p:cNvSpPr/>
          <p:nvPr/>
        </p:nvSpPr>
        <p:spPr>
          <a:xfrm>
            <a:off x="749808" y="1783080"/>
            <a:ext cx="3154680" cy="1097280"/>
          </a:xfrm>
          <a:prstGeom prst="roundRect">
            <a:avLst>
              <a:gd name="adj" fmla="val 5833"/>
            </a:avLst>
          </a:prstGeom>
          <a:solidFill>
            <a:srgbClr val="F4F8FF"/>
          </a:solidFill>
          <a:ln w="12700">
            <a:solidFill>
              <a:srgbClr val="D4E4FF"/>
            </a:solidFill>
            <a:prstDash val="solid"/>
          </a:ln>
        </p:spPr>
      </p:sp>
      <p:sp>
        <p:nvSpPr>
          <p:cNvPr id="8" name="Text 6"/>
          <p:cNvSpPr/>
          <p:nvPr/>
        </p:nvSpPr>
        <p:spPr>
          <a:xfrm>
            <a:off x="914400" y="1911096"/>
            <a:ext cx="2825496" cy="201168"/>
          </a:xfrm>
          <a:prstGeom prst="rect">
            <a:avLst/>
          </a:prstGeom>
          <a:noFill/>
          <a:ln/>
        </p:spPr>
        <p:txBody>
          <a:bodyPr wrap="square" lIns="0" tIns="0" rIns="0" bIns="0" rtlCol="0" anchor="ctr"/>
          <a:lstStyle/>
          <a:p>
            <a:pPr indent="0" marL="0">
              <a:buNone/>
            </a:pPr>
            <a:r>
              <a:rPr lang="en-US" sz="1400" b="1" dirty="0">
                <a:solidFill>
                  <a:srgbClr val="102133"/>
                </a:solidFill>
                <a:latin typeface="Aptos Display" pitchFamily="34" charset="0"/>
                <a:ea typeface="Aptos Display" pitchFamily="34" charset="-122"/>
                <a:cs typeface="Aptos Display" pitchFamily="34" charset="-120"/>
              </a:rPr>
              <a:t>GitHub integration</a:t>
            </a:r>
            <a:endParaRPr lang="en-US" sz="1400" dirty="0"/>
          </a:p>
        </p:txBody>
      </p:sp>
      <p:sp>
        <p:nvSpPr>
          <p:cNvPr id="9" name="Text 7"/>
          <p:cNvSpPr/>
          <p:nvPr/>
        </p:nvSpPr>
        <p:spPr>
          <a:xfrm>
            <a:off x="914400" y="2194560"/>
            <a:ext cx="2825496" cy="566928"/>
          </a:xfrm>
          <a:prstGeom prst="rect">
            <a:avLst/>
          </a:prstGeom>
          <a:noFill/>
          <a:ln/>
        </p:spPr>
        <p:txBody>
          <a:bodyPr wrap="square" lIns="0" tIns="0" rIns="0" bIns="0" rtlCol="0" anchor="ctr">
            <a:normAutofit/>
          </a:bodyPr>
          <a:lstStyle/>
          <a:p>
            <a:pPr indent="0" marL="0">
              <a:buNone/>
            </a:pPr>
            <a:r>
              <a:rPr lang="en-US" sz="1130" dirty="0">
                <a:solidFill>
                  <a:srgbClr val="5B6978"/>
                </a:solidFill>
                <a:latin typeface="Aptos" pitchFamily="34" charset="0"/>
                <a:ea typeface="Aptos" pitchFamily="34" charset="-122"/>
                <a:cs typeface="Aptos" pitchFamily="34" charset="-120"/>
              </a:rPr>
              <a:t>The UI brings together OAuth connection, installation sync, repository inventory, and import actions in one workflow.</a:t>
            </a:r>
            <a:endParaRPr lang="en-US" sz="1130" dirty="0"/>
          </a:p>
        </p:txBody>
      </p:sp>
      <p:sp>
        <p:nvSpPr>
          <p:cNvPr id="10" name="Shape 8"/>
          <p:cNvSpPr/>
          <p:nvPr/>
        </p:nvSpPr>
        <p:spPr>
          <a:xfrm>
            <a:off x="749808" y="3063240"/>
            <a:ext cx="3154680" cy="1097280"/>
          </a:xfrm>
          <a:prstGeom prst="roundRect">
            <a:avLst>
              <a:gd name="adj" fmla="val 5833"/>
            </a:avLst>
          </a:prstGeom>
          <a:solidFill>
            <a:srgbClr val="ECF8F2"/>
          </a:solidFill>
          <a:ln w="12700">
            <a:solidFill>
              <a:srgbClr val="CFE9DD"/>
            </a:solidFill>
            <a:prstDash val="solid"/>
          </a:ln>
        </p:spPr>
      </p:sp>
      <p:sp>
        <p:nvSpPr>
          <p:cNvPr id="11" name="Text 9"/>
          <p:cNvSpPr/>
          <p:nvPr/>
        </p:nvSpPr>
        <p:spPr>
          <a:xfrm>
            <a:off x="914400" y="3191256"/>
            <a:ext cx="2825496" cy="201168"/>
          </a:xfrm>
          <a:prstGeom prst="rect">
            <a:avLst/>
          </a:prstGeom>
          <a:noFill/>
          <a:ln/>
        </p:spPr>
        <p:txBody>
          <a:bodyPr wrap="square" lIns="0" tIns="0" rIns="0" bIns="0" rtlCol="0" anchor="ctr"/>
          <a:lstStyle/>
          <a:p>
            <a:pPr indent="0" marL="0">
              <a:buNone/>
            </a:pPr>
            <a:r>
              <a:rPr lang="en-US" sz="1400" b="1" dirty="0">
                <a:solidFill>
                  <a:srgbClr val="102133"/>
                </a:solidFill>
                <a:latin typeface="Aptos Display" pitchFamily="34" charset="0"/>
                <a:ea typeface="Aptos Display" pitchFamily="34" charset="-122"/>
                <a:cs typeface="Aptos Display" pitchFamily="34" charset="-120"/>
              </a:rPr>
              <a:t>Managed import path</a:t>
            </a:r>
            <a:endParaRPr lang="en-US" sz="1400" dirty="0"/>
          </a:p>
        </p:txBody>
      </p:sp>
      <p:sp>
        <p:nvSpPr>
          <p:cNvPr id="12" name="Text 10"/>
          <p:cNvSpPr/>
          <p:nvPr/>
        </p:nvSpPr>
        <p:spPr>
          <a:xfrm>
            <a:off x="914400" y="3474720"/>
            <a:ext cx="2825496" cy="566928"/>
          </a:xfrm>
          <a:prstGeom prst="rect">
            <a:avLst/>
          </a:prstGeom>
          <a:noFill/>
          <a:ln/>
        </p:spPr>
        <p:txBody>
          <a:bodyPr wrap="square" lIns="0" tIns="0" rIns="0" bIns="0" rtlCol="0" anchor="ctr">
            <a:normAutofit/>
          </a:bodyPr>
          <a:lstStyle/>
          <a:p>
            <a:pPr indent="0" marL="0">
              <a:buNone/>
            </a:pPr>
            <a:r>
              <a:rPr lang="en-US" sz="1130" dirty="0">
                <a:solidFill>
                  <a:srgbClr val="5B6978"/>
                </a:solidFill>
                <a:latin typeface="Aptos" pitchFamily="34" charset="0"/>
                <a:ea typeface="Aptos" pitchFamily="34" charset="-122"/>
                <a:cs typeface="Aptos" pitchFamily="34" charset="-120"/>
              </a:rPr>
              <a:t>Supported repos can be analyzed and imported directly into managed deployments when they match v1 constraints.</a:t>
            </a:r>
            <a:endParaRPr lang="en-US" sz="1130" dirty="0"/>
          </a:p>
        </p:txBody>
      </p:sp>
      <p:sp>
        <p:nvSpPr>
          <p:cNvPr id="13" name="Shape 11"/>
          <p:cNvSpPr/>
          <p:nvPr/>
        </p:nvSpPr>
        <p:spPr>
          <a:xfrm>
            <a:off x="749808" y="4343400"/>
            <a:ext cx="3154680" cy="1097280"/>
          </a:xfrm>
          <a:prstGeom prst="roundRect">
            <a:avLst>
              <a:gd name="adj" fmla="val 5833"/>
            </a:avLst>
          </a:prstGeom>
          <a:solidFill>
            <a:srgbClr val="FFF2E3"/>
          </a:solidFill>
          <a:ln w="12700">
            <a:solidFill>
              <a:srgbClr val="F2D8B8"/>
            </a:solidFill>
            <a:prstDash val="solid"/>
          </a:ln>
        </p:spPr>
      </p:sp>
      <p:sp>
        <p:nvSpPr>
          <p:cNvPr id="14" name="Text 12"/>
          <p:cNvSpPr/>
          <p:nvPr/>
        </p:nvSpPr>
        <p:spPr>
          <a:xfrm>
            <a:off x="914400" y="4471416"/>
            <a:ext cx="2825496" cy="201168"/>
          </a:xfrm>
          <a:prstGeom prst="rect">
            <a:avLst/>
          </a:prstGeom>
          <a:noFill/>
          <a:ln/>
        </p:spPr>
        <p:txBody>
          <a:bodyPr wrap="square" lIns="0" tIns="0" rIns="0" bIns="0" rtlCol="0" anchor="ctr"/>
          <a:lstStyle/>
          <a:p>
            <a:pPr indent="0" marL="0">
              <a:buNone/>
            </a:pPr>
            <a:r>
              <a:rPr lang="en-US" sz="1400" b="1" dirty="0">
                <a:solidFill>
                  <a:srgbClr val="102133"/>
                </a:solidFill>
                <a:latin typeface="Aptos Display" pitchFamily="34" charset="0"/>
                <a:ea typeface="Aptos Display" pitchFamily="34" charset="-122"/>
                <a:cs typeface="Aptos Display" pitchFamily="34" charset="-120"/>
              </a:rPr>
              <a:t>Version 1 boundary</a:t>
            </a:r>
            <a:endParaRPr lang="en-US" sz="1400" dirty="0"/>
          </a:p>
        </p:txBody>
      </p:sp>
      <p:sp>
        <p:nvSpPr>
          <p:cNvPr id="15" name="Text 13"/>
          <p:cNvSpPr/>
          <p:nvPr/>
        </p:nvSpPr>
        <p:spPr>
          <a:xfrm>
            <a:off x="914400" y="4754880"/>
            <a:ext cx="2825496" cy="566928"/>
          </a:xfrm>
          <a:prstGeom prst="rect">
            <a:avLst/>
          </a:prstGeom>
          <a:noFill/>
          <a:ln/>
        </p:spPr>
        <p:txBody>
          <a:bodyPr wrap="square" lIns="0" tIns="0" rIns="0" bIns="0" rtlCol="0" anchor="ctr">
            <a:normAutofit/>
          </a:bodyPr>
          <a:lstStyle/>
          <a:p>
            <a:pPr indent="0" marL="0">
              <a:buNone/>
            </a:pPr>
            <a:r>
              <a:rPr lang="en-US" sz="1130" dirty="0">
                <a:solidFill>
                  <a:srgbClr val="5B6978"/>
                </a:solidFill>
                <a:latin typeface="Aptos" pitchFamily="34" charset="0"/>
                <a:ea typeface="Aptos" pitchFamily="34" charset="-122"/>
                <a:cs typeface="Aptos" pitchFamily="34" charset="-120"/>
              </a:rPr>
              <a:t>Managed mode targets standalone Next.js, React, CRA, and static HTML repositories. Monorepos stay on the custom-pipeline route.</a:t>
            </a:r>
            <a:endParaRPr lang="en-US" sz="1130" dirty="0"/>
          </a:p>
        </p:txBody>
      </p:sp>
      <p:sp>
        <p:nvSpPr>
          <p:cNvPr id="16" name="Shape 14"/>
          <p:cNvSpPr/>
          <p:nvPr/>
        </p:nvSpPr>
        <p:spPr>
          <a:xfrm>
            <a:off x="4206240" y="1700784"/>
            <a:ext cx="7269480" cy="4498848"/>
          </a:xfrm>
          <a:prstGeom prst="roundRect">
            <a:avLst>
              <a:gd name="adj" fmla="val 1423"/>
            </a:avLst>
          </a:prstGeom>
          <a:solidFill>
            <a:srgbClr val="FFFFFF"/>
          </a:solidFill>
          <a:ln w="12700">
            <a:solidFill>
              <a:srgbClr val="DCE4EE"/>
            </a:solidFill>
            <a:prstDash val="solid"/>
          </a:ln>
        </p:spPr>
      </p:sp>
      <p:sp>
        <p:nvSpPr>
          <p:cNvPr id="17" name="Shape 15"/>
          <p:cNvSpPr/>
          <p:nvPr/>
        </p:nvSpPr>
        <p:spPr>
          <a:xfrm>
            <a:off x="4334256" y="1828800"/>
            <a:ext cx="7013448" cy="4242816"/>
          </a:xfrm>
          <a:prstGeom prst="rect">
            <a:avLst/>
          </a:prstGeom>
          <a:solidFill>
            <a:srgbClr val="F6F8FB"/>
          </a:solidFill>
          <a:ln w="12700">
            <a:solidFill>
              <a:srgbClr val="F6F8FB"/>
            </a:solidFill>
            <a:prstDash val="solid"/>
          </a:ln>
        </p:spPr>
      </p:sp>
      <p:pic>
        <p:nvPicPr>
          <p:cNvPr id="18" name="Image 0" descr="/opt/AutoOps/results-assets/screenshots/repositories-page.png">    </p:cNvPr>
          <p:cNvPicPr>
            <a:picLocks noChangeAspect="1"/>
          </p:cNvPicPr>
          <p:nvPr/>
        </p:nvPicPr>
        <p:blipFill>
          <a:blip r:embed="rId1"/>
          <a:stretch>
            <a:fillRect/>
          </a:stretch>
        </p:blipFill>
        <p:spPr>
          <a:xfrm>
            <a:off x="4352544" y="1847088"/>
            <a:ext cx="6976872" cy="4206240"/>
          </a:xfrm>
          <a:prstGeom prst="rect">
            <a:avLst/>
          </a:prstGeom>
        </p:spPr>
      </p:pic>
      <p:sp>
        <p:nvSpPr>
          <p:cNvPr id="19" name="Shape 16"/>
          <p:cNvSpPr/>
          <p:nvPr/>
        </p:nvSpPr>
        <p:spPr>
          <a:xfrm>
            <a:off x="4370832" y="1536192"/>
            <a:ext cx="1508760" cy="310896"/>
          </a:xfrm>
          <a:prstGeom prst="roundRect">
            <a:avLst>
              <a:gd name="adj" fmla="val 26471"/>
            </a:avLst>
          </a:prstGeom>
          <a:solidFill>
            <a:srgbClr val="1A7B73"/>
          </a:solidFill>
          <a:ln w="12700">
            <a:solidFill>
              <a:srgbClr val="1A7B73"/>
            </a:solidFill>
            <a:prstDash val="solid"/>
          </a:ln>
        </p:spPr>
      </p:sp>
      <p:sp>
        <p:nvSpPr>
          <p:cNvPr id="20" name="Text 17"/>
          <p:cNvSpPr/>
          <p:nvPr/>
        </p:nvSpPr>
        <p:spPr>
          <a:xfrm>
            <a:off x="4434840" y="1581912"/>
            <a:ext cx="1380744" cy="128016"/>
          </a:xfrm>
          <a:prstGeom prst="rect">
            <a:avLst/>
          </a:prstGeom>
          <a:noFill/>
          <a:ln/>
        </p:spPr>
        <p:txBody>
          <a:bodyPr wrap="square" lIns="0" tIns="0" rIns="0" bIns="0" rtlCol="0" anchor="ctr"/>
          <a:lstStyle/>
          <a:p>
            <a:pPr algn="ctr" indent="0" marL="0">
              <a:buNone/>
            </a:pPr>
            <a:r>
              <a:rPr lang="en-US" sz="960" b="1" dirty="0">
                <a:solidFill>
                  <a:srgbClr val="FFFFFF"/>
                </a:solidFill>
                <a:latin typeface="Aptos" pitchFamily="34" charset="0"/>
                <a:ea typeface="Aptos" pitchFamily="34" charset="-122"/>
                <a:cs typeface="Aptos" pitchFamily="34" charset="-120"/>
              </a:rPr>
              <a:t>Repositories</a:t>
            </a:r>
            <a:endParaRPr lang="en-US" sz="960" dirty="0"/>
          </a:p>
        </p:txBody>
      </p:sp>
      <p:sp>
        <p:nvSpPr>
          <p:cNvPr id="21" name="Text 18"/>
          <p:cNvSpPr/>
          <p:nvPr/>
        </p:nvSpPr>
        <p:spPr>
          <a:xfrm>
            <a:off x="11338560" y="6409944"/>
            <a:ext cx="256032" cy="146304"/>
          </a:xfrm>
          <a:prstGeom prst="rect">
            <a:avLst/>
          </a:prstGeom>
          <a:noFill/>
          <a:ln/>
        </p:spPr>
        <p:txBody>
          <a:bodyPr wrap="square" lIns="0" tIns="0" rIns="0" bIns="0" rtlCol="0" anchor="ctr"/>
          <a:lstStyle/>
          <a:p>
            <a:pPr algn="r" indent="0" marL="0">
              <a:buNone/>
            </a:pPr>
            <a:r>
              <a:rPr lang="en-US" sz="950" dirty="0">
                <a:solidFill>
                  <a:srgbClr val="5B6978"/>
                </a:solidFill>
                <a:latin typeface="Aptos" pitchFamily="34" charset="0"/>
                <a:ea typeface="Aptos" pitchFamily="34" charset="-122"/>
                <a:cs typeface="Aptos" pitchFamily="34" charset="-120"/>
              </a:rPr>
              <a:t>7</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8F2"/>
        </a:solidFill>
      </p:bgPr>
    </p:bg>
    <p:spTree>
      <p:nvGrpSpPr>
        <p:cNvPr id="1" name=""/>
        <p:cNvGrpSpPr/>
        <p:nvPr/>
      </p:nvGrpSpPr>
      <p:grpSpPr>
        <a:xfrm>
          <a:off x="0" y="0"/>
          <a:ext cx="0" cy="0"/>
          <a:chOff x="0" y="0"/>
          <a:chExt cx="0" cy="0"/>
        </a:xfrm>
      </p:grpSpPr>
      <p:sp>
        <p:nvSpPr>
          <p:cNvPr id="2" name="Shape 0"/>
          <p:cNvSpPr/>
          <p:nvPr/>
        </p:nvSpPr>
        <p:spPr>
          <a:xfrm>
            <a:off x="0" y="0"/>
            <a:ext cx="12191695" cy="201168"/>
          </a:xfrm>
          <a:prstGeom prst="rect">
            <a:avLst/>
          </a:prstGeom>
          <a:solidFill>
            <a:srgbClr val="2E68FF"/>
          </a:solidFill>
          <a:ln w="12700">
            <a:solidFill>
              <a:srgbClr val="2E68FF"/>
            </a:solidFill>
            <a:prstDash val="solid"/>
          </a:ln>
        </p:spPr>
      </p:sp>
      <p:sp>
        <p:nvSpPr>
          <p:cNvPr id="3" name="Text 1"/>
          <p:cNvSpPr/>
          <p:nvPr/>
        </p:nvSpPr>
        <p:spPr>
          <a:xfrm>
            <a:off x="621792" y="347472"/>
            <a:ext cx="3108960" cy="201168"/>
          </a:xfrm>
          <a:prstGeom prst="rect">
            <a:avLst/>
          </a:prstGeom>
          <a:noFill/>
          <a:ln/>
        </p:spPr>
        <p:txBody>
          <a:bodyPr wrap="square" lIns="0" tIns="0" rIns="0" bIns="0" rtlCol="0" anchor="ctr"/>
          <a:lstStyle/>
          <a:p>
            <a:pPr indent="0" marL="0">
              <a:buNone/>
            </a:pPr>
            <a:r>
              <a:rPr lang="en-US" sz="1000" b="1" dirty="0">
                <a:solidFill>
                  <a:srgbClr val="2E68FF"/>
                </a:solidFill>
                <a:latin typeface="Aptos" pitchFamily="34" charset="0"/>
                <a:ea typeface="Aptos" pitchFamily="34" charset="-122"/>
                <a:cs typeface="Aptos" pitchFamily="34" charset="-120"/>
              </a:rPr>
              <a:t>Deployment Ops</a:t>
            </a:r>
            <a:endParaRPr lang="en-US" sz="1000" dirty="0"/>
          </a:p>
        </p:txBody>
      </p:sp>
      <p:sp>
        <p:nvSpPr>
          <p:cNvPr id="4" name="Text 2"/>
          <p:cNvSpPr/>
          <p:nvPr/>
        </p:nvSpPr>
        <p:spPr>
          <a:xfrm>
            <a:off x="621792" y="658368"/>
            <a:ext cx="8046720" cy="457200"/>
          </a:xfrm>
          <a:prstGeom prst="rect">
            <a:avLst/>
          </a:prstGeom>
          <a:noFill/>
          <a:ln/>
        </p:spPr>
        <p:txBody>
          <a:bodyPr wrap="square" lIns="0" tIns="0" rIns="0" bIns="0" rtlCol="0" anchor="ctr"/>
          <a:lstStyle/>
          <a:p>
            <a:pPr indent="0" marL="0">
              <a:buNone/>
            </a:pPr>
            <a:r>
              <a:rPr lang="en-US" sz="2400" b="1" dirty="0">
                <a:solidFill>
                  <a:srgbClr val="102133"/>
                </a:solidFill>
                <a:latin typeface="Aptos Display" pitchFamily="34" charset="0"/>
                <a:ea typeface="Aptos Display" pitchFamily="34" charset="-122"/>
                <a:cs typeface="Aptos Display" pitchFamily="34" charset="-120"/>
              </a:rPr>
              <a:t>Deployment safety at a glance</a:t>
            </a:r>
            <a:endParaRPr lang="en-US" sz="2400" dirty="0"/>
          </a:p>
        </p:txBody>
      </p:sp>
      <p:sp>
        <p:nvSpPr>
          <p:cNvPr id="5" name="Text 3"/>
          <p:cNvSpPr/>
          <p:nvPr/>
        </p:nvSpPr>
        <p:spPr>
          <a:xfrm>
            <a:off x="621792" y="1143000"/>
            <a:ext cx="9784080" cy="310896"/>
          </a:xfrm>
          <a:prstGeom prst="rect">
            <a:avLst/>
          </a:prstGeom>
          <a:noFill/>
          <a:ln/>
        </p:spPr>
        <p:txBody>
          <a:bodyPr wrap="square" lIns="0" tIns="0" rIns="0" bIns="0" rtlCol="0" anchor="ctr"/>
          <a:lstStyle/>
          <a:p>
            <a:pPr indent="0" marL="0">
              <a:buNone/>
            </a:pPr>
            <a:r>
              <a:rPr lang="en-US" sz="1150" dirty="0">
                <a:solidFill>
                  <a:srgbClr val="5B6978"/>
                </a:solidFill>
                <a:latin typeface="Aptos" pitchFamily="34" charset="0"/>
                <a:ea typeface="Aptos" pitchFamily="34" charset="-122"/>
                <a:cs typeface="Aptos" pitchFamily="34" charset="-120"/>
              </a:rPr>
              <a:t>The deployment view makes release safety concrete with revisions, approvals, and target-level status.</a:t>
            </a:r>
            <a:endParaRPr lang="en-US" sz="1150" dirty="0"/>
          </a:p>
        </p:txBody>
      </p:sp>
      <p:sp>
        <p:nvSpPr>
          <p:cNvPr id="6" name="Text 4"/>
          <p:cNvSpPr/>
          <p:nvPr/>
        </p:nvSpPr>
        <p:spPr>
          <a:xfrm>
            <a:off x="10652760" y="347472"/>
            <a:ext cx="914400" cy="201168"/>
          </a:xfrm>
          <a:prstGeom prst="rect">
            <a:avLst/>
          </a:prstGeom>
          <a:noFill/>
          <a:ln/>
        </p:spPr>
        <p:txBody>
          <a:bodyPr wrap="square" lIns="0" tIns="0" rIns="0" bIns="0" rtlCol="0" anchor="ctr"/>
          <a:lstStyle/>
          <a:p>
            <a:pPr algn="r" indent="0" marL="0">
              <a:buNone/>
            </a:pPr>
            <a:r>
              <a:rPr lang="en-US" sz="1000" b="1" dirty="0">
                <a:solidFill>
                  <a:srgbClr val="5B6978"/>
                </a:solidFill>
                <a:latin typeface="Aptos" pitchFamily="34" charset="0"/>
                <a:ea typeface="Aptos" pitchFamily="34" charset="-122"/>
                <a:cs typeface="Aptos" pitchFamily="34" charset="-120"/>
              </a:rPr>
              <a:t>AutoOps</a:t>
            </a:r>
            <a:endParaRPr lang="en-US" sz="1000" dirty="0"/>
          </a:p>
        </p:txBody>
      </p:sp>
      <p:sp>
        <p:nvSpPr>
          <p:cNvPr id="7" name="Shape 5"/>
          <p:cNvSpPr/>
          <p:nvPr/>
        </p:nvSpPr>
        <p:spPr>
          <a:xfrm>
            <a:off x="713232" y="1700784"/>
            <a:ext cx="6858000" cy="4407408"/>
          </a:xfrm>
          <a:prstGeom prst="roundRect">
            <a:avLst>
              <a:gd name="adj" fmla="val 1452"/>
            </a:avLst>
          </a:prstGeom>
          <a:solidFill>
            <a:srgbClr val="FFFFFF"/>
          </a:solidFill>
          <a:ln w="12700">
            <a:solidFill>
              <a:srgbClr val="DCE4EE"/>
            </a:solidFill>
            <a:prstDash val="solid"/>
          </a:ln>
        </p:spPr>
      </p:sp>
      <p:sp>
        <p:nvSpPr>
          <p:cNvPr id="8" name="Shape 6"/>
          <p:cNvSpPr/>
          <p:nvPr/>
        </p:nvSpPr>
        <p:spPr>
          <a:xfrm>
            <a:off x="841248" y="1828800"/>
            <a:ext cx="6601968" cy="4151376"/>
          </a:xfrm>
          <a:prstGeom prst="rect">
            <a:avLst/>
          </a:prstGeom>
          <a:solidFill>
            <a:srgbClr val="F6F8FB"/>
          </a:solidFill>
          <a:ln w="12700">
            <a:solidFill>
              <a:srgbClr val="F6F8FB"/>
            </a:solidFill>
            <a:prstDash val="solid"/>
          </a:ln>
        </p:spPr>
      </p:sp>
      <p:pic>
        <p:nvPicPr>
          <p:cNvPr id="9" name="Image 0" descr="/opt/AutoOps/results-assets/screenshots/deployments-page.png">    </p:cNvPr>
          <p:cNvPicPr>
            <a:picLocks noChangeAspect="1"/>
          </p:cNvPicPr>
          <p:nvPr/>
        </p:nvPicPr>
        <p:blipFill>
          <a:blip r:embed="rId1"/>
          <a:stretch>
            <a:fillRect/>
          </a:stretch>
        </p:blipFill>
        <p:spPr>
          <a:xfrm>
            <a:off x="859536" y="1847088"/>
            <a:ext cx="6565392" cy="4114800"/>
          </a:xfrm>
          <a:prstGeom prst="rect">
            <a:avLst/>
          </a:prstGeom>
        </p:spPr>
      </p:pic>
      <p:sp>
        <p:nvSpPr>
          <p:cNvPr id="10" name="Shape 7"/>
          <p:cNvSpPr/>
          <p:nvPr/>
        </p:nvSpPr>
        <p:spPr>
          <a:xfrm>
            <a:off x="877824" y="1536192"/>
            <a:ext cx="1508760" cy="310896"/>
          </a:xfrm>
          <a:prstGeom prst="roundRect">
            <a:avLst>
              <a:gd name="adj" fmla="val 26471"/>
            </a:avLst>
          </a:prstGeom>
          <a:solidFill>
            <a:srgbClr val="F18E2C"/>
          </a:solidFill>
          <a:ln w="12700">
            <a:solidFill>
              <a:srgbClr val="F18E2C"/>
            </a:solidFill>
            <a:prstDash val="solid"/>
          </a:ln>
        </p:spPr>
      </p:sp>
      <p:sp>
        <p:nvSpPr>
          <p:cNvPr id="11" name="Text 8"/>
          <p:cNvSpPr/>
          <p:nvPr/>
        </p:nvSpPr>
        <p:spPr>
          <a:xfrm>
            <a:off x="941832" y="1581912"/>
            <a:ext cx="1380744" cy="128016"/>
          </a:xfrm>
          <a:prstGeom prst="rect">
            <a:avLst/>
          </a:prstGeom>
          <a:noFill/>
          <a:ln/>
        </p:spPr>
        <p:txBody>
          <a:bodyPr wrap="square" lIns="0" tIns="0" rIns="0" bIns="0" rtlCol="0" anchor="ctr"/>
          <a:lstStyle/>
          <a:p>
            <a:pPr algn="ctr" indent="0" marL="0">
              <a:buNone/>
            </a:pPr>
            <a:r>
              <a:rPr lang="en-US" sz="960" b="1" dirty="0">
                <a:solidFill>
                  <a:srgbClr val="FFFFFF"/>
                </a:solidFill>
                <a:latin typeface="Aptos" pitchFamily="34" charset="0"/>
                <a:ea typeface="Aptos" pitchFamily="34" charset="-122"/>
                <a:cs typeface="Aptos" pitchFamily="34" charset="-120"/>
              </a:rPr>
              <a:t>Deployments</a:t>
            </a:r>
            <a:endParaRPr lang="en-US" sz="960" dirty="0"/>
          </a:p>
        </p:txBody>
      </p:sp>
      <p:sp>
        <p:nvSpPr>
          <p:cNvPr id="12" name="Text 9"/>
          <p:cNvSpPr/>
          <p:nvPr/>
        </p:nvSpPr>
        <p:spPr>
          <a:xfrm>
            <a:off x="7845552" y="1847088"/>
            <a:ext cx="3401568" cy="2926080"/>
          </a:xfrm>
          <a:prstGeom prst="rect">
            <a:avLst/>
          </a:prstGeom>
          <a:noFill/>
          <a:ln/>
        </p:spPr>
        <p:txBody>
          <a:bodyPr wrap="square" lIns="508" tIns="508" rIns="508" bIns="508" rtlCol="0" anchor="ctr">
            <a:normAutofit/>
          </a:bodyPr>
          <a:lstStyle/>
          <a:p>
            <a:pPr indent="0" marL="0">
              <a:buNone/>
            </a:pPr>
            <a:r>
              <a:rPr lang="en-US" sz="1420" dirty="0">
                <a:solidFill>
                  <a:srgbClr val="102133"/>
                </a:solidFill>
                <a:latin typeface="Aptos" pitchFamily="34" charset="0"/>
                <a:ea typeface="Aptos" pitchFamily="34" charset="-122"/>
                <a:cs typeface="Aptos" pitchFamily="34" charset="-120"/>
              </a:rPr>
              <a:t>• Targets carry environment, protection status, promotion order, healthcheck URL, and deployment metadata.</a:t>
            </a:r>
            <a:endParaRPr lang="en-US" sz="1420" dirty="0"/>
          </a:p>
          <a:p>
            <a:pPr indent="0" marL="0">
              <a:buNone/>
            </a:pPr>
            <a:r>
              <a:rPr lang="en-US" sz="1420" dirty="0">
                <a:solidFill>
                  <a:srgbClr val="102133"/>
                </a:solidFill>
                <a:latin typeface="Aptos" pitchFamily="34" charset="0"/>
                <a:ea typeface="Aptos" pitchFamily="34" charset="-122"/>
                <a:cs typeface="Aptos" pitchFamily="34" charset="-120"/>
              </a:rPr>
              <a:t>• Successful releases become deployment revisions with image references and digests, which makes rollback explicit.</a:t>
            </a:r>
            <a:endParaRPr lang="en-US" sz="1420" dirty="0"/>
          </a:p>
          <a:p>
            <a:pPr indent="0" marL="0">
              <a:buNone/>
            </a:pPr>
            <a:r>
              <a:rPr lang="en-US" sz="1420" dirty="0">
                <a:solidFill>
                  <a:srgbClr val="102133"/>
                </a:solidFill>
                <a:latin typeface="Aptos" pitchFamily="34" charset="0"/>
                <a:ea typeface="Aptos" pitchFamily="34" charset="-122"/>
                <a:cs typeface="Aptos" pitchFamily="34" charset="-120"/>
              </a:rPr>
              <a:t>• If deployment health fails after a known-good revision exists, the worker can attempt automatic rollback.</a:t>
            </a:r>
            <a:endParaRPr lang="en-US" sz="1420" dirty="0"/>
          </a:p>
        </p:txBody>
      </p:sp>
      <p:sp>
        <p:nvSpPr>
          <p:cNvPr id="16" name="Text 13"/>
          <p:cNvSpPr/>
          <p:nvPr/>
        </p:nvSpPr>
        <p:spPr>
          <a:xfrm>
            <a:off x="11338560" y="6409944"/>
            <a:ext cx="256032" cy="146304"/>
          </a:xfrm>
          <a:prstGeom prst="rect">
            <a:avLst/>
          </a:prstGeom>
          <a:noFill/>
          <a:ln/>
        </p:spPr>
        <p:txBody>
          <a:bodyPr wrap="square" lIns="0" tIns="0" rIns="0" bIns="0" rtlCol="0" anchor="ctr"/>
          <a:lstStyle/>
          <a:p>
            <a:pPr algn="r" indent="0" marL="0">
              <a:buNone/>
            </a:pPr>
            <a:r>
              <a:rPr lang="en-US" sz="950" dirty="0">
                <a:solidFill>
                  <a:srgbClr val="5B6978"/>
                </a:solidFill>
                <a:latin typeface="Aptos" pitchFamily="34" charset="0"/>
                <a:ea typeface="Aptos" pitchFamily="34" charset="-122"/>
                <a:cs typeface="Aptos" pitchFamily="34" charset="-120"/>
              </a:rPr>
              <a:t>8</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8F2"/>
        </a:solidFill>
      </p:bgPr>
    </p:bg>
    <p:spTree>
      <p:nvGrpSpPr>
        <p:cNvPr id="1" name=""/>
        <p:cNvGrpSpPr/>
        <p:nvPr/>
      </p:nvGrpSpPr>
      <p:grpSpPr>
        <a:xfrm>
          <a:off x="0" y="0"/>
          <a:ext cx="0" cy="0"/>
          <a:chOff x="0" y="0"/>
          <a:chExt cx="0" cy="0"/>
        </a:xfrm>
      </p:grpSpPr>
      <p:sp>
        <p:nvSpPr>
          <p:cNvPr id="2" name="Shape 0"/>
          <p:cNvSpPr/>
          <p:nvPr/>
        </p:nvSpPr>
        <p:spPr>
          <a:xfrm>
            <a:off x="0" y="0"/>
            <a:ext cx="12191695" cy="201168"/>
          </a:xfrm>
          <a:prstGeom prst="rect">
            <a:avLst/>
          </a:prstGeom>
          <a:solidFill>
            <a:srgbClr val="2E68FF"/>
          </a:solidFill>
          <a:ln w="12700">
            <a:solidFill>
              <a:srgbClr val="2E68FF"/>
            </a:solidFill>
            <a:prstDash val="solid"/>
          </a:ln>
        </p:spPr>
      </p:sp>
      <p:sp>
        <p:nvSpPr>
          <p:cNvPr id="3" name="Text 1"/>
          <p:cNvSpPr/>
          <p:nvPr/>
        </p:nvSpPr>
        <p:spPr>
          <a:xfrm>
            <a:off x="621792" y="347472"/>
            <a:ext cx="3108960" cy="201168"/>
          </a:xfrm>
          <a:prstGeom prst="rect">
            <a:avLst/>
          </a:prstGeom>
          <a:noFill/>
          <a:ln/>
        </p:spPr>
        <p:txBody>
          <a:bodyPr wrap="square" lIns="0" tIns="0" rIns="0" bIns="0" rtlCol="0" anchor="ctr"/>
          <a:lstStyle/>
          <a:p>
            <a:pPr indent="0" marL="0">
              <a:buNone/>
            </a:pPr>
            <a:r>
              <a:rPr lang="en-US" sz="1000" b="1" dirty="0">
                <a:solidFill>
                  <a:srgbClr val="2E68FF"/>
                </a:solidFill>
                <a:latin typeface="Aptos" pitchFamily="34" charset="0"/>
                <a:ea typeface="Aptos" pitchFamily="34" charset="-122"/>
                <a:cs typeface="Aptos" pitchFamily="34" charset="-120"/>
              </a:rPr>
              <a:t>Governance</a:t>
            </a:r>
            <a:endParaRPr lang="en-US" sz="1000" dirty="0"/>
          </a:p>
        </p:txBody>
      </p:sp>
      <p:sp>
        <p:nvSpPr>
          <p:cNvPr id="4" name="Text 2"/>
          <p:cNvSpPr/>
          <p:nvPr/>
        </p:nvSpPr>
        <p:spPr>
          <a:xfrm>
            <a:off x="621792" y="658368"/>
            <a:ext cx="8046720" cy="457200"/>
          </a:xfrm>
          <a:prstGeom prst="rect">
            <a:avLst/>
          </a:prstGeom>
          <a:noFill/>
          <a:ln/>
        </p:spPr>
        <p:txBody>
          <a:bodyPr wrap="square" lIns="0" tIns="0" rIns="0" bIns="0" rtlCol="0" anchor="ctr"/>
          <a:lstStyle/>
          <a:p>
            <a:pPr indent="0" marL="0">
              <a:buNone/>
            </a:pPr>
            <a:r>
              <a:rPr lang="en-US" sz="2400" b="1" dirty="0">
                <a:solidFill>
                  <a:srgbClr val="102133"/>
                </a:solidFill>
                <a:latin typeface="Aptos Display" pitchFamily="34" charset="0"/>
                <a:ea typeface="Aptos Display" pitchFamily="34" charset="-122"/>
                <a:cs typeface="Aptos Display" pitchFamily="34" charset="-120"/>
              </a:rPr>
              <a:t>Protected release approvals and traceability</a:t>
            </a:r>
            <a:endParaRPr lang="en-US" sz="2400" dirty="0"/>
          </a:p>
        </p:txBody>
      </p:sp>
      <p:sp>
        <p:nvSpPr>
          <p:cNvPr id="5" name="Text 3"/>
          <p:cNvSpPr/>
          <p:nvPr/>
        </p:nvSpPr>
        <p:spPr>
          <a:xfrm>
            <a:off x="621792" y="1143000"/>
            <a:ext cx="9784080" cy="310896"/>
          </a:xfrm>
          <a:prstGeom prst="rect">
            <a:avLst/>
          </a:prstGeom>
          <a:noFill/>
          <a:ln/>
        </p:spPr>
        <p:txBody>
          <a:bodyPr wrap="square" lIns="0" tIns="0" rIns="0" bIns="0" rtlCol="0" anchor="ctr"/>
          <a:lstStyle/>
          <a:p>
            <a:pPr indent="0" marL="0">
              <a:buNone/>
            </a:pPr>
            <a:r>
              <a:rPr lang="en-US" sz="1150" dirty="0">
                <a:solidFill>
                  <a:srgbClr val="5B6978"/>
                </a:solidFill>
                <a:latin typeface="Aptos" pitchFamily="34" charset="0"/>
                <a:ea typeface="Aptos" pitchFamily="34" charset="-122"/>
                <a:cs typeface="Aptos" pitchFamily="34" charset="-120"/>
              </a:rPr>
              <a:t>Approvals are first-class workflow objects, not comments pasted into chat.</a:t>
            </a:r>
            <a:endParaRPr lang="en-US" sz="1150" dirty="0"/>
          </a:p>
        </p:txBody>
      </p:sp>
      <p:sp>
        <p:nvSpPr>
          <p:cNvPr id="6" name="Text 4"/>
          <p:cNvSpPr/>
          <p:nvPr/>
        </p:nvSpPr>
        <p:spPr>
          <a:xfrm>
            <a:off x="10652760" y="347472"/>
            <a:ext cx="914400" cy="201168"/>
          </a:xfrm>
          <a:prstGeom prst="rect">
            <a:avLst/>
          </a:prstGeom>
          <a:noFill/>
          <a:ln/>
        </p:spPr>
        <p:txBody>
          <a:bodyPr wrap="square" lIns="0" tIns="0" rIns="0" bIns="0" rtlCol="0" anchor="ctr"/>
          <a:lstStyle/>
          <a:p>
            <a:pPr algn="r" indent="0" marL="0">
              <a:buNone/>
            </a:pPr>
            <a:r>
              <a:rPr lang="en-US" sz="1000" b="1" dirty="0">
                <a:solidFill>
                  <a:srgbClr val="5B6978"/>
                </a:solidFill>
                <a:latin typeface="Aptos" pitchFamily="34" charset="0"/>
                <a:ea typeface="Aptos" pitchFamily="34" charset="-122"/>
                <a:cs typeface="Aptos" pitchFamily="34" charset="-120"/>
              </a:rPr>
              <a:t>AutoOps</a:t>
            </a:r>
            <a:endParaRPr lang="en-US" sz="1000" dirty="0"/>
          </a:p>
        </p:txBody>
      </p:sp>
      <p:sp>
        <p:nvSpPr>
          <p:cNvPr id="7" name="Shape 5"/>
          <p:cNvSpPr/>
          <p:nvPr/>
        </p:nvSpPr>
        <p:spPr>
          <a:xfrm>
            <a:off x="749808" y="1783080"/>
            <a:ext cx="3246120" cy="1078992"/>
          </a:xfrm>
          <a:prstGeom prst="roundRect">
            <a:avLst>
              <a:gd name="adj" fmla="val 5932"/>
            </a:avLst>
          </a:prstGeom>
          <a:solidFill>
            <a:srgbClr val="F4F8FF"/>
          </a:solidFill>
          <a:ln w="12700">
            <a:solidFill>
              <a:srgbClr val="D4E4FF"/>
            </a:solidFill>
            <a:prstDash val="solid"/>
          </a:ln>
        </p:spPr>
      </p:sp>
      <p:sp>
        <p:nvSpPr>
          <p:cNvPr id="8" name="Text 6"/>
          <p:cNvSpPr/>
          <p:nvPr/>
        </p:nvSpPr>
        <p:spPr>
          <a:xfrm>
            <a:off x="914400" y="1911096"/>
            <a:ext cx="2916936" cy="201168"/>
          </a:xfrm>
          <a:prstGeom prst="rect">
            <a:avLst/>
          </a:prstGeom>
          <a:noFill/>
          <a:ln/>
        </p:spPr>
        <p:txBody>
          <a:bodyPr wrap="square" lIns="0" tIns="0" rIns="0" bIns="0" rtlCol="0" anchor="ctr"/>
          <a:lstStyle/>
          <a:p>
            <a:pPr indent="0" marL="0">
              <a:buNone/>
            </a:pPr>
            <a:r>
              <a:rPr lang="en-US" sz="1400" b="1" dirty="0">
                <a:solidFill>
                  <a:srgbClr val="102133"/>
                </a:solidFill>
                <a:latin typeface="Aptos Display" pitchFamily="34" charset="0"/>
                <a:ea typeface="Aptos Display" pitchFamily="34" charset="-122"/>
                <a:cs typeface="Aptos Display" pitchFamily="34" charset="-120"/>
              </a:rPr>
              <a:t>Approval model</a:t>
            </a:r>
            <a:endParaRPr lang="en-US" sz="1400" dirty="0"/>
          </a:p>
        </p:txBody>
      </p:sp>
      <p:sp>
        <p:nvSpPr>
          <p:cNvPr id="9" name="Text 7"/>
          <p:cNvSpPr/>
          <p:nvPr/>
        </p:nvSpPr>
        <p:spPr>
          <a:xfrm>
            <a:off x="914400" y="2194560"/>
            <a:ext cx="2916936" cy="548640"/>
          </a:xfrm>
          <a:prstGeom prst="rect">
            <a:avLst/>
          </a:prstGeom>
          <a:noFill/>
          <a:ln/>
        </p:spPr>
        <p:txBody>
          <a:bodyPr wrap="square" lIns="0" tIns="0" rIns="0" bIns="0" rtlCol="0" anchor="ctr">
            <a:normAutofit/>
          </a:bodyPr>
          <a:lstStyle/>
          <a:p>
            <a:pPr indent="0" marL="0">
              <a:buNone/>
            </a:pPr>
            <a:r>
              <a:rPr lang="en-US" sz="1130" dirty="0">
                <a:solidFill>
                  <a:srgbClr val="5B6978"/>
                </a:solidFill>
                <a:latin typeface="Aptos" pitchFamily="34" charset="0"/>
                <a:ea typeface="Aptos" pitchFamily="34" charset="-122"/>
                <a:cs typeface="Aptos" pitchFamily="34" charset="-120"/>
              </a:rPr>
              <a:t>Protected promotions can require explicit approval before deployment work is queued.</a:t>
            </a:r>
            <a:endParaRPr lang="en-US" sz="1130" dirty="0"/>
          </a:p>
        </p:txBody>
      </p:sp>
      <p:sp>
        <p:nvSpPr>
          <p:cNvPr id="10" name="Shape 8"/>
          <p:cNvSpPr/>
          <p:nvPr/>
        </p:nvSpPr>
        <p:spPr>
          <a:xfrm>
            <a:off x="749808" y="3017520"/>
            <a:ext cx="3246120" cy="1078992"/>
          </a:xfrm>
          <a:prstGeom prst="roundRect">
            <a:avLst>
              <a:gd name="adj" fmla="val 5932"/>
            </a:avLst>
          </a:prstGeom>
          <a:solidFill>
            <a:srgbClr val="FFFFFF"/>
          </a:solidFill>
          <a:ln w="12700">
            <a:solidFill>
              <a:srgbClr val="DCE4EE"/>
            </a:solidFill>
            <a:prstDash val="solid"/>
          </a:ln>
        </p:spPr>
      </p:sp>
      <p:sp>
        <p:nvSpPr>
          <p:cNvPr id="11" name="Text 9"/>
          <p:cNvSpPr/>
          <p:nvPr/>
        </p:nvSpPr>
        <p:spPr>
          <a:xfrm>
            <a:off x="914400" y="3145536"/>
            <a:ext cx="2916936" cy="201168"/>
          </a:xfrm>
          <a:prstGeom prst="rect">
            <a:avLst/>
          </a:prstGeom>
          <a:noFill/>
          <a:ln/>
        </p:spPr>
        <p:txBody>
          <a:bodyPr wrap="square" lIns="0" tIns="0" rIns="0" bIns="0" rtlCol="0" anchor="ctr"/>
          <a:lstStyle/>
          <a:p>
            <a:pPr indent="0" marL="0">
              <a:buNone/>
            </a:pPr>
            <a:r>
              <a:rPr lang="en-US" sz="1400" b="1" dirty="0">
                <a:solidFill>
                  <a:srgbClr val="102133"/>
                </a:solidFill>
                <a:latin typeface="Aptos Display" pitchFamily="34" charset="0"/>
                <a:ea typeface="Aptos Display" pitchFamily="34" charset="-122"/>
                <a:cs typeface="Aptos Display" pitchFamily="34" charset="-120"/>
              </a:rPr>
              <a:t>Stored context</a:t>
            </a:r>
            <a:endParaRPr lang="en-US" sz="1400" dirty="0"/>
          </a:p>
        </p:txBody>
      </p:sp>
      <p:sp>
        <p:nvSpPr>
          <p:cNvPr id="12" name="Text 10"/>
          <p:cNvSpPr/>
          <p:nvPr/>
        </p:nvSpPr>
        <p:spPr>
          <a:xfrm>
            <a:off x="914400" y="3429000"/>
            <a:ext cx="2916936" cy="548640"/>
          </a:xfrm>
          <a:prstGeom prst="rect">
            <a:avLst/>
          </a:prstGeom>
          <a:noFill/>
          <a:ln/>
        </p:spPr>
        <p:txBody>
          <a:bodyPr wrap="square" lIns="0" tIns="0" rIns="0" bIns="0" rtlCol="0" anchor="ctr">
            <a:normAutofit/>
          </a:bodyPr>
          <a:lstStyle/>
          <a:p>
            <a:pPr indent="0" marL="0">
              <a:buNone/>
            </a:pPr>
            <a:r>
              <a:rPr lang="en-US" sz="1130" dirty="0">
                <a:solidFill>
                  <a:srgbClr val="5B6978"/>
                </a:solidFill>
                <a:latin typeface="Aptos" pitchFamily="34" charset="0"/>
                <a:ea typeface="Aptos" pitchFamily="34" charset="-122"/>
                <a:cs typeface="Aptos" pitchFamily="34" charset="-120"/>
              </a:rPr>
              <a:t>Each record keeps requester, revision, source target, destination target, comments, and decision timestamps.</a:t>
            </a:r>
            <a:endParaRPr lang="en-US" sz="1130" dirty="0"/>
          </a:p>
        </p:txBody>
      </p:sp>
      <p:sp>
        <p:nvSpPr>
          <p:cNvPr id="13" name="Shape 11"/>
          <p:cNvSpPr/>
          <p:nvPr/>
        </p:nvSpPr>
        <p:spPr>
          <a:xfrm>
            <a:off x="749808" y="4251960"/>
            <a:ext cx="3246120" cy="1078992"/>
          </a:xfrm>
          <a:prstGeom prst="roundRect">
            <a:avLst>
              <a:gd name="adj" fmla="val 5932"/>
            </a:avLst>
          </a:prstGeom>
          <a:solidFill>
            <a:srgbClr val="ECF8F2"/>
          </a:solidFill>
          <a:ln w="12700">
            <a:solidFill>
              <a:srgbClr val="CFE9DD"/>
            </a:solidFill>
            <a:prstDash val="solid"/>
          </a:ln>
        </p:spPr>
      </p:sp>
      <p:sp>
        <p:nvSpPr>
          <p:cNvPr id="14" name="Text 12"/>
          <p:cNvSpPr/>
          <p:nvPr/>
        </p:nvSpPr>
        <p:spPr>
          <a:xfrm>
            <a:off x="914400" y="4379976"/>
            <a:ext cx="2916936" cy="201168"/>
          </a:xfrm>
          <a:prstGeom prst="rect">
            <a:avLst/>
          </a:prstGeom>
          <a:noFill/>
          <a:ln/>
        </p:spPr>
        <p:txBody>
          <a:bodyPr wrap="square" lIns="0" tIns="0" rIns="0" bIns="0" rtlCol="0" anchor="ctr"/>
          <a:lstStyle/>
          <a:p>
            <a:pPr indent="0" marL="0">
              <a:buNone/>
            </a:pPr>
            <a:r>
              <a:rPr lang="en-US" sz="1400" b="1" dirty="0">
                <a:solidFill>
                  <a:srgbClr val="102133"/>
                </a:solidFill>
                <a:latin typeface="Aptos Display" pitchFamily="34" charset="0"/>
                <a:ea typeface="Aptos Display" pitchFamily="34" charset="-122"/>
                <a:cs typeface="Aptos Display" pitchFamily="34" charset="-120"/>
              </a:rPr>
              <a:t>Why it matters</a:t>
            </a:r>
            <a:endParaRPr lang="en-US" sz="1400" dirty="0"/>
          </a:p>
        </p:txBody>
      </p:sp>
      <p:sp>
        <p:nvSpPr>
          <p:cNvPr id="15" name="Text 13"/>
          <p:cNvSpPr/>
          <p:nvPr/>
        </p:nvSpPr>
        <p:spPr>
          <a:xfrm>
            <a:off x="914400" y="4663440"/>
            <a:ext cx="2916936" cy="548640"/>
          </a:xfrm>
          <a:prstGeom prst="rect">
            <a:avLst/>
          </a:prstGeom>
          <a:noFill/>
          <a:ln/>
        </p:spPr>
        <p:txBody>
          <a:bodyPr wrap="square" lIns="0" tIns="0" rIns="0" bIns="0" rtlCol="0" anchor="ctr">
            <a:normAutofit/>
          </a:bodyPr>
          <a:lstStyle/>
          <a:p>
            <a:pPr indent="0" marL="0">
              <a:buNone/>
            </a:pPr>
            <a:r>
              <a:rPr lang="en-US" sz="1130" dirty="0">
                <a:solidFill>
                  <a:srgbClr val="5B6978"/>
                </a:solidFill>
                <a:latin typeface="Aptos" pitchFamily="34" charset="0"/>
                <a:ea typeface="Aptos" pitchFamily="34" charset="-122"/>
                <a:cs typeface="Aptos" pitchFamily="34" charset="-120"/>
              </a:rPr>
              <a:t>Operators get a durable change trail for protected releases instead of relying on memory or side-channel approvals.</a:t>
            </a:r>
            <a:endParaRPr lang="en-US" sz="1130" dirty="0"/>
          </a:p>
        </p:txBody>
      </p:sp>
      <p:sp>
        <p:nvSpPr>
          <p:cNvPr id="16" name="Shape 14"/>
          <p:cNvSpPr/>
          <p:nvPr/>
        </p:nvSpPr>
        <p:spPr>
          <a:xfrm>
            <a:off x="4297680" y="1700784"/>
            <a:ext cx="7150608" cy="4498848"/>
          </a:xfrm>
          <a:prstGeom prst="roundRect">
            <a:avLst>
              <a:gd name="adj" fmla="val 1423"/>
            </a:avLst>
          </a:prstGeom>
          <a:solidFill>
            <a:srgbClr val="FFFFFF"/>
          </a:solidFill>
          <a:ln w="12700">
            <a:solidFill>
              <a:srgbClr val="DCE4EE"/>
            </a:solidFill>
            <a:prstDash val="solid"/>
          </a:ln>
        </p:spPr>
      </p:sp>
      <p:sp>
        <p:nvSpPr>
          <p:cNvPr id="17" name="Shape 15"/>
          <p:cNvSpPr/>
          <p:nvPr/>
        </p:nvSpPr>
        <p:spPr>
          <a:xfrm>
            <a:off x="4425696" y="1828800"/>
            <a:ext cx="6894576" cy="4242816"/>
          </a:xfrm>
          <a:prstGeom prst="rect">
            <a:avLst/>
          </a:prstGeom>
          <a:solidFill>
            <a:srgbClr val="F6F8FB"/>
          </a:solidFill>
          <a:ln w="12700">
            <a:solidFill>
              <a:srgbClr val="F6F8FB"/>
            </a:solidFill>
            <a:prstDash val="solid"/>
          </a:ln>
        </p:spPr>
      </p:sp>
      <p:pic>
        <p:nvPicPr>
          <p:cNvPr id="18" name="Image 0" descr="/opt/AutoOps/results-assets/screenshots/approvals-page.png">    </p:cNvPr>
          <p:cNvPicPr>
            <a:picLocks noChangeAspect="1"/>
          </p:cNvPicPr>
          <p:nvPr/>
        </p:nvPicPr>
        <p:blipFill>
          <a:blip r:embed="rId1"/>
          <a:stretch>
            <a:fillRect/>
          </a:stretch>
        </p:blipFill>
        <p:spPr>
          <a:xfrm>
            <a:off x="4443984" y="1847088"/>
            <a:ext cx="6858000" cy="4206240"/>
          </a:xfrm>
          <a:prstGeom prst="rect">
            <a:avLst/>
          </a:prstGeom>
        </p:spPr>
      </p:pic>
      <p:sp>
        <p:nvSpPr>
          <p:cNvPr id="19" name="Shape 16"/>
          <p:cNvSpPr/>
          <p:nvPr/>
        </p:nvSpPr>
        <p:spPr>
          <a:xfrm>
            <a:off x="4462272" y="1536192"/>
            <a:ext cx="1508760" cy="310896"/>
          </a:xfrm>
          <a:prstGeom prst="roundRect">
            <a:avLst>
              <a:gd name="adj" fmla="val 26471"/>
            </a:avLst>
          </a:prstGeom>
          <a:solidFill>
            <a:srgbClr val="2E68FF"/>
          </a:solidFill>
          <a:ln w="12700">
            <a:solidFill>
              <a:srgbClr val="2E68FF"/>
            </a:solidFill>
            <a:prstDash val="solid"/>
          </a:ln>
        </p:spPr>
      </p:sp>
      <p:sp>
        <p:nvSpPr>
          <p:cNvPr id="20" name="Text 17"/>
          <p:cNvSpPr/>
          <p:nvPr/>
        </p:nvSpPr>
        <p:spPr>
          <a:xfrm>
            <a:off x="4526280" y="1581912"/>
            <a:ext cx="1380744" cy="128016"/>
          </a:xfrm>
          <a:prstGeom prst="rect">
            <a:avLst/>
          </a:prstGeom>
          <a:noFill/>
          <a:ln/>
        </p:spPr>
        <p:txBody>
          <a:bodyPr wrap="square" lIns="0" tIns="0" rIns="0" bIns="0" rtlCol="0" anchor="ctr"/>
          <a:lstStyle/>
          <a:p>
            <a:pPr algn="ctr" indent="0" marL="0">
              <a:buNone/>
            </a:pPr>
            <a:r>
              <a:rPr lang="en-US" sz="960" b="1" dirty="0">
                <a:solidFill>
                  <a:srgbClr val="FFFFFF"/>
                </a:solidFill>
                <a:latin typeface="Aptos" pitchFamily="34" charset="0"/>
                <a:ea typeface="Aptos" pitchFamily="34" charset="-122"/>
                <a:cs typeface="Aptos" pitchFamily="34" charset="-120"/>
              </a:rPr>
              <a:t>Approvals</a:t>
            </a:r>
            <a:endParaRPr lang="en-US" sz="960" dirty="0"/>
          </a:p>
        </p:txBody>
      </p:sp>
      <p:sp>
        <p:nvSpPr>
          <p:cNvPr id="21" name="Text 18"/>
          <p:cNvSpPr/>
          <p:nvPr/>
        </p:nvSpPr>
        <p:spPr>
          <a:xfrm>
            <a:off x="11338560" y="6409944"/>
            <a:ext cx="256032" cy="146304"/>
          </a:xfrm>
          <a:prstGeom prst="rect">
            <a:avLst/>
          </a:prstGeom>
          <a:noFill/>
          <a:ln/>
        </p:spPr>
        <p:txBody>
          <a:bodyPr wrap="square" lIns="0" tIns="0" rIns="0" bIns="0" rtlCol="0" anchor="ctr"/>
          <a:lstStyle/>
          <a:p>
            <a:pPr algn="r" indent="0" marL="0">
              <a:buNone/>
            </a:pPr>
            <a:r>
              <a:rPr lang="en-US" sz="950" dirty="0">
                <a:solidFill>
                  <a:srgbClr val="5B6978"/>
                </a:solidFill>
                <a:latin typeface="Aptos" pitchFamily="34" charset="0"/>
                <a:ea typeface="Aptos" pitchFamily="34" charset="-122"/>
                <a:cs typeface="Aptos" pitchFamily="34" charset="-120"/>
              </a:rPr>
              <a:t>9</a:t>
            </a:r>
            <a:endParaRPr lang="en-US" sz="950" dirty="0"/>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64592"/>
          </a:xfrm>
          <a:prstGeom prst="rect">
            <a:avLst/>
          </a:prstGeom>
          <a:solidFill>
            <a:srgbClr val="2E6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50000"/>
            <a:ext cx="2000000" cy="250000"/>
          </a:xfrm>
          <a:prstGeom prst="rect">
            <a:avLst/>
          </a:prstGeom>
          <a:noFill/>
        </p:spPr>
        <p:txBody>
          <a:bodyPr wrap="square">
            <a:spAutoFit/>
          </a:bodyPr>
          <a:lstStyle/>
          <a:p>
            <a:r>
              <a:rPr sz="1000" b="1">
                <a:solidFill>
                  <a:srgbClr val="2E68FF"/>
                </a:solidFill>
                <a:latin typeface="Aptos"/>
              </a:rPr>
              <a:t>Code Quality</a:t>
            </a:r>
          </a:p>
        </p:txBody>
      </p:sp>
      <p:sp>
        <p:nvSpPr>
          <p:cNvPr id="4" name="TextBox 3"/>
          <p:cNvSpPr txBox="1"/>
          <p:nvPr/>
        </p:nvSpPr>
        <p:spPr>
          <a:xfrm>
            <a:off x="731520" y="640000"/>
            <a:ext cx="8000000" cy="500000"/>
          </a:xfrm>
          <a:prstGeom prst="rect">
            <a:avLst/>
          </a:prstGeom>
          <a:noFill/>
        </p:spPr>
        <p:txBody>
          <a:bodyPr wrap="square">
            <a:spAutoFit/>
          </a:bodyPr>
          <a:lstStyle/>
          <a:p>
            <a:r>
              <a:rPr sz="2400" b="1">
                <a:solidFill>
                  <a:srgbClr val="102133"/>
                </a:solidFill>
                <a:latin typeface="Aptos Display"/>
              </a:rPr>
              <a:t>Test coverage and engineering discipline</a:t>
            </a:r>
          </a:p>
        </p:txBody>
      </p:sp>
      <p:sp>
        <p:nvSpPr>
          <p:cNvPr id="5" name="TextBox 4"/>
          <p:cNvSpPr txBox="1"/>
          <p:nvPr/>
        </p:nvSpPr>
        <p:spPr>
          <a:xfrm>
            <a:off x="731520" y="1100000"/>
            <a:ext cx="8000000" cy="300000"/>
          </a:xfrm>
          <a:prstGeom prst="rect">
            <a:avLst/>
          </a:prstGeom>
          <a:noFill/>
        </p:spPr>
        <p:txBody>
          <a:bodyPr wrap="square">
            <a:spAutoFit/>
          </a:bodyPr>
          <a:lstStyle/>
          <a:p>
            <a:r>
              <a:rPr sz="1150" b="0">
                <a:solidFill>
                  <a:srgbClr val="5B6978"/>
                </a:solidFill>
                <a:latin typeface="Aptos"/>
              </a:rPr>
              <a:t>Every package has tests, and the pipeline validates correctness before deployment.</a:t>
            </a:r>
          </a:p>
        </p:txBody>
      </p:sp>
      <p:sp>
        <p:nvSpPr>
          <p:cNvPr id="6" name="Rounded Rectangle 5"/>
          <p:cNvSpPr/>
          <p:nvPr/>
        </p:nvSpPr>
        <p:spPr>
          <a:xfrm>
            <a:off x="731520" y="1800000"/>
            <a:ext cx="3100000" cy="1500000"/>
          </a:xfrm>
          <a:prstGeom prst="roundRect">
            <a:avLst/>
          </a:prstGeom>
          <a:solidFill>
            <a:srgbClr val="F0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1520" y="1980000"/>
            <a:ext cx="2740000" cy="260000"/>
          </a:xfrm>
          <a:prstGeom prst="rect">
            <a:avLst/>
          </a:prstGeom>
          <a:noFill/>
        </p:spPr>
        <p:txBody>
          <a:bodyPr wrap="square">
            <a:spAutoFit/>
          </a:bodyPr>
          <a:lstStyle/>
          <a:p>
            <a:r>
              <a:rPr sz="1400" b="1">
                <a:solidFill>
                  <a:srgbClr val="102133"/>
                </a:solidFill>
                <a:latin typeface="Aptos Display"/>
              </a:rPr>
              <a:t>17 test suites passing</a:t>
            </a:r>
          </a:p>
        </p:txBody>
      </p:sp>
      <p:sp>
        <p:nvSpPr>
          <p:cNvPr id="8" name="TextBox 7"/>
          <p:cNvSpPr txBox="1"/>
          <p:nvPr/>
        </p:nvSpPr>
        <p:spPr>
          <a:xfrm>
            <a:off x="911520" y="2460000"/>
            <a:ext cx="2740000" cy="780000"/>
          </a:xfrm>
          <a:prstGeom prst="rect">
            <a:avLst/>
          </a:prstGeom>
          <a:noFill/>
        </p:spPr>
        <p:txBody>
          <a:bodyPr wrap="square">
            <a:spAutoFit/>
          </a:bodyPr>
          <a:lstStyle/>
          <a:p>
            <a:r>
              <a:rPr sz="1150" b="0">
                <a:solidFill>
                  <a:srgbClr val="5B6978"/>
                </a:solidFill>
                <a:latin typeface="Aptos"/>
              </a:rPr>
              <a:t>API, worker, core, database, and web packages each have dedicated test files covering critical paths.</a:t>
            </a:r>
          </a:p>
        </p:txBody>
      </p:sp>
      <p:sp>
        <p:nvSpPr>
          <p:cNvPr id="9" name="Rounded Rectangle 8"/>
          <p:cNvSpPr/>
          <p:nvPr/>
        </p:nvSpPr>
        <p:spPr>
          <a:xfrm>
            <a:off x="4081520" y="1800000"/>
            <a:ext cx="3100000" cy="1500000"/>
          </a:xfrm>
          <a:prstGeom prst="roundRect">
            <a:avLst/>
          </a:prstGeom>
          <a:solidFill>
            <a:srgbClr val="F0F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61520" y="1980000"/>
            <a:ext cx="2740000" cy="260000"/>
          </a:xfrm>
          <a:prstGeom prst="rect">
            <a:avLst/>
          </a:prstGeom>
          <a:noFill/>
        </p:spPr>
        <p:txBody>
          <a:bodyPr wrap="square">
            <a:spAutoFit/>
          </a:bodyPr>
          <a:lstStyle/>
          <a:p>
            <a:r>
              <a:rPr sz="1400" b="1">
                <a:solidFill>
                  <a:srgbClr val="102133"/>
                </a:solidFill>
                <a:latin typeface="Aptos Display"/>
              </a:rPr>
              <a:t>68 test cases</a:t>
            </a:r>
          </a:p>
        </p:txBody>
      </p:sp>
      <p:sp>
        <p:nvSpPr>
          <p:cNvPr id="11" name="TextBox 10"/>
          <p:cNvSpPr txBox="1"/>
          <p:nvPr/>
        </p:nvSpPr>
        <p:spPr>
          <a:xfrm>
            <a:off x="4261520" y="2460000"/>
            <a:ext cx="2740000" cy="780000"/>
          </a:xfrm>
          <a:prstGeom prst="rect">
            <a:avLst/>
          </a:prstGeom>
          <a:noFill/>
        </p:spPr>
        <p:txBody>
          <a:bodyPr wrap="square">
            <a:spAutoFit/>
          </a:bodyPr>
          <a:lstStyle/>
          <a:p>
            <a:r>
              <a:rPr sz="1150" b="0">
                <a:solidFill>
                  <a:srgbClr val="5B6978"/>
                </a:solidFill>
                <a:latin typeface="Aptos"/>
              </a:rPr>
              <a:t>Webhook validation, pipeline parsing, deployment rollback, run streaming, and UI rendering all covered.</a:t>
            </a:r>
          </a:p>
        </p:txBody>
      </p:sp>
      <p:sp>
        <p:nvSpPr>
          <p:cNvPr id="12" name="Rounded Rectangle 11"/>
          <p:cNvSpPr/>
          <p:nvPr/>
        </p:nvSpPr>
        <p:spPr>
          <a:xfrm>
            <a:off x="7431520" y="1800000"/>
            <a:ext cx="3100000" cy="1500000"/>
          </a:xfrm>
          <a:prstGeom prst="roundRect">
            <a:avLst/>
          </a:prstGeom>
          <a:solidFill>
            <a:srgbClr val="FEF9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11520" y="1980000"/>
            <a:ext cx="2740000" cy="260000"/>
          </a:xfrm>
          <a:prstGeom prst="rect">
            <a:avLst/>
          </a:prstGeom>
          <a:noFill/>
        </p:spPr>
        <p:txBody>
          <a:bodyPr wrap="square">
            <a:spAutoFit/>
          </a:bodyPr>
          <a:lstStyle/>
          <a:p>
            <a:r>
              <a:rPr sz="1400" b="1">
                <a:solidFill>
                  <a:srgbClr val="102133"/>
                </a:solidFill>
                <a:latin typeface="Aptos Display"/>
              </a:rPr>
              <a:t>26 test files across 5 packages</a:t>
            </a:r>
          </a:p>
        </p:txBody>
      </p:sp>
      <p:sp>
        <p:nvSpPr>
          <p:cNvPr id="14" name="TextBox 13"/>
          <p:cNvSpPr txBox="1"/>
          <p:nvPr/>
        </p:nvSpPr>
        <p:spPr>
          <a:xfrm>
            <a:off x="7611520" y="2460000"/>
            <a:ext cx="2740000" cy="780000"/>
          </a:xfrm>
          <a:prstGeom prst="rect">
            <a:avLst/>
          </a:prstGeom>
          <a:noFill/>
        </p:spPr>
        <p:txBody>
          <a:bodyPr wrap="square">
            <a:spAutoFit/>
          </a:bodyPr>
          <a:lstStyle/>
          <a:p>
            <a:r>
              <a:rPr sz="1150" b="0">
                <a:solidFill>
                  <a:srgbClr val="5B6978"/>
                </a:solidFill>
                <a:latin typeface="Aptos"/>
              </a:rPr>
              <a:t>Tests live alongside source in every package: apps/api, apps/web, apps/worker, packages/core, packages/db.</a:t>
            </a:r>
          </a:p>
        </p:txBody>
      </p:sp>
      <p:sp>
        <p:nvSpPr>
          <p:cNvPr id="15" name="Rounded Rectangle 14"/>
          <p:cNvSpPr/>
          <p:nvPr/>
        </p:nvSpPr>
        <p:spPr>
          <a:xfrm>
            <a:off x="731520" y="3550000"/>
            <a:ext cx="3100000" cy="1500000"/>
          </a:xfrm>
          <a:prstGeom prst="roundRect">
            <a:avLst/>
          </a:prstGeom>
          <a:solidFill>
            <a:srgbClr val="F5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1520" y="3730000"/>
            <a:ext cx="2740000" cy="260000"/>
          </a:xfrm>
          <a:prstGeom prst="rect">
            <a:avLst/>
          </a:prstGeom>
          <a:noFill/>
        </p:spPr>
        <p:txBody>
          <a:bodyPr wrap="square">
            <a:spAutoFit/>
          </a:bodyPr>
          <a:lstStyle/>
          <a:p>
            <a:r>
              <a:rPr sz="1400" b="1">
                <a:solidFill>
                  <a:srgbClr val="102133"/>
                </a:solidFill>
                <a:latin typeface="Aptos Display"/>
              </a:rPr>
              <a:t>52 source modules</a:t>
            </a:r>
          </a:p>
        </p:txBody>
      </p:sp>
      <p:sp>
        <p:nvSpPr>
          <p:cNvPr id="17" name="TextBox 16"/>
          <p:cNvSpPr txBox="1"/>
          <p:nvPr/>
        </p:nvSpPr>
        <p:spPr>
          <a:xfrm>
            <a:off x="911520" y="4210000"/>
            <a:ext cx="2740000" cy="780000"/>
          </a:xfrm>
          <a:prstGeom prst="rect">
            <a:avLst/>
          </a:prstGeom>
          <a:noFill/>
        </p:spPr>
        <p:txBody>
          <a:bodyPr wrap="square">
            <a:spAutoFit/>
          </a:bodyPr>
          <a:lstStyle/>
          <a:p>
            <a:r>
              <a:rPr sz="1150" b="0">
                <a:solidFill>
                  <a:srgbClr val="5B6978"/>
                </a:solidFill>
                <a:latin typeface="Aptos"/>
              </a:rPr>
              <a:t>14,400+ lines of TypeScript across API routes, worker stages, React pages, shared logic, and database schema.</a:t>
            </a:r>
          </a:p>
        </p:txBody>
      </p:sp>
      <p:sp>
        <p:nvSpPr>
          <p:cNvPr id="18" name="Rounded Rectangle 17"/>
          <p:cNvSpPr/>
          <p:nvPr/>
        </p:nvSpPr>
        <p:spPr>
          <a:xfrm>
            <a:off x="4081520" y="3550000"/>
            <a:ext cx="3100000" cy="1500000"/>
          </a:xfrm>
          <a:prstGeom prst="roundRect">
            <a:avLst/>
          </a:prstGeom>
          <a:solidFill>
            <a:srgbClr val="F0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261520" y="3730000"/>
            <a:ext cx="2740000" cy="260000"/>
          </a:xfrm>
          <a:prstGeom prst="rect">
            <a:avLst/>
          </a:prstGeom>
          <a:noFill/>
        </p:spPr>
        <p:txBody>
          <a:bodyPr wrap="square">
            <a:spAutoFit/>
          </a:bodyPr>
          <a:lstStyle/>
          <a:p>
            <a:r>
              <a:rPr sz="1400" b="1">
                <a:solidFill>
                  <a:srgbClr val="102133"/>
                </a:solidFill>
                <a:latin typeface="Aptos Display"/>
              </a:rPr>
              <a:t>Monorepo with pnpm workspaces</a:t>
            </a:r>
          </a:p>
        </p:txBody>
      </p:sp>
      <p:sp>
        <p:nvSpPr>
          <p:cNvPr id="20" name="TextBox 19"/>
          <p:cNvSpPr txBox="1"/>
          <p:nvPr/>
        </p:nvSpPr>
        <p:spPr>
          <a:xfrm>
            <a:off x="4261520" y="4210000"/>
            <a:ext cx="2740000" cy="780000"/>
          </a:xfrm>
          <a:prstGeom prst="rect">
            <a:avLst/>
          </a:prstGeom>
          <a:noFill/>
        </p:spPr>
        <p:txBody>
          <a:bodyPr wrap="square">
            <a:spAutoFit/>
          </a:bodyPr>
          <a:lstStyle/>
          <a:p>
            <a:r>
              <a:rPr sz="1150" b="0">
                <a:solidFill>
                  <a:srgbClr val="5B6978"/>
                </a:solidFill>
                <a:latin typeface="Aptos"/>
              </a:rPr>
              <a:t>Shared packages ensure type safety between API, worker, and dashboard without duplication.</a:t>
            </a:r>
          </a:p>
        </p:txBody>
      </p:sp>
      <p:sp>
        <p:nvSpPr>
          <p:cNvPr id="21" name="Rounded Rectangle 20"/>
          <p:cNvSpPr/>
          <p:nvPr/>
        </p:nvSpPr>
        <p:spPr>
          <a:xfrm>
            <a:off x="7431520" y="3550000"/>
            <a:ext cx="3100000" cy="1500000"/>
          </a:xfrm>
          <a:prstGeom prst="roundRect">
            <a:avLst/>
          </a:prstGeom>
          <a:solidFill>
            <a:srgbClr val="F0F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611520" y="3730000"/>
            <a:ext cx="2740000" cy="260000"/>
          </a:xfrm>
          <a:prstGeom prst="rect">
            <a:avLst/>
          </a:prstGeom>
          <a:noFill/>
        </p:spPr>
        <p:txBody>
          <a:bodyPr wrap="square">
            <a:spAutoFit/>
          </a:bodyPr>
          <a:lstStyle/>
          <a:p>
            <a:r>
              <a:rPr sz="1400" b="1">
                <a:solidFill>
                  <a:srgbClr val="102133"/>
                </a:solidFill>
                <a:latin typeface="Aptos Display"/>
              </a:rPr>
              <a:t>Vitest + Testing Library</a:t>
            </a:r>
          </a:p>
        </p:txBody>
      </p:sp>
      <p:sp>
        <p:nvSpPr>
          <p:cNvPr id="23" name="TextBox 22"/>
          <p:cNvSpPr txBox="1"/>
          <p:nvPr/>
        </p:nvSpPr>
        <p:spPr>
          <a:xfrm>
            <a:off x="7611520" y="4210000"/>
            <a:ext cx="2740000" cy="780000"/>
          </a:xfrm>
          <a:prstGeom prst="rect">
            <a:avLst/>
          </a:prstGeom>
          <a:noFill/>
        </p:spPr>
        <p:txBody>
          <a:bodyPr wrap="square">
            <a:spAutoFit/>
          </a:bodyPr>
          <a:lstStyle/>
          <a:p>
            <a:r>
              <a:rPr sz="1150" b="0">
                <a:solidFill>
                  <a:srgbClr val="5B6978"/>
                </a:solidFill>
                <a:latin typeface="Aptos"/>
              </a:rPr>
              <a:t>Fast unit and integration tests using modern tooling with DOM testing for the React dashboard.</a:t>
            </a:r>
          </a:p>
        </p:txBody>
      </p:sp>
      <p:sp>
        <p:nvSpPr>
          <p:cNvPr id="24" name="TextBox 23"/>
          <p:cNvSpPr txBox="1"/>
          <p:nvPr/>
        </p:nvSpPr>
        <p:spPr>
          <a:xfrm>
            <a:off x="11100000" y="350000"/>
            <a:ext cx="900000" cy="250000"/>
          </a:xfrm>
          <a:prstGeom prst="rect">
            <a:avLst/>
          </a:prstGeom>
          <a:noFill/>
        </p:spPr>
        <p:txBody>
          <a:bodyPr wrap="square">
            <a:spAutoFit/>
          </a:bodyPr>
          <a:lstStyle/>
          <a:p>
            <a:r>
              <a:rPr sz="1000" b="1">
                <a:solidFill>
                  <a:srgbClr val="5B6978"/>
                </a:solidFill>
                <a:latin typeface="Aptos"/>
              </a:rPr>
              <a:t>AutoOps</a:t>
            </a:r>
          </a:p>
        </p:txBody>
      </p:sp>
      <p:sp>
        <p:nvSpPr>
          <p:cNvPr id="25" name="TextBox 24"/>
          <p:cNvSpPr txBox="1"/>
          <p:nvPr/>
        </p:nvSpPr>
        <p:spPr>
          <a:xfrm>
            <a:off x="11600000" y="6680000"/>
            <a:ext cx="400000" cy="70000"/>
          </a:xfrm>
          <a:prstGeom prst="rect">
            <a:avLst/>
          </a:prstGeom>
          <a:noFill/>
        </p:spPr>
        <p:txBody>
          <a:bodyPr wrap="square">
            <a:spAutoFit/>
          </a:bodyPr>
          <a:lstStyle/>
          <a:p>
            <a:r>
              <a:rPr sz="950" b="0">
                <a:solidFill>
                  <a:srgbClr val="5B6978"/>
                </a:solidFill>
                <a:latin typeface="Aptos"/>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64592"/>
          </a:xfrm>
          <a:prstGeom prst="rect">
            <a:avLst/>
          </a:prstGeom>
          <a:solidFill>
            <a:srgbClr val="2E6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50000"/>
            <a:ext cx="2000000" cy="250000"/>
          </a:xfrm>
          <a:prstGeom prst="rect">
            <a:avLst/>
          </a:prstGeom>
          <a:noFill/>
        </p:spPr>
        <p:txBody>
          <a:bodyPr wrap="square">
            <a:spAutoFit/>
          </a:bodyPr>
          <a:lstStyle/>
          <a:p>
            <a:r>
              <a:rPr sz="1000" b="1">
                <a:solidFill>
                  <a:srgbClr val="2E68FF"/>
                </a:solidFill>
                <a:latin typeface="Aptos"/>
              </a:rPr>
              <a:t>Roadmap</a:t>
            </a:r>
          </a:p>
        </p:txBody>
      </p:sp>
      <p:sp>
        <p:nvSpPr>
          <p:cNvPr id="4" name="TextBox 3"/>
          <p:cNvSpPr txBox="1"/>
          <p:nvPr/>
        </p:nvSpPr>
        <p:spPr>
          <a:xfrm>
            <a:off x="731520" y="640000"/>
            <a:ext cx="8000000" cy="500000"/>
          </a:xfrm>
          <a:prstGeom prst="rect">
            <a:avLst/>
          </a:prstGeom>
          <a:noFill/>
        </p:spPr>
        <p:txBody>
          <a:bodyPr wrap="square">
            <a:spAutoFit/>
          </a:bodyPr>
          <a:lstStyle/>
          <a:p>
            <a:r>
              <a:rPr sz="2400" b="1">
                <a:solidFill>
                  <a:srgbClr val="102133"/>
                </a:solidFill>
                <a:latin typeface="Aptos Display"/>
              </a:rPr>
              <a:t>What comes next in Phase 2</a:t>
            </a:r>
          </a:p>
        </p:txBody>
      </p:sp>
      <p:sp>
        <p:nvSpPr>
          <p:cNvPr id="5" name="TextBox 4"/>
          <p:cNvSpPr txBox="1"/>
          <p:nvPr/>
        </p:nvSpPr>
        <p:spPr>
          <a:xfrm>
            <a:off x="731520" y="1100000"/>
            <a:ext cx="8000000" cy="300000"/>
          </a:xfrm>
          <a:prstGeom prst="rect">
            <a:avLst/>
          </a:prstGeom>
          <a:noFill/>
        </p:spPr>
        <p:txBody>
          <a:bodyPr wrap="square">
            <a:spAutoFit/>
          </a:bodyPr>
          <a:lstStyle/>
          <a:p>
            <a:r>
              <a:rPr sz="1150" b="0">
                <a:solidFill>
                  <a:srgbClr val="5B6978"/>
                </a:solidFill>
                <a:latin typeface="Aptos"/>
              </a:rPr>
              <a:t>Planned extensions that build on the current foundation without rearchitecting.</a:t>
            </a:r>
          </a:p>
        </p:txBody>
      </p:sp>
      <p:sp>
        <p:nvSpPr>
          <p:cNvPr id="6" name="Rounded Rectangle 5"/>
          <p:cNvSpPr/>
          <p:nvPr/>
        </p:nvSpPr>
        <p:spPr>
          <a:xfrm>
            <a:off x="731520" y="1800000"/>
            <a:ext cx="3100000" cy="1500000"/>
          </a:xfrm>
          <a:prstGeom prst="roundRect">
            <a:avLst/>
          </a:prstGeom>
          <a:solidFill>
            <a:srgbClr val="F0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1520" y="1980000"/>
            <a:ext cx="2740000" cy="260000"/>
          </a:xfrm>
          <a:prstGeom prst="rect">
            <a:avLst/>
          </a:prstGeom>
          <a:noFill/>
        </p:spPr>
        <p:txBody>
          <a:bodyPr wrap="square">
            <a:spAutoFit/>
          </a:bodyPr>
          <a:lstStyle/>
          <a:p>
            <a:r>
              <a:rPr sz="1400" b="1">
                <a:solidFill>
                  <a:srgbClr val="102133"/>
                </a:solidFill>
                <a:latin typeface="Aptos Display"/>
              </a:rPr>
              <a:t>Multi-environment promotion</a:t>
            </a:r>
          </a:p>
        </p:txBody>
      </p:sp>
      <p:sp>
        <p:nvSpPr>
          <p:cNvPr id="8" name="TextBox 7"/>
          <p:cNvSpPr txBox="1"/>
          <p:nvPr/>
        </p:nvSpPr>
        <p:spPr>
          <a:xfrm>
            <a:off x="911520" y="2460000"/>
            <a:ext cx="2740000" cy="780000"/>
          </a:xfrm>
          <a:prstGeom prst="rect">
            <a:avLst/>
          </a:prstGeom>
          <a:noFill/>
        </p:spPr>
        <p:txBody>
          <a:bodyPr wrap="square">
            <a:spAutoFit/>
          </a:bodyPr>
          <a:lstStyle/>
          <a:p>
            <a:r>
              <a:rPr sz="1150" b="0">
                <a:solidFill>
                  <a:srgbClr val="5B6978"/>
                </a:solidFill>
                <a:latin typeface="Aptos"/>
              </a:rPr>
              <a:t>Formalized staging → production chains with environment-specific configs and approval gates.</a:t>
            </a:r>
          </a:p>
        </p:txBody>
      </p:sp>
      <p:sp>
        <p:nvSpPr>
          <p:cNvPr id="9" name="Rounded Rectangle 8"/>
          <p:cNvSpPr/>
          <p:nvPr/>
        </p:nvSpPr>
        <p:spPr>
          <a:xfrm>
            <a:off x="4081520" y="1800000"/>
            <a:ext cx="3100000" cy="1500000"/>
          </a:xfrm>
          <a:prstGeom prst="roundRect">
            <a:avLst/>
          </a:prstGeom>
          <a:solidFill>
            <a:srgbClr val="F0F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61520" y="1980000"/>
            <a:ext cx="2740000" cy="260000"/>
          </a:xfrm>
          <a:prstGeom prst="rect">
            <a:avLst/>
          </a:prstGeom>
          <a:noFill/>
        </p:spPr>
        <p:txBody>
          <a:bodyPr wrap="square">
            <a:spAutoFit/>
          </a:bodyPr>
          <a:lstStyle/>
          <a:p>
            <a:r>
              <a:rPr sz="1400" b="1">
                <a:solidFill>
                  <a:srgbClr val="102133"/>
                </a:solidFill>
                <a:latin typeface="Aptos Display"/>
              </a:rPr>
              <a:t>Kubernetes targets</a:t>
            </a:r>
          </a:p>
        </p:txBody>
      </p:sp>
      <p:sp>
        <p:nvSpPr>
          <p:cNvPr id="11" name="TextBox 10"/>
          <p:cNvSpPr txBox="1"/>
          <p:nvPr/>
        </p:nvSpPr>
        <p:spPr>
          <a:xfrm>
            <a:off x="4261520" y="2460000"/>
            <a:ext cx="2740000" cy="780000"/>
          </a:xfrm>
          <a:prstGeom prst="rect">
            <a:avLst/>
          </a:prstGeom>
          <a:noFill/>
        </p:spPr>
        <p:txBody>
          <a:bodyPr wrap="square">
            <a:spAutoFit/>
          </a:bodyPr>
          <a:lstStyle/>
          <a:p>
            <a:r>
              <a:rPr sz="1150" b="0">
                <a:solidFill>
                  <a:srgbClr val="5B6978"/>
                </a:solidFill>
                <a:latin typeface="Aptos"/>
              </a:rPr>
              <a:t>Deploy to k8s clusters alongside existing Docker Compose and managed VPS targets.</a:t>
            </a:r>
          </a:p>
        </p:txBody>
      </p:sp>
      <p:sp>
        <p:nvSpPr>
          <p:cNvPr id="12" name="Rounded Rectangle 11"/>
          <p:cNvSpPr/>
          <p:nvPr/>
        </p:nvSpPr>
        <p:spPr>
          <a:xfrm>
            <a:off x="7431520" y="1800000"/>
            <a:ext cx="3100000" cy="1500000"/>
          </a:xfrm>
          <a:prstGeom prst="roundRect">
            <a:avLst/>
          </a:prstGeom>
          <a:solidFill>
            <a:srgbClr val="FEF9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11520" y="1980000"/>
            <a:ext cx="2740000" cy="260000"/>
          </a:xfrm>
          <a:prstGeom prst="rect">
            <a:avLst/>
          </a:prstGeom>
          <a:noFill/>
        </p:spPr>
        <p:txBody>
          <a:bodyPr wrap="square">
            <a:spAutoFit/>
          </a:bodyPr>
          <a:lstStyle/>
          <a:p>
            <a:r>
              <a:rPr sz="1400" b="1">
                <a:solidFill>
                  <a:srgbClr val="102133"/>
                </a:solidFill>
                <a:latin typeface="Aptos Display"/>
              </a:rPr>
              <a:t>Role-based access control</a:t>
            </a:r>
          </a:p>
        </p:txBody>
      </p:sp>
      <p:sp>
        <p:nvSpPr>
          <p:cNvPr id="14" name="TextBox 13"/>
          <p:cNvSpPr txBox="1"/>
          <p:nvPr/>
        </p:nvSpPr>
        <p:spPr>
          <a:xfrm>
            <a:off x="7611520" y="2460000"/>
            <a:ext cx="2740000" cy="780000"/>
          </a:xfrm>
          <a:prstGeom prst="rect">
            <a:avLst/>
          </a:prstGeom>
          <a:noFill/>
        </p:spPr>
        <p:txBody>
          <a:bodyPr wrap="square">
            <a:spAutoFit/>
          </a:bodyPr>
          <a:lstStyle/>
          <a:p>
            <a:r>
              <a:rPr sz="1150" b="0">
                <a:solidFill>
                  <a:srgbClr val="5B6978"/>
                </a:solidFill>
                <a:latin typeface="Aptos"/>
              </a:rPr>
              <a:t>Team-scoped permissions for projects, approvals, and deployment targets.</a:t>
            </a:r>
          </a:p>
        </p:txBody>
      </p:sp>
      <p:sp>
        <p:nvSpPr>
          <p:cNvPr id="15" name="Rounded Rectangle 14"/>
          <p:cNvSpPr/>
          <p:nvPr/>
        </p:nvSpPr>
        <p:spPr>
          <a:xfrm>
            <a:off x="731520" y="3550000"/>
            <a:ext cx="3100000" cy="1500000"/>
          </a:xfrm>
          <a:prstGeom prst="roundRect">
            <a:avLst/>
          </a:prstGeom>
          <a:solidFill>
            <a:srgbClr val="F5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1520" y="3730000"/>
            <a:ext cx="2740000" cy="260000"/>
          </a:xfrm>
          <a:prstGeom prst="rect">
            <a:avLst/>
          </a:prstGeom>
          <a:noFill/>
        </p:spPr>
        <p:txBody>
          <a:bodyPr wrap="square">
            <a:spAutoFit/>
          </a:bodyPr>
          <a:lstStyle/>
          <a:p>
            <a:r>
              <a:rPr sz="1400" b="1">
                <a:solidFill>
                  <a:srgbClr val="102133"/>
                </a:solidFill>
                <a:latin typeface="Aptos Display"/>
              </a:rPr>
              <a:t>Deeper observability</a:t>
            </a:r>
          </a:p>
        </p:txBody>
      </p:sp>
      <p:sp>
        <p:nvSpPr>
          <p:cNvPr id="17" name="TextBox 16"/>
          <p:cNvSpPr txBox="1"/>
          <p:nvPr/>
        </p:nvSpPr>
        <p:spPr>
          <a:xfrm>
            <a:off x="911520" y="4210000"/>
            <a:ext cx="2740000" cy="780000"/>
          </a:xfrm>
          <a:prstGeom prst="rect">
            <a:avLst/>
          </a:prstGeom>
          <a:noFill/>
        </p:spPr>
        <p:txBody>
          <a:bodyPr wrap="square">
            <a:spAutoFit/>
          </a:bodyPr>
          <a:lstStyle/>
          <a:p>
            <a:r>
              <a:rPr sz="1150" b="0">
                <a:solidFill>
                  <a:srgbClr val="5B6978"/>
                </a:solidFill>
                <a:latin typeface="Aptos"/>
              </a:rPr>
              <a:t>Build time trends, deploy frequency tracking, and integration with Grafana or Prometheus.</a:t>
            </a:r>
          </a:p>
        </p:txBody>
      </p:sp>
      <p:sp>
        <p:nvSpPr>
          <p:cNvPr id="18" name="Rounded Rectangle 17"/>
          <p:cNvSpPr/>
          <p:nvPr/>
        </p:nvSpPr>
        <p:spPr>
          <a:xfrm>
            <a:off x="4081520" y="3550000"/>
            <a:ext cx="3100000" cy="1500000"/>
          </a:xfrm>
          <a:prstGeom prst="roundRect">
            <a:avLst/>
          </a:prstGeom>
          <a:solidFill>
            <a:srgbClr val="F0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261520" y="3730000"/>
            <a:ext cx="2740000" cy="260000"/>
          </a:xfrm>
          <a:prstGeom prst="rect">
            <a:avLst/>
          </a:prstGeom>
          <a:noFill/>
        </p:spPr>
        <p:txBody>
          <a:bodyPr wrap="square">
            <a:spAutoFit/>
          </a:bodyPr>
          <a:lstStyle/>
          <a:p>
            <a:r>
              <a:rPr sz="1400" b="1">
                <a:solidFill>
                  <a:srgbClr val="102133"/>
                </a:solidFill>
                <a:latin typeface="Aptos Display"/>
              </a:rPr>
              <a:t>Broader framework support</a:t>
            </a:r>
          </a:p>
        </p:txBody>
      </p:sp>
      <p:sp>
        <p:nvSpPr>
          <p:cNvPr id="20" name="TextBox 19"/>
          <p:cNvSpPr txBox="1"/>
          <p:nvPr/>
        </p:nvSpPr>
        <p:spPr>
          <a:xfrm>
            <a:off x="4261520" y="4210000"/>
            <a:ext cx="2740000" cy="780000"/>
          </a:xfrm>
          <a:prstGeom prst="rect">
            <a:avLst/>
          </a:prstGeom>
          <a:noFill/>
        </p:spPr>
        <p:txBody>
          <a:bodyPr wrap="square">
            <a:spAutoFit/>
          </a:bodyPr>
          <a:lstStyle/>
          <a:p>
            <a:r>
              <a:rPr sz="1150" b="0">
                <a:solidFill>
                  <a:srgbClr val="5B6978"/>
                </a:solidFill>
                <a:latin typeface="Aptos"/>
              </a:rPr>
              <a:t>Monorepo detection, Rust, Go, and Python pipelines beyond the current web-app focus.</a:t>
            </a:r>
          </a:p>
        </p:txBody>
      </p:sp>
      <p:sp>
        <p:nvSpPr>
          <p:cNvPr id="21" name="Rounded Rectangle 20"/>
          <p:cNvSpPr/>
          <p:nvPr/>
        </p:nvSpPr>
        <p:spPr>
          <a:xfrm>
            <a:off x="7431520" y="3550000"/>
            <a:ext cx="3100000" cy="1500000"/>
          </a:xfrm>
          <a:prstGeom prst="roundRect">
            <a:avLst/>
          </a:prstGeom>
          <a:solidFill>
            <a:srgbClr val="F0F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611520" y="3730000"/>
            <a:ext cx="2740000" cy="260000"/>
          </a:xfrm>
          <a:prstGeom prst="rect">
            <a:avLst/>
          </a:prstGeom>
          <a:noFill/>
        </p:spPr>
        <p:txBody>
          <a:bodyPr wrap="square">
            <a:spAutoFit/>
          </a:bodyPr>
          <a:lstStyle/>
          <a:p>
            <a:r>
              <a:rPr sz="1400" b="1">
                <a:solidFill>
                  <a:srgbClr val="102133"/>
                </a:solidFill>
                <a:latin typeface="Aptos Display"/>
              </a:rPr>
              <a:t>Audit &amp; compliance log</a:t>
            </a:r>
          </a:p>
        </p:txBody>
      </p:sp>
      <p:sp>
        <p:nvSpPr>
          <p:cNvPr id="23" name="TextBox 22"/>
          <p:cNvSpPr txBox="1"/>
          <p:nvPr/>
        </p:nvSpPr>
        <p:spPr>
          <a:xfrm>
            <a:off x="7611520" y="4210000"/>
            <a:ext cx="2740000" cy="780000"/>
          </a:xfrm>
          <a:prstGeom prst="rect">
            <a:avLst/>
          </a:prstGeom>
          <a:noFill/>
        </p:spPr>
        <p:txBody>
          <a:bodyPr wrap="square">
            <a:spAutoFit/>
          </a:bodyPr>
          <a:lstStyle/>
          <a:p>
            <a:r>
              <a:rPr sz="1150" b="0">
                <a:solidFill>
                  <a:srgbClr val="5B6978"/>
                </a:solidFill>
                <a:latin typeface="Aptos"/>
              </a:rPr>
              <a:t>Immutable event log for every deployment decision, approval, and rollback action.</a:t>
            </a:r>
          </a:p>
        </p:txBody>
      </p:sp>
      <p:sp>
        <p:nvSpPr>
          <p:cNvPr id="24" name="TextBox 23"/>
          <p:cNvSpPr txBox="1"/>
          <p:nvPr/>
        </p:nvSpPr>
        <p:spPr>
          <a:xfrm>
            <a:off x="11100000" y="350000"/>
            <a:ext cx="900000" cy="250000"/>
          </a:xfrm>
          <a:prstGeom prst="rect">
            <a:avLst/>
          </a:prstGeom>
          <a:noFill/>
        </p:spPr>
        <p:txBody>
          <a:bodyPr wrap="square">
            <a:spAutoFit/>
          </a:bodyPr>
          <a:lstStyle/>
          <a:p>
            <a:r>
              <a:rPr sz="1000" b="1">
                <a:solidFill>
                  <a:srgbClr val="5B6978"/>
                </a:solidFill>
                <a:latin typeface="Aptos"/>
              </a:rPr>
              <a:t>AutoOps</a:t>
            </a:r>
          </a:p>
        </p:txBody>
      </p:sp>
      <p:sp>
        <p:nvSpPr>
          <p:cNvPr id="25" name="TextBox 24"/>
          <p:cNvSpPr txBox="1"/>
          <p:nvPr/>
        </p:nvSpPr>
        <p:spPr>
          <a:xfrm>
            <a:off x="11600000" y="6680000"/>
            <a:ext cx="400000" cy="70000"/>
          </a:xfrm>
          <a:prstGeom prst="rect">
            <a:avLst/>
          </a:prstGeom>
          <a:noFill/>
        </p:spPr>
        <p:txBody>
          <a:bodyPr wrap="square">
            <a:spAutoFit/>
          </a:bodyPr>
          <a:lstStyle/>
          <a:p>
            <a:r>
              <a:rPr sz="950" b="0">
                <a:solidFill>
                  <a:srgbClr val="5B6978"/>
                </a:solidFill>
                <a:latin typeface="Aptos"/>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5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500000" y="2200000"/>
            <a:ext cx="5200000" cy="800000"/>
          </a:xfrm>
          <a:prstGeom prst="rect">
            <a:avLst/>
          </a:prstGeom>
          <a:noFill/>
        </p:spPr>
        <p:txBody>
          <a:bodyPr wrap="square">
            <a:spAutoFit/>
          </a:bodyPr>
          <a:lstStyle/>
          <a:p>
            <a:pPr algn="ctr"/>
            <a:r>
              <a:rPr sz="4400" b="1">
                <a:solidFill>
                  <a:srgbClr val="FFFFFF"/>
                </a:solidFill>
                <a:latin typeface="Aptos Display"/>
              </a:rPr>
              <a:t>Live Demo</a:t>
            </a:r>
          </a:p>
        </p:txBody>
      </p:sp>
      <p:sp>
        <p:nvSpPr>
          <p:cNvPr id="4" name="TextBox 3"/>
          <p:cNvSpPr txBox="1"/>
          <p:nvPr/>
        </p:nvSpPr>
        <p:spPr>
          <a:xfrm>
            <a:off x="2000000" y="3200000"/>
            <a:ext cx="8200000" cy="500000"/>
          </a:xfrm>
          <a:prstGeom prst="rect">
            <a:avLst/>
          </a:prstGeom>
          <a:noFill/>
        </p:spPr>
        <p:txBody>
          <a:bodyPr wrap="square">
            <a:spAutoFit/>
          </a:bodyPr>
          <a:lstStyle/>
          <a:p>
            <a:pPr algn="ctr"/>
            <a:r>
              <a:rPr sz="1600" b="0">
                <a:solidFill>
                  <a:srgbClr val="A9CBFF"/>
                </a:solidFill>
                <a:latin typeface="Aptos"/>
              </a:rPr>
              <a:t>Webhook intake  →  pipeline run  →  deployment  →  healthcheck  →  rollback</a:t>
            </a:r>
          </a:p>
        </p:txBody>
      </p:sp>
      <p:sp>
        <p:nvSpPr>
          <p:cNvPr id="5" name="Rounded Rectangle 4"/>
          <p:cNvSpPr/>
          <p:nvPr/>
        </p:nvSpPr>
        <p:spPr>
          <a:xfrm>
            <a:off x="2800000" y="4200000"/>
            <a:ext cx="2000000" cy="310000"/>
          </a:xfrm>
          <a:prstGeom prst="roundRect">
            <a:avLst/>
          </a:prstGeom>
          <a:solidFill>
            <a:srgbClr val="2E6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950000" y="4225000"/>
            <a:ext cx="1700000" cy="260000"/>
          </a:xfrm>
          <a:prstGeom prst="rect">
            <a:avLst/>
          </a:prstGeom>
          <a:noFill/>
        </p:spPr>
        <p:txBody>
          <a:bodyPr wrap="square">
            <a:spAutoFit/>
          </a:bodyPr>
          <a:lstStyle/>
          <a:p>
            <a:pPr algn="ctr"/>
            <a:r>
              <a:rPr sz="1000" b="1">
                <a:solidFill>
                  <a:srgbClr val="FFFFFF"/>
                </a:solidFill>
                <a:latin typeface="Aptos"/>
              </a:rPr>
              <a:t>Push to main</a:t>
            </a:r>
          </a:p>
        </p:txBody>
      </p:sp>
      <p:sp>
        <p:nvSpPr>
          <p:cNvPr id="7" name="Rounded Rectangle 6"/>
          <p:cNvSpPr/>
          <p:nvPr/>
        </p:nvSpPr>
        <p:spPr>
          <a:xfrm>
            <a:off x="5200000" y="4200000"/>
            <a:ext cx="2000000" cy="310000"/>
          </a:xfrm>
          <a:prstGeom prst="roundRect">
            <a:avLst/>
          </a:prstGeom>
          <a:solidFill>
            <a:srgbClr val="2E6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350000" y="4225000"/>
            <a:ext cx="1700000" cy="260000"/>
          </a:xfrm>
          <a:prstGeom prst="rect">
            <a:avLst/>
          </a:prstGeom>
          <a:noFill/>
        </p:spPr>
        <p:txBody>
          <a:bodyPr wrap="square">
            <a:spAutoFit/>
          </a:bodyPr>
          <a:lstStyle/>
          <a:p>
            <a:pPr algn="ctr"/>
            <a:r>
              <a:rPr sz="1000" b="1">
                <a:solidFill>
                  <a:srgbClr val="FFFFFF"/>
                </a:solidFill>
                <a:latin typeface="Aptos"/>
              </a:rPr>
              <a:t>Watch the build</a:t>
            </a:r>
          </a:p>
        </p:txBody>
      </p:sp>
      <p:sp>
        <p:nvSpPr>
          <p:cNvPr id="9" name="Rounded Rectangle 8"/>
          <p:cNvSpPr/>
          <p:nvPr/>
        </p:nvSpPr>
        <p:spPr>
          <a:xfrm>
            <a:off x="7600000" y="4200000"/>
            <a:ext cx="2000000" cy="310000"/>
          </a:xfrm>
          <a:prstGeom prst="roundRect">
            <a:avLst/>
          </a:prstGeom>
          <a:solidFill>
            <a:srgbClr val="2E6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50000" y="4225000"/>
            <a:ext cx="1700000" cy="260000"/>
          </a:xfrm>
          <a:prstGeom prst="rect">
            <a:avLst/>
          </a:prstGeom>
          <a:noFill/>
        </p:spPr>
        <p:txBody>
          <a:bodyPr wrap="square">
            <a:spAutoFit/>
          </a:bodyPr>
          <a:lstStyle/>
          <a:p>
            <a:pPr algn="ctr"/>
            <a:r>
              <a:rPr sz="1000" b="1">
                <a:solidFill>
                  <a:srgbClr val="FFFFFF"/>
                </a:solidFill>
                <a:latin typeface="Aptos"/>
              </a:rPr>
              <a:t>Inspect the deploy</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0">
    <p:bg>
      <p:bgPr>
        <a:solidFill>
          <a:srgbClr val="102133"/>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02133"/>
          </a:solidFill>
          <a:ln w="12700">
            <a:solidFill>
              <a:srgbClr val="102133"/>
            </a:solidFill>
            <a:prstDash val="solid"/>
          </a:ln>
        </p:spPr>
      </p:sp>
      <p:sp>
        <p:nvSpPr>
          <p:cNvPr id="3" name="Text 1"/>
          <p:cNvSpPr/>
          <p:nvPr/>
        </p:nvSpPr>
        <p:spPr>
          <a:xfrm>
            <a:off x="731520" y="1500000"/>
            <a:ext cx="10700000" cy="548640"/>
          </a:xfrm>
          <a:prstGeom prst="rect">
            <a:avLst/>
          </a:prstGeom>
          <a:noFill/>
          <a:ln/>
        </p:spPr>
        <p:txBody>
          <a:bodyPr wrap="square" lIns="0" tIns="0" rIns="0" bIns="0" rtlCol="0" anchor="ctr"/>
          <a:lstStyle/>
          <a:p>
            <a:pPr indent="0" marL="0">
              <a:buNone/>
            </a:pPr>
            <a:r>
              <a:rPr lang="en-US" sz="2500" b="1" dirty="0">
                <a:solidFill>
                  <a:srgbClr val="FFFFFF"/>
                </a:solidFill>
                <a:latin typeface="Aptos Display" pitchFamily="34" charset="0"/>
                <a:ea typeface="Aptos Display" pitchFamily="34" charset="-122"/>
                <a:cs typeface="Aptos Display" pitchFamily="34" charset="-120"/>
              </a:rPr>
              <a:t>Build with control. Deploy with confidence.</a:t>
            </a:r>
            <a:endParaRPr lang="en-US" sz="2500" dirty="0"/>
          </a:p>
        </p:txBody>
      </p:sp>
      <p:sp>
        <p:nvSpPr>
          <p:cNvPr id="20" name="TextBox 19"/>
          <p:cNvSpPr txBox="1"/>
          <p:nvPr/>
        </p:nvSpPr>
        <p:spPr>
          <a:xfrm>
            <a:off x="900000" y="2700000"/>
            <a:ext cx="6800000" cy="350000"/>
          </a:xfrm>
          <a:prstGeom prst="rect">
            <a:avLst/>
          </a:prstGeom>
          <a:noFill/>
        </p:spPr>
        <p:txBody>
          <a:bodyPr wrap="square">
            <a:spAutoFit/>
          </a:bodyPr>
          <a:lstStyle/>
          <a:p>
            <a:r>
              <a:rPr sz="1500" b="0">
                <a:solidFill>
                  <a:srgbClr val="DCE6F2"/>
                </a:solidFill>
                <a:latin typeface="Aptos"/>
              </a:rPr>
              <a:t>→  Full CI/CD loop: webhook intake, build, test, deploy, healthcheck, and rollback.</a:t>
            </a:r>
          </a:p>
        </p:txBody>
      </p:sp>
      <p:sp>
        <p:nvSpPr>
          <p:cNvPr id="21" name="TextBox 20"/>
          <p:cNvSpPr txBox="1"/>
          <p:nvPr/>
        </p:nvSpPr>
        <p:spPr>
          <a:xfrm>
            <a:off x="900000" y="3200000"/>
            <a:ext cx="6800000" cy="350000"/>
          </a:xfrm>
          <a:prstGeom prst="rect">
            <a:avLst/>
          </a:prstGeom>
          <a:noFill/>
        </p:spPr>
        <p:txBody>
          <a:bodyPr wrap="square">
            <a:spAutoFit/>
          </a:bodyPr>
          <a:lstStyle/>
          <a:p>
            <a:r>
              <a:rPr sz="1500" b="0">
                <a:solidFill>
                  <a:srgbClr val="DCE6F2"/>
                </a:solidFill>
                <a:latin typeface="Aptos"/>
              </a:rPr>
              <a:t>→  Operator-first dashboard with triage, approval gates, and recovery actions.</a:t>
            </a:r>
          </a:p>
        </p:txBody>
      </p:sp>
      <p:sp>
        <p:nvSpPr>
          <p:cNvPr id="22" name="TextBox 21"/>
          <p:cNvSpPr txBox="1"/>
          <p:nvPr/>
        </p:nvSpPr>
        <p:spPr>
          <a:xfrm>
            <a:off x="900000" y="3700000"/>
            <a:ext cx="6800000" cy="350000"/>
          </a:xfrm>
          <a:prstGeom prst="rect">
            <a:avLst/>
          </a:prstGeom>
          <a:noFill/>
        </p:spPr>
        <p:txBody>
          <a:bodyPr wrap="square">
            <a:spAutoFit/>
          </a:bodyPr>
          <a:lstStyle/>
          <a:p>
            <a:r>
              <a:rPr sz="1500" b="0">
                <a:solidFill>
                  <a:srgbClr val="DCE6F2"/>
                </a:solidFill>
                <a:latin typeface="Aptos"/>
              </a:rPr>
              <a:t>→  Clean monorepo architecture ready to extend with new deployment targets.</a:t>
            </a:r>
          </a:p>
        </p:txBody>
      </p:sp>
      <p:sp>
        <p:nvSpPr>
          <p:cNvPr id="23" name="TextBox 22"/>
          <p:cNvSpPr txBox="1"/>
          <p:nvPr/>
        </p:nvSpPr>
        <p:spPr>
          <a:xfrm>
            <a:off x="900000" y="4800000"/>
            <a:ext cx="6000000" cy="350000"/>
          </a:xfrm>
          <a:prstGeom prst="rect">
            <a:avLst/>
          </a:prstGeom>
          <a:noFill/>
        </p:spPr>
        <p:txBody>
          <a:bodyPr wrap="square">
            <a:spAutoFit/>
          </a:bodyPr>
          <a:lstStyle/>
          <a:p>
            <a:r>
              <a:rPr sz="1400" b="1">
                <a:solidFill>
                  <a:srgbClr val="A9CBFF"/>
                </a:solidFill>
                <a:latin typeface="Aptos"/>
              </a:rPr>
              <a:t>Live demo  •  github.com/autoops  •  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AutoOps - Self-Hosted CI/CD Platform MVP</dc:title>
  <dc:subject>AutoOps project presentation</dc:subject>
  <dc:creator>OpenAI Codex</dc:creator>
  <cp:lastModifiedBy>OpenAI Codex</cp:lastModifiedBy>
  <cp:revision>1</cp:revision>
  <dcterms:created xsi:type="dcterms:W3CDTF">2026-04-10T16:38:48Z</dcterms:created>
  <dcterms:modified xsi:type="dcterms:W3CDTF">2026-04-10T16:38:48Z</dcterms:modified>
</cp:coreProperties>
</file>